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78" r:id="rId15"/>
    <p:sldId id="279" r:id="rId16"/>
    <p:sldId id="280" r:id="rId17"/>
    <p:sldId id="268" r:id="rId18"/>
    <p:sldId id="269" r:id="rId19"/>
    <p:sldId id="270" r:id="rId20"/>
    <p:sldId id="271" r:id="rId21"/>
    <p:sldId id="272" r:id="rId22"/>
    <p:sldId id="273" r:id="rId23"/>
    <p:sldId id="274" r:id="rId24"/>
    <p:sldId id="275" r:id="rId25"/>
    <p:sldId id="276"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1C2C1-FDC3-E9C4-C1EB-8088B66057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2DE7C1-74FE-5896-8A67-ADCE282AF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6A5877-E0F8-BF7B-86DC-A223A533E433}"/>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5" name="Footer Placeholder 4">
            <a:extLst>
              <a:ext uri="{FF2B5EF4-FFF2-40B4-BE49-F238E27FC236}">
                <a16:creationId xmlns:a16="http://schemas.microsoft.com/office/drawing/2014/main" id="{FF00477A-73B7-9D3D-AD87-37B9FA9794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00A27D-B07B-E79D-2A7F-329ED2123F3C}"/>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2106703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7A6FF-F864-2564-9498-ADE41167D3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06E8B2-AFE8-5B08-7E48-1AF7AE51F7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D0F57B-CC36-0185-3C9B-B5C05EE75E25}"/>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5" name="Footer Placeholder 4">
            <a:extLst>
              <a:ext uri="{FF2B5EF4-FFF2-40B4-BE49-F238E27FC236}">
                <a16:creationId xmlns:a16="http://schemas.microsoft.com/office/drawing/2014/main" id="{D4F65164-53E4-2BD9-222A-117C713828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443D17-4797-3C8E-438F-A98820805B2A}"/>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821374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D11E-F9CC-7894-B30F-E2C3FE7FA6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2FCF41-DBBF-87D1-B6D7-7A5BF4D62B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7FD98F-40EF-FC35-64D7-6BD0A16E6ACA}"/>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5" name="Footer Placeholder 4">
            <a:extLst>
              <a:ext uri="{FF2B5EF4-FFF2-40B4-BE49-F238E27FC236}">
                <a16:creationId xmlns:a16="http://schemas.microsoft.com/office/drawing/2014/main" id="{A3D00653-5E46-C792-5A6B-CE0C4A2ED1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247D8B-E05C-F690-6402-F5318AFF98C1}"/>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3169594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C6778-54AB-6AE8-3EDB-AA70E30E42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64C6DA-579C-5C13-F6C3-049D7B9FCD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4AC309-457E-A0B8-71F0-099BDC1641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E6FFB4-6E32-9E6D-7AD8-16D38BA8CB41}"/>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6" name="Footer Placeholder 5">
            <a:extLst>
              <a:ext uri="{FF2B5EF4-FFF2-40B4-BE49-F238E27FC236}">
                <a16:creationId xmlns:a16="http://schemas.microsoft.com/office/drawing/2014/main" id="{507434B9-F431-516E-873B-3B0F1A07C3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0349B9-52CD-B34A-E64A-2EA569E4F09A}"/>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3568369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102D6-ECE8-0862-EC2C-1BE689AE723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9BEA9E-3654-70B7-9AC6-BF3B9E6FF6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32C242-76A3-E7D3-3ECD-B5335FC8DB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E857D9-6FE9-9D84-CE2F-73E35403D1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0D5867-9768-62D1-4302-9E1EB5B723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429D833-591F-699F-4202-716B556D6D1B}"/>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8" name="Footer Placeholder 7">
            <a:extLst>
              <a:ext uri="{FF2B5EF4-FFF2-40B4-BE49-F238E27FC236}">
                <a16:creationId xmlns:a16="http://schemas.microsoft.com/office/drawing/2014/main" id="{39526645-44FC-C160-BBE4-AC951217F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715AA4-0F73-44B0-D147-E66617820193}"/>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2044376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9AA1E-18BB-7C07-6183-C791637AF2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CFEAAA-764E-29EB-A4AB-E1517C050250}"/>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4" name="Footer Placeholder 3">
            <a:extLst>
              <a:ext uri="{FF2B5EF4-FFF2-40B4-BE49-F238E27FC236}">
                <a16:creationId xmlns:a16="http://schemas.microsoft.com/office/drawing/2014/main" id="{3B770AD2-E5E5-04B3-261B-E917682532E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C54A5A-2CA4-788D-1E26-BFF69A858574}"/>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505388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911BE-25DC-77EC-17AA-5EDD20AE2C40}"/>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3" name="Footer Placeholder 2">
            <a:extLst>
              <a:ext uri="{FF2B5EF4-FFF2-40B4-BE49-F238E27FC236}">
                <a16:creationId xmlns:a16="http://schemas.microsoft.com/office/drawing/2014/main" id="{F62FCFB1-D068-EAB8-470A-2E478BF622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F0E44E-8566-B547-46B6-A3AC70671FD7}"/>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4149791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4EC32-AA6D-5D01-0988-323BA6D240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FF75A3-7750-3C2A-42C5-723EAE7C3D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F20957-B0D0-D5AA-5D9D-90CD9C0C50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40C741-F2EE-F92D-DD03-0F349ABB17B9}"/>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6" name="Footer Placeholder 5">
            <a:extLst>
              <a:ext uri="{FF2B5EF4-FFF2-40B4-BE49-F238E27FC236}">
                <a16:creationId xmlns:a16="http://schemas.microsoft.com/office/drawing/2014/main" id="{FE10E7FB-43CF-77BC-8DEE-609838A2E0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34709-ED92-132E-4EE9-A33B9B69F353}"/>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3272036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F3A0-321E-F79D-B0D4-5CD79349E1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4D798D-AB16-4F5B-773E-AF5745771E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52BB4E-80DB-2FCB-1E56-B36B7C47BC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0C66BB-6C1F-2297-7B2F-FA67CAD9E62C}"/>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6" name="Footer Placeholder 5">
            <a:extLst>
              <a:ext uri="{FF2B5EF4-FFF2-40B4-BE49-F238E27FC236}">
                <a16:creationId xmlns:a16="http://schemas.microsoft.com/office/drawing/2014/main" id="{C8B5C362-FC5E-9273-393C-ECF0DBF56F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66E59E-64F1-2429-3B51-6632BAF3721B}"/>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3918762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29AFA-971E-DF85-187E-871B2AC791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BCACC0-9F34-07AD-AD65-AE11B5F6C2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499F90-0987-143A-1451-15AF923AE57E}"/>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5" name="Footer Placeholder 4">
            <a:extLst>
              <a:ext uri="{FF2B5EF4-FFF2-40B4-BE49-F238E27FC236}">
                <a16:creationId xmlns:a16="http://schemas.microsoft.com/office/drawing/2014/main" id="{83ECFAD3-9D53-729B-E195-8ECAC1D779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539D7-B3FF-17FE-86A8-C4FBD52ADF1A}"/>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1728210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751FB1-0F32-84F0-7295-92A95ADB1D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B3C342-10E3-6491-4566-A02C6F9C41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B4B007-6707-5AD9-4EF3-722249CDA14B}"/>
              </a:ext>
            </a:extLst>
          </p:cNvPr>
          <p:cNvSpPr>
            <a:spLocks noGrp="1"/>
          </p:cNvSpPr>
          <p:nvPr>
            <p:ph type="dt" sz="half" idx="10"/>
          </p:nvPr>
        </p:nvSpPr>
        <p:spPr/>
        <p:txBody>
          <a:bodyPr/>
          <a:lstStyle/>
          <a:p>
            <a:fld id="{FF4AB395-B023-46B4-9637-2B97B5F78B21}" type="datetimeFigureOut">
              <a:rPr lang="en-IN" smtClean="0"/>
              <a:t>05-12-2023</a:t>
            </a:fld>
            <a:endParaRPr lang="en-IN"/>
          </a:p>
        </p:txBody>
      </p:sp>
      <p:sp>
        <p:nvSpPr>
          <p:cNvPr id="5" name="Footer Placeholder 4">
            <a:extLst>
              <a:ext uri="{FF2B5EF4-FFF2-40B4-BE49-F238E27FC236}">
                <a16:creationId xmlns:a16="http://schemas.microsoft.com/office/drawing/2014/main" id="{A97AD11D-0C32-D5A6-E6C3-CF94E702D1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72F9E-E31F-352E-2F3A-5E6CC98DA2C7}"/>
              </a:ext>
            </a:extLst>
          </p:cNvPr>
          <p:cNvSpPr>
            <a:spLocks noGrp="1"/>
          </p:cNvSpPr>
          <p:nvPr>
            <p:ph type="sldNum" sz="quarter" idx="12"/>
          </p:nvPr>
        </p:nvSpPr>
        <p:spPr/>
        <p:txBody>
          <a:bodyPr/>
          <a:lstStyle/>
          <a:p>
            <a:fld id="{07BD4412-D183-442D-9CF0-EE8D8E284074}" type="slidenum">
              <a:rPr lang="en-IN" smtClean="0"/>
              <a:t>‹#›</a:t>
            </a:fld>
            <a:endParaRPr lang="en-IN"/>
          </a:p>
        </p:txBody>
      </p:sp>
    </p:spTree>
    <p:extLst>
      <p:ext uri="{BB962C8B-B14F-4D97-AF65-F5344CB8AC3E}">
        <p14:creationId xmlns:p14="http://schemas.microsoft.com/office/powerpoint/2010/main" val="1606062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88C86-AB1D-5B58-C88F-D28FFF767F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4D0422-07E3-3E04-AFC1-06021FFCB5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EC39A5-5C97-6F91-793D-C9B95D410C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4AB395-B023-46B4-9637-2B97B5F78B21}" type="datetimeFigureOut">
              <a:rPr lang="en-IN" smtClean="0"/>
              <a:t>05-12-2023</a:t>
            </a:fld>
            <a:endParaRPr lang="en-IN"/>
          </a:p>
        </p:txBody>
      </p:sp>
      <p:sp>
        <p:nvSpPr>
          <p:cNvPr id="5" name="Footer Placeholder 4">
            <a:extLst>
              <a:ext uri="{FF2B5EF4-FFF2-40B4-BE49-F238E27FC236}">
                <a16:creationId xmlns:a16="http://schemas.microsoft.com/office/drawing/2014/main" id="{19BEFE11-5B50-1908-775C-78AD8196B9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38EB85-2F74-9FB4-7DC0-CC56CD301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BD4412-D183-442D-9CF0-EE8D8E284074}" type="slidenum">
              <a:rPr lang="en-IN" smtClean="0"/>
              <a:t>‹#›</a:t>
            </a:fld>
            <a:endParaRPr lang="en-IN"/>
          </a:p>
        </p:txBody>
      </p:sp>
    </p:spTree>
    <p:extLst>
      <p:ext uri="{BB962C8B-B14F-4D97-AF65-F5344CB8AC3E}">
        <p14:creationId xmlns:p14="http://schemas.microsoft.com/office/powerpoint/2010/main" val="2582002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tutorialspoint.com/computer_fundamentals/computer_software.ht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AADE4-D787-CEB0-B4E7-476C12E5835A}"/>
              </a:ext>
            </a:extLst>
          </p:cNvPr>
          <p:cNvSpPr>
            <a:spLocks noGrp="1"/>
          </p:cNvSpPr>
          <p:nvPr>
            <p:ph type="ctrTitle"/>
          </p:nvPr>
        </p:nvSpPr>
        <p:spPr/>
        <p:txBody>
          <a:bodyPr/>
          <a:lstStyle/>
          <a:p>
            <a:r>
              <a:rPr lang="en-IN" dirty="0"/>
              <a:t>IO Management &amp; Disk Scheduling</a:t>
            </a:r>
          </a:p>
        </p:txBody>
      </p:sp>
      <p:sp>
        <p:nvSpPr>
          <p:cNvPr id="3" name="Subtitle 2">
            <a:extLst>
              <a:ext uri="{FF2B5EF4-FFF2-40B4-BE49-F238E27FC236}">
                <a16:creationId xmlns:a16="http://schemas.microsoft.com/office/drawing/2014/main" id="{B86325C8-0321-58CE-DC0F-9655C27CE3F9}"/>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43068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C198-6E8F-EB18-8AD9-BE675345E5DC}"/>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EDCEB82-0664-3624-AF7F-81CAD832F68D}"/>
              </a:ext>
            </a:extLst>
          </p:cNvPr>
          <p:cNvSpPr>
            <a:spLocks noGrp="1"/>
          </p:cNvSpPr>
          <p:nvPr>
            <p:ph idx="1"/>
          </p:nvPr>
        </p:nvSpPr>
        <p:spPr/>
        <p:txBody>
          <a:bodyPr>
            <a:normAutofit lnSpcReduction="10000"/>
          </a:bodyPr>
          <a:lstStyle/>
          <a:p>
            <a:pPr algn="just"/>
            <a:r>
              <a:rPr lang="en-US" b="0" i="0" dirty="0">
                <a:solidFill>
                  <a:srgbClr val="251431"/>
                </a:solidFill>
                <a:effectLst/>
                <a:latin typeface="Google Sans"/>
              </a:rPr>
              <a:t>I/O management and disk scheduling are </a:t>
            </a:r>
            <a:r>
              <a:rPr lang="en-US" b="1" i="0" dirty="0">
                <a:solidFill>
                  <a:srgbClr val="251431"/>
                </a:solidFill>
                <a:effectLst/>
                <a:latin typeface="Google Sans"/>
              </a:rPr>
              <a:t>essential components of a computer's operating system</a:t>
            </a:r>
            <a:r>
              <a:rPr lang="en-US" b="0" i="0" dirty="0">
                <a:solidFill>
                  <a:srgbClr val="251431"/>
                </a:solidFill>
                <a:effectLst/>
                <a:latin typeface="Google Sans"/>
              </a:rPr>
              <a:t>. I/O management controls the flow of data into and out of a data processing complex. Disk scheduling handles the organization and access of data on a disk.</a:t>
            </a:r>
          </a:p>
          <a:p>
            <a:pPr marL="0" indent="0" algn="just">
              <a:buNone/>
            </a:pPr>
            <a:r>
              <a:rPr lang="en-US" b="1" i="0" dirty="0">
                <a:solidFill>
                  <a:srgbClr val="251431"/>
                </a:solidFill>
                <a:effectLst/>
                <a:latin typeface="Google Sans"/>
              </a:rPr>
              <a:t>    I/O management involves: </a:t>
            </a:r>
            <a:endParaRPr lang="en-US" b="1" i="0" dirty="0">
              <a:solidFill>
                <a:srgbClr val="1A73E8"/>
              </a:solidFill>
              <a:effectLst/>
              <a:latin typeface="Google Sans"/>
            </a:endParaRPr>
          </a:p>
          <a:p>
            <a:pPr algn="l">
              <a:buFont typeface="Arial" panose="020B0604020202020204" pitchFamily="34" charset="0"/>
              <a:buChar char="•"/>
            </a:pPr>
            <a:r>
              <a:rPr lang="en-US" b="0" i="0" dirty="0">
                <a:solidFill>
                  <a:srgbClr val="251431"/>
                </a:solidFill>
                <a:effectLst/>
                <a:latin typeface="Google Sans"/>
              </a:rPr>
              <a:t>Reading from or writing to devices, such as disks, network interfaces, or user input/output devices</a:t>
            </a:r>
          </a:p>
          <a:p>
            <a:pPr algn="l">
              <a:buFont typeface="Arial" panose="020B0604020202020204" pitchFamily="34" charset="0"/>
              <a:buChar char="•"/>
            </a:pPr>
            <a:r>
              <a:rPr lang="en-US" b="0" i="0" dirty="0">
                <a:solidFill>
                  <a:srgbClr val="251431"/>
                </a:solidFill>
                <a:effectLst/>
                <a:latin typeface="Google Sans"/>
              </a:rPr>
              <a:t>Controlling the flow of data into and out of a data processing complex</a:t>
            </a:r>
          </a:p>
          <a:p>
            <a:pPr algn="l">
              <a:buFont typeface="Arial" panose="020B0604020202020204" pitchFamily="34" charset="0"/>
              <a:buChar char="•"/>
            </a:pPr>
            <a:r>
              <a:rPr lang="en-US" b="0" i="0" dirty="0">
                <a:solidFill>
                  <a:srgbClr val="251431"/>
                </a:solidFill>
                <a:effectLst/>
                <a:latin typeface="Google Sans"/>
              </a:rPr>
              <a:t>Transferring information between computer memory and the outside world</a:t>
            </a:r>
          </a:p>
          <a:p>
            <a:pPr algn="just"/>
            <a:endParaRPr lang="en-IN" dirty="0"/>
          </a:p>
        </p:txBody>
      </p:sp>
    </p:spTree>
    <p:extLst>
      <p:ext uri="{BB962C8B-B14F-4D97-AF65-F5344CB8AC3E}">
        <p14:creationId xmlns:p14="http://schemas.microsoft.com/office/powerpoint/2010/main" val="2540909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CC2DA-3514-2CE4-54C7-4ECF8BDE24FB}"/>
              </a:ext>
            </a:extLst>
          </p:cNvPr>
          <p:cNvSpPr>
            <a:spLocks noGrp="1"/>
          </p:cNvSpPr>
          <p:nvPr>
            <p:ph type="title"/>
          </p:nvPr>
        </p:nvSpPr>
        <p:spPr/>
        <p:txBody>
          <a:bodyPr/>
          <a:lstStyle/>
          <a:p>
            <a:r>
              <a:rPr lang="en-IN" dirty="0" err="1"/>
              <a:t>Contt</a:t>
            </a:r>
            <a:r>
              <a:rPr lang="en-IN" dirty="0"/>
              <a:t>.</a:t>
            </a:r>
          </a:p>
        </p:txBody>
      </p:sp>
      <p:sp>
        <p:nvSpPr>
          <p:cNvPr id="3" name="Content Placeholder 2">
            <a:extLst>
              <a:ext uri="{FF2B5EF4-FFF2-40B4-BE49-F238E27FC236}">
                <a16:creationId xmlns:a16="http://schemas.microsoft.com/office/drawing/2014/main" id="{AB8E696B-40C6-AF8F-B11E-B7DF49FE941F}"/>
              </a:ext>
            </a:extLst>
          </p:cNvPr>
          <p:cNvSpPr>
            <a:spLocks noGrp="1"/>
          </p:cNvSpPr>
          <p:nvPr>
            <p:ph idx="1"/>
          </p:nvPr>
        </p:nvSpPr>
        <p:spPr/>
        <p:txBody>
          <a:bodyPr/>
          <a:lstStyle/>
          <a:p>
            <a:pPr marL="0" indent="0" fontAlgn="ctr">
              <a:buNone/>
            </a:pPr>
            <a:r>
              <a:rPr lang="en-US" b="1" i="0" dirty="0">
                <a:solidFill>
                  <a:srgbClr val="251431"/>
                </a:solidFill>
                <a:effectLst/>
                <a:latin typeface="Google Sans"/>
              </a:rPr>
              <a:t>     Disk scheduling involves: </a:t>
            </a:r>
            <a:endParaRPr lang="en-US" b="1" i="0" dirty="0">
              <a:solidFill>
                <a:srgbClr val="1A73E8"/>
              </a:solidFill>
              <a:effectLst/>
              <a:latin typeface="Google Sans"/>
            </a:endParaRPr>
          </a:p>
          <a:p>
            <a:pPr algn="l">
              <a:buFont typeface="Arial" panose="020B0604020202020204" pitchFamily="34" charset="0"/>
              <a:buChar char="•"/>
            </a:pPr>
            <a:r>
              <a:rPr lang="en-US" b="0" i="0" dirty="0">
                <a:solidFill>
                  <a:srgbClr val="251431"/>
                </a:solidFill>
                <a:effectLst/>
                <a:latin typeface="Google Sans"/>
              </a:rPr>
              <a:t>Determining the order in which the read/write head of the disk moves to access data</a:t>
            </a:r>
          </a:p>
          <a:p>
            <a:pPr algn="l">
              <a:buFont typeface="Arial" panose="020B0604020202020204" pitchFamily="34" charset="0"/>
              <a:buChar char="•"/>
            </a:pPr>
            <a:r>
              <a:rPr lang="en-US" b="0" i="0" dirty="0">
                <a:solidFill>
                  <a:srgbClr val="251431"/>
                </a:solidFill>
                <a:effectLst/>
                <a:latin typeface="Google Sans"/>
              </a:rPr>
              <a:t>Ensuring that only one I/O request can be served at a time by the disk controller</a:t>
            </a:r>
          </a:p>
          <a:p>
            <a:pPr algn="l">
              <a:buFont typeface="Arial" panose="020B0604020202020204" pitchFamily="34" charset="0"/>
              <a:buChar char="•"/>
            </a:pPr>
            <a:r>
              <a:rPr lang="en-US" b="0" i="0" dirty="0">
                <a:solidFill>
                  <a:srgbClr val="251431"/>
                </a:solidFill>
                <a:effectLst/>
                <a:latin typeface="Google Sans"/>
              </a:rPr>
              <a:t>Handling multiple I/O requests that may arrive by different processes</a:t>
            </a:r>
          </a:p>
          <a:p>
            <a:pPr algn="l">
              <a:buFont typeface="Arial" panose="020B0604020202020204" pitchFamily="34" charset="0"/>
              <a:buChar char="•"/>
            </a:pPr>
            <a:r>
              <a:rPr lang="en-US" b="0" i="0" dirty="0">
                <a:solidFill>
                  <a:srgbClr val="251431"/>
                </a:solidFill>
                <a:effectLst/>
                <a:latin typeface="Google Sans"/>
              </a:rPr>
              <a:t>Being written as a separate module of the operating system, allowing it to be replaced with a different algorithm if necessary</a:t>
            </a:r>
          </a:p>
          <a:p>
            <a:endParaRPr lang="en-IN" dirty="0"/>
          </a:p>
        </p:txBody>
      </p:sp>
    </p:spTree>
    <p:extLst>
      <p:ext uri="{BB962C8B-B14F-4D97-AF65-F5344CB8AC3E}">
        <p14:creationId xmlns:p14="http://schemas.microsoft.com/office/powerpoint/2010/main" val="1466279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FA33-2D88-BEA2-6875-6289BEDE8BC6}"/>
              </a:ext>
            </a:extLst>
          </p:cNvPr>
          <p:cNvSpPr>
            <a:spLocks noGrp="1"/>
          </p:cNvSpPr>
          <p:nvPr>
            <p:ph type="title"/>
          </p:nvPr>
        </p:nvSpPr>
        <p:spPr/>
        <p:txBody>
          <a:bodyPr/>
          <a:lstStyle/>
          <a:p>
            <a:r>
              <a:rPr lang="en-IN" dirty="0"/>
              <a:t>I/O Devices</a:t>
            </a:r>
          </a:p>
        </p:txBody>
      </p:sp>
      <p:sp>
        <p:nvSpPr>
          <p:cNvPr id="3" name="Content Placeholder 2">
            <a:extLst>
              <a:ext uri="{FF2B5EF4-FFF2-40B4-BE49-F238E27FC236}">
                <a16:creationId xmlns:a16="http://schemas.microsoft.com/office/drawing/2014/main" id="{806A927C-0480-4B95-7AAC-BA7273BB80F7}"/>
              </a:ext>
            </a:extLst>
          </p:cNvPr>
          <p:cNvSpPr>
            <a:spLocks noGrp="1"/>
          </p:cNvSpPr>
          <p:nvPr>
            <p:ph idx="1"/>
          </p:nvPr>
        </p:nvSpPr>
        <p:spPr/>
        <p:txBody>
          <a:bodyPr/>
          <a:lstStyle/>
          <a:p>
            <a:pPr algn="just"/>
            <a:r>
              <a:rPr lang="en-US" b="0" i="0" dirty="0">
                <a:solidFill>
                  <a:srgbClr val="211634"/>
                </a:solidFill>
                <a:effectLst/>
                <a:latin typeface="Google Sans"/>
              </a:rPr>
              <a:t>I/O (input/output) devices are </a:t>
            </a:r>
            <a:r>
              <a:rPr lang="en-US" b="1" i="0" dirty="0">
                <a:solidFill>
                  <a:srgbClr val="211634"/>
                </a:solidFill>
                <a:effectLst/>
                <a:latin typeface="Google Sans"/>
              </a:rPr>
              <a:t>hardware that allows humans or other systems to communicate with a computer</a:t>
            </a:r>
            <a:r>
              <a:rPr lang="en-US" b="0" i="0" dirty="0">
                <a:solidFill>
                  <a:srgbClr val="211634"/>
                </a:solidFill>
                <a:effectLst/>
                <a:latin typeface="Google Sans"/>
              </a:rPr>
              <a:t>. I/O devices transfer data to and from a computer.</a:t>
            </a:r>
          </a:p>
          <a:p>
            <a:pPr marL="0" indent="0" algn="just">
              <a:buNone/>
            </a:pPr>
            <a:endParaRPr lang="en-US" b="0" i="0" dirty="0">
              <a:solidFill>
                <a:srgbClr val="211634"/>
              </a:solidFill>
              <a:effectLst/>
              <a:latin typeface="Google Sans"/>
            </a:endParaRPr>
          </a:p>
          <a:p>
            <a:pPr fontAlgn="ctr"/>
            <a:r>
              <a:rPr lang="en-US" b="1" i="0" dirty="0">
                <a:solidFill>
                  <a:srgbClr val="211634"/>
                </a:solidFill>
                <a:effectLst/>
                <a:latin typeface="Google Sans"/>
              </a:rPr>
              <a:t>Examples of I/O devices include: </a:t>
            </a:r>
          </a:p>
          <a:p>
            <a:pPr marL="0" indent="0" fontAlgn="ctr">
              <a:buNone/>
            </a:pPr>
            <a:endParaRPr lang="en-US" b="1" i="0" dirty="0">
              <a:solidFill>
                <a:srgbClr val="1A73E8"/>
              </a:solidFill>
              <a:effectLst/>
              <a:latin typeface="Google Sans"/>
            </a:endParaRPr>
          </a:p>
          <a:p>
            <a:pPr algn="l">
              <a:buFont typeface="Arial" panose="020B0604020202020204" pitchFamily="34" charset="0"/>
              <a:buChar char="•"/>
            </a:pPr>
            <a:r>
              <a:rPr lang="en-US" b="0" i="0" dirty="0">
                <a:solidFill>
                  <a:srgbClr val="211634"/>
                </a:solidFill>
                <a:effectLst/>
                <a:latin typeface="Google Sans"/>
              </a:rPr>
              <a:t>Input devices: Keyboards, mice, scanners, and hard disks</a:t>
            </a:r>
          </a:p>
          <a:p>
            <a:pPr algn="l">
              <a:buFont typeface="Arial" panose="020B0604020202020204" pitchFamily="34" charset="0"/>
              <a:buChar char="•"/>
            </a:pPr>
            <a:r>
              <a:rPr lang="en-US" b="0" i="0" dirty="0">
                <a:solidFill>
                  <a:srgbClr val="211634"/>
                </a:solidFill>
                <a:effectLst/>
                <a:latin typeface="Google Sans"/>
              </a:rPr>
              <a:t>Output devices: Monitors, printers, and headphones</a:t>
            </a:r>
          </a:p>
          <a:p>
            <a:pPr algn="just"/>
            <a:endParaRPr lang="en-IN" dirty="0"/>
          </a:p>
        </p:txBody>
      </p:sp>
    </p:spTree>
    <p:extLst>
      <p:ext uri="{BB962C8B-B14F-4D97-AF65-F5344CB8AC3E}">
        <p14:creationId xmlns:p14="http://schemas.microsoft.com/office/powerpoint/2010/main" val="209414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9CEB4-E670-CD68-D858-4E227BC4093B}"/>
              </a:ext>
            </a:extLst>
          </p:cNvPr>
          <p:cNvSpPr>
            <a:spLocks noGrp="1"/>
          </p:cNvSpPr>
          <p:nvPr>
            <p:ph type="title"/>
          </p:nvPr>
        </p:nvSpPr>
        <p:spPr/>
        <p:txBody>
          <a:bodyPr/>
          <a:lstStyle/>
          <a:p>
            <a:r>
              <a:rPr lang="en-IN" dirty="0"/>
              <a:t>I/O Subsystems</a:t>
            </a:r>
          </a:p>
        </p:txBody>
      </p:sp>
      <p:sp>
        <p:nvSpPr>
          <p:cNvPr id="3" name="Content Placeholder 2">
            <a:extLst>
              <a:ext uri="{FF2B5EF4-FFF2-40B4-BE49-F238E27FC236}">
                <a16:creationId xmlns:a16="http://schemas.microsoft.com/office/drawing/2014/main" id="{C66911AF-3305-8596-DA78-F9EEEC8383F6}"/>
              </a:ext>
            </a:extLst>
          </p:cNvPr>
          <p:cNvSpPr>
            <a:spLocks noGrp="1"/>
          </p:cNvSpPr>
          <p:nvPr>
            <p:ph idx="1"/>
          </p:nvPr>
        </p:nvSpPr>
        <p:spPr/>
        <p:txBody>
          <a:bodyPr>
            <a:normAutofit lnSpcReduction="10000"/>
          </a:bodyPr>
          <a:lstStyle/>
          <a:p>
            <a:pPr algn="just" fontAlgn="ctr"/>
            <a:r>
              <a:rPr lang="en-US" sz="2400" b="0" i="0" dirty="0">
                <a:effectLst/>
                <a:latin typeface="Google Sans"/>
              </a:rPr>
              <a:t>The Input/Output (I/O) subsystem is a fundamental component of modern operating systems. It </a:t>
            </a:r>
            <a:r>
              <a:rPr lang="en-US" sz="2400" b="1" i="0" dirty="0">
                <a:effectLst/>
                <a:latin typeface="Google Sans"/>
              </a:rPr>
              <a:t>manages all input/output operations on a computer</a:t>
            </a:r>
            <a:r>
              <a:rPr lang="en-US" sz="2400" b="0" i="0" dirty="0">
                <a:effectLst/>
                <a:latin typeface="Google Sans"/>
              </a:rPr>
              <a:t>. The I/O subsystem provides various services that enable efficient and secure management of the I/O operations. </a:t>
            </a:r>
          </a:p>
          <a:p>
            <a:pPr fontAlgn="ctr"/>
            <a:r>
              <a:rPr lang="en-US" sz="2400" b="1" i="0" dirty="0">
                <a:effectLst/>
                <a:latin typeface="Google Sans"/>
              </a:rPr>
              <a:t>The I/O subsystem consists of: </a:t>
            </a:r>
          </a:p>
          <a:p>
            <a:pPr algn="just" fontAlgn="ctr"/>
            <a:r>
              <a:rPr lang="en-US" sz="2400" b="0" i="0" dirty="0">
                <a:effectLst/>
                <a:latin typeface="Google Sans"/>
              </a:rPr>
              <a:t>The system bus, Disk controllers, Disks, Tape drives, Other I/O devices, Scheduling, Caching, Spooling, Device reservation, Error handling. </a:t>
            </a:r>
          </a:p>
          <a:p>
            <a:pPr algn="just" fontAlgn="ctr"/>
            <a:r>
              <a:rPr lang="en-US" sz="2400" b="0" i="0" dirty="0">
                <a:effectLst/>
                <a:latin typeface="Google Sans"/>
              </a:rPr>
              <a:t>The I/O subsystem is also responsible for protecting itself from rogue programs and malicious users. </a:t>
            </a:r>
          </a:p>
          <a:p>
            <a:pPr algn="just"/>
            <a:r>
              <a:rPr lang="en-US" sz="2400" b="0" i="0" dirty="0">
                <a:effectLst/>
                <a:latin typeface="Google Sans"/>
              </a:rPr>
              <a:t>The I/O subsystem can increase the system's overall performance, distribute device access permissions evenly among all processes, and reduce average wait times, response times, and turnaround times for I/O to complete.</a:t>
            </a:r>
          </a:p>
          <a:p>
            <a:endParaRPr lang="en-IN" sz="2400" dirty="0"/>
          </a:p>
        </p:txBody>
      </p:sp>
    </p:spTree>
    <p:extLst>
      <p:ext uri="{BB962C8B-B14F-4D97-AF65-F5344CB8AC3E}">
        <p14:creationId xmlns:p14="http://schemas.microsoft.com/office/powerpoint/2010/main" val="168324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A6C4-706F-E350-B57B-F82C14275FAE}"/>
              </a:ext>
            </a:extLst>
          </p:cNvPr>
          <p:cNvSpPr>
            <a:spLocks noGrp="1"/>
          </p:cNvSpPr>
          <p:nvPr>
            <p:ph type="title"/>
          </p:nvPr>
        </p:nvSpPr>
        <p:spPr/>
        <p:txBody>
          <a:bodyPr/>
          <a:lstStyle/>
          <a:p>
            <a:r>
              <a:rPr lang="en-IN" dirty="0"/>
              <a:t>I/O Buffering</a:t>
            </a:r>
          </a:p>
        </p:txBody>
      </p:sp>
      <p:sp>
        <p:nvSpPr>
          <p:cNvPr id="3" name="Content Placeholder 2">
            <a:extLst>
              <a:ext uri="{FF2B5EF4-FFF2-40B4-BE49-F238E27FC236}">
                <a16:creationId xmlns:a16="http://schemas.microsoft.com/office/drawing/2014/main" id="{329AA01A-8ADE-8EBA-5555-DD48035BE598}"/>
              </a:ext>
            </a:extLst>
          </p:cNvPr>
          <p:cNvSpPr>
            <a:spLocks noGrp="1"/>
          </p:cNvSpPr>
          <p:nvPr>
            <p:ph idx="1"/>
          </p:nvPr>
        </p:nvSpPr>
        <p:spPr/>
        <p:txBody>
          <a:bodyPr>
            <a:normAutofit fontScale="55000" lnSpcReduction="20000"/>
          </a:bodyPr>
          <a:lstStyle/>
          <a:p>
            <a:pPr algn="l" fontAlgn="base"/>
            <a:r>
              <a:rPr lang="en-US" b="0" i="0" dirty="0">
                <a:effectLst/>
                <a:latin typeface="Nunito" pitchFamily="2" charset="0"/>
              </a:rPr>
              <a:t>A buffer is a memory area that stores data being transferred between two devices or between a device and an application.</a:t>
            </a:r>
          </a:p>
          <a:p>
            <a:pPr algn="l" fontAlgn="base"/>
            <a:r>
              <a:rPr lang="en-US" b="1" i="0" dirty="0">
                <a:effectLst/>
                <a:latin typeface="Nunito" pitchFamily="2" charset="0"/>
              </a:rPr>
              <a:t>Uses of I/O Buffering :</a:t>
            </a:r>
            <a:endParaRPr lang="en-US" b="0" i="0" dirty="0">
              <a:effectLst/>
              <a:latin typeface="Nunito" pitchFamily="2" charset="0"/>
            </a:endParaRPr>
          </a:p>
          <a:p>
            <a:pPr algn="l" fontAlgn="base">
              <a:buFont typeface="Arial" panose="020B0604020202020204" pitchFamily="34" charset="0"/>
              <a:buChar char="•"/>
            </a:pPr>
            <a:r>
              <a:rPr lang="en-US" b="0" i="0" dirty="0">
                <a:effectLst/>
                <a:latin typeface="Nunito" pitchFamily="2" charset="0"/>
              </a:rPr>
              <a:t>Buffering is done to deal effectively with a speed mismatch between the producer and consumer of the data stream.</a:t>
            </a:r>
          </a:p>
          <a:p>
            <a:pPr algn="l" fontAlgn="base">
              <a:buFont typeface="Arial" panose="020B0604020202020204" pitchFamily="34" charset="0"/>
              <a:buChar char="•"/>
            </a:pPr>
            <a:r>
              <a:rPr lang="en-US" b="0" i="0" dirty="0">
                <a:effectLst/>
                <a:latin typeface="Nunito" pitchFamily="2" charset="0"/>
              </a:rPr>
              <a:t>A buffer is produced in main memory to heap up the bytes received from modem.</a:t>
            </a:r>
          </a:p>
          <a:p>
            <a:pPr algn="l" fontAlgn="base">
              <a:buFont typeface="Arial" panose="020B0604020202020204" pitchFamily="34" charset="0"/>
              <a:buChar char="•"/>
            </a:pPr>
            <a:r>
              <a:rPr lang="en-US" b="0" i="0" dirty="0">
                <a:effectLst/>
                <a:latin typeface="Nunito" pitchFamily="2" charset="0"/>
              </a:rPr>
              <a:t>After receiving the data in the buffer, the data get transferred to disk from buffer in a single operation.</a:t>
            </a:r>
          </a:p>
          <a:p>
            <a:pPr algn="l" fontAlgn="base">
              <a:buFont typeface="Arial" panose="020B0604020202020204" pitchFamily="34" charset="0"/>
              <a:buChar char="•"/>
            </a:pPr>
            <a:r>
              <a:rPr lang="en-US" b="0" i="0" dirty="0">
                <a:effectLst/>
                <a:latin typeface="Nunito" pitchFamily="2" charset="0"/>
              </a:rPr>
              <a:t>This process of data transfer is not instantaneous, therefore the modem needs another buffer in order to store additional incoming data.</a:t>
            </a:r>
          </a:p>
          <a:p>
            <a:pPr algn="l" fontAlgn="base">
              <a:buFont typeface="Arial" panose="020B0604020202020204" pitchFamily="34" charset="0"/>
              <a:buChar char="•"/>
            </a:pPr>
            <a:r>
              <a:rPr lang="en-US" b="0" i="0" dirty="0">
                <a:effectLst/>
                <a:latin typeface="Nunito" pitchFamily="2" charset="0"/>
              </a:rPr>
              <a:t>When the first buffer got filled, then it is requested to transfer the data to disk.</a:t>
            </a:r>
          </a:p>
          <a:p>
            <a:pPr algn="l" fontAlgn="base">
              <a:buFont typeface="Arial" panose="020B0604020202020204" pitchFamily="34" charset="0"/>
              <a:buChar char="•"/>
            </a:pPr>
            <a:r>
              <a:rPr lang="en-US" b="0" i="0" dirty="0">
                <a:effectLst/>
                <a:latin typeface="Nunito" pitchFamily="2" charset="0"/>
              </a:rPr>
              <a:t>The modem then starts filling the additional incoming data in the second buffer while the data in the first buffer getting transferred to disk.</a:t>
            </a:r>
          </a:p>
          <a:p>
            <a:pPr algn="l" fontAlgn="base">
              <a:buFont typeface="Arial" panose="020B0604020202020204" pitchFamily="34" charset="0"/>
              <a:buChar char="•"/>
            </a:pPr>
            <a:r>
              <a:rPr lang="en-US" b="0" i="0" dirty="0">
                <a:effectLst/>
                <a:latin typeface="Nunito" pitchFamily="2" charset="0"/>
              </a:rPr>
              <a:t>When both the buffers completed their tasks, then the modem switches back to the first buffer while the data from the second buffer get transferred to the disk.</a:t>
            </a:r>
          </a:p>
          <a:p>
            <a:pPr algn="l" fontAlgn="base">
              <a:buFont typeface="Arial" panose="020B0604020202020204" pitchFamily="34" charset="0"/>
              <a:buChar char="•"/>
            </a:pPr>
            <a:r>
              <a:rPr lang="en-US" b="0" i="0" dirty="0">
                <a:effectLst/>
                <a:latin typeface="Nunito" pitchFamily="2" charset="0"/>
              </a:rPr>
              <a:t>The use of two buffers disintegrates the producer and the consumer of the data, thus minimizes the time requirements between them.</a:t>
            </a:r>
          </a:p>
          <a:p>
            <a:pPr algn="l" fontAlgn="base">
              <a:buFont typeface="Arial" panose="020B0604020202020204" pitchFamily="34" charset="0"/>
              <a:buChar char="•"/>
            </a:pPr>
            <a:r>
              <a:rPr lang="en-US" b="0" i="0" dirty="0">
                <a:effectLst/>
                <a:latin typeface="Nunito" pitchFamily="2" charset="0"/>
              </a:rPr>
              <a:t>Buffering also provides variations for devices that have different data transfer sizes.</a:t>
            </a:r>
          </a:p>
          <a:p>
            <a:endParaRPr lang="en-IN" dirty="0"/>
          </a:p>
        </p:txBody>
      </p:sp>
    </p:spTree>
    <p:extLst>
      <p:ext uri="{BB962C8B-B14F-4D97-AF65-F5344CB8AC3E}">
        <p14:creationId xmlns:p14="http://schemas.microsoft.com/office/powerpoint/2010/main" val="3808138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F50E-294F-72B9-B27B-049509D8B9FF}"/>
              </a:ext>
            </a:extLst>
          </p:cNvPr>
          <p:cNvSpPr>
            <a:spLocks noGrp="1"/>
          </p:cNvSpPr>
          <p:nvPr>
            <p:ph type="title"/>
          </p:nvPr>
        </p:nvSpPr>
        <p:spPr/>
        <p:txBody>
          <a:bodyPr/>
          <a:lstStyle/>
          <a:p>
            <a:r>
              <a:rPr lang="en-IN" dirty="0" err="1"/>
              <a:t>Contt</a:t>
            </a:r>
            <a:r>
              <a:rPr lang="en-IN" dirty="0"/>
              <a:t>.</a:t>
            </a:r>
          </a:p>
        </p:txBody>
      </p:sp>
      <p:sp>
        <p:nvSpPr>
          <p:cNvPr id="3" name="Content Placeholder 2">
            <a:extLst>
              <a:ext uri="{FF2B5EF4-FFF2-40B4-BE49-F238E27FC236}">
                <a16:creationId xmlns:a16="http://schemas.microsoft.com/office/drawing/2014/main" id="{C10F0C2D-AE68-20FB-A57C-DDF3A65FC487}"/>
              </a:ext>
            </a:extLst>
          </p:cNvPr>
          <p:cNvSpPr>
            <a:spLocks noGrp="1"/>
          </p:cNvSpPr>
          <p:nvPr>
            <p:ph idx="1"/>
          </p:nvPr>
        </p:nvSpPr>
        <p:spPr/>
        <p:txBody>
          <a:bodyPr>
            <a:normAutofit fontScale="92500" lnSpcReduction="20000"/>
          </a:bodyPr>
          <a:lstStyle/>
          <a:p>
            <a:pPr algn="l" fontAlgn="base"/>
            <a:r>
              <a:rPr lang="en-US" b="1" i="0" dirty="0">
                <a:effectLst/>
                <a:latin typeface="Nunito" pitchFamily="2" charset="0"/>
              </a:rPr>
              <a:t>Types of various I/O buffering techniques :</a:t>
            </a:r>
            <a:endParaRPr lang="en-US" b="0" i="0" dirty="0">
              <a:effectLst/>
              <a:latin typeface="Nunito" pitchFamily="2" charset="0"/>
            </a:endParaRPr>
          </a:p>
          <a:p>
            <a:pPr algn="l" fontAlgn="base"/>
            <a:r>
              <a:rPr lang="en-US" b="1" i="0" dirty="0">
                <a:effectLst/>
                <a:latin typeface="Nunito" pitchFamily="2" charset="0"/>
              </a:rPr>
              <a:t>1. Single buffer :</a:t>
            </a:r>
            <a:br>
              <a:rPr lang="en-US" b="0" i="0" dirty="0">
                <a:effectLst/>
                <a:latin typeface="Nunito" pitchFamily="2" charset="0"/>
              </a:rPr>
            </a:br>
            <a:r>
              <a:rPr lang="en-US" b="0" i="0" dirty="0">
                <a:effectLst/>
                <a:latin typeface="Nunito" pitchFamily="2" charset="0"/>
              </a:rPr>
              <a:t>A buffer is provided by the operating system to the system portion of the main memory.</a:t>
            </a:r>
          </a:p>
          <a:p>
            <a:pPr algn="l" fontAlgn="base"/>
            <a:r>
              <a:rPr lang="en-US" b="1" i="0" dirty="0">
                <a:effectLst/>
                <a:latin typeface="Nunito" pitchFamily="2" charset="0"/>
              </a:rPr>
              <a:t>Block oriented device –</a:t>
            </a:r>
            <a:endParaRPr lang="en-US" b="0" i="0" dirty="0">
              <a:effectLst/>
              <a:latin typeface="Nunito" pitchFamily="2" charset="0"/>
            </a:endParaRPr>
          </a:p>
          <a:p>
            <a:pPr algn="l" fontAlgn="base">
              <a:buFont typeface="Arial" panose="020B0604020202020204" pitchFamily="34" charset="0"/>
              <a:buChar char="•"/>
            </a:pPr>
            <a:r>
              <a:rPr lang="en-US" b="0" i="0" dirty="0">
                <a:effectLst/>
                <a:latin typeface="Nunito" pitchFamily="2" charset="0"/>
              </a:rPr>
              <a:t>System buffer takes the input.</a:t>
            </a:r>
          </a:p>
          <a:p>
            <a:pPr algn="l" fontAlgn="base">
              <a:buFont typeface="Arial" panose="020B0604020202020204" pitchFamily="34" charset="0"/>
              <a:buChar char="•"/>
            </a:pPr>
            <a:r>
              <a:rPr lang="en-US" b="0" i="0" dirty="0">
                <a:effectLst/>
                <a:latin typeface="Nunito" pitchFamily="2" charset="0"/>
              </a:rPr>
              <a:t>After taking the input, the block gets transferred to the user space by the process and then the process requests for another block.</a:t>
            </a:r>
          </a:p>
          <a:p>
            <a:pPr algn="l" fontAlgn="base"/>
            <a:r>
              <a:rPr lang="en-US" b="1" i="0" dirty="0">
                <a:effectLst/>
                <a:latin typeface="Nunito" pitchFamily="2" charset="0"/>
              </a:rPr>
              <a:t>Stream oriented device –</a:t>
            </a:r>
            <a:endParaRPr lang="en-US" b="0" i="0" dirty="0">
              <a:effectLst/>
              <a:latin typeface="Nunito" pitchFamily="2" charset="0"/>
            </a:endParaRPr>
          </a:p>
          <a:p>
            <a:pPr algn="l" fontAlgn="base">
              <a:buFont typeface="Arial" panose="020B0604020202020204" pitchFamily="34" charset="0"/>
              <a:buChar char="•"/>
            </a:pPr>
            <a:r>
              <a:rPr lang="en-US" b="0" i="0" dirty="0">
                <a:effectLst/>
                <a:latin typeface="Nunito" pitchFamily="2" charset="0"/>
              </a:rPr>
              <a:t>Line- at a time operation is used for scroll made terminals. User inputs one line at a time, with a carriage return signaling at the end of a line.</a:t>
            </a:r>
          </a:p>
          <a:p>
            <a:pPr algn="l" fontAlgn="base">
              <a:buFont typeface="Arial" panose="020B0604020202020204" pitchFamily="34" charset="0"/>
              <a:buChar char="•"/>
            </a:pPr>
            <a:endParaRPr lang="en-US" b="0" i="0" dirty="0">
              <a:effectLst/>
              <a:latin typeface="Nunito" pitchFamily="2" charset="0"/>
            </a:endParaRPr>
          </a:p>
          <a:p>
            <a:endParaRPr lang="en-IN" dirty="0"/>
          </a:p>
        </p:txBody>
      </p:sp>
    </p:spTree>
    <p:extLst>
      <p:ext uri="{BB962C8B-B14F-4D97-AF65-F5344CB8AC3E}">
        <p14:creationId xmlns:p14="http://schemas.microsoft.com/office/powerpoint/2010/main" val="577021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0C73-6F64-30C4-38B5-B775901CA4D9}"/>
              </a:ext>
            </a:extLst>
          </p:cNvPr>
          <p:cNvSpPr>
            <a:spLocks noGrp="1"/>
          </p:cNvSpPr>
          <p:nvPr>
            <p:ph type="title"/>
          </p:nvPr>
        </p:nvSpPr>
        <p:spPr/>
        <p:txBody>
          <a:bodyPr/>
          <a:lstStyle/>
          <a:p>
            <a:r>
              <a:rPr lang="en-IN" dirty="0" err="1"/>
              <a:t>contt</a:t>
            </a:r>
            <a:endParaRPr lang="en-IN" dirty="0"/>
          </a:p>
        </p:txBody>
      </p:sp>
      <p:sp>
        <p:nvSpPr>
          <p:cNvPr id="3" name="Content Placeholder 2">
            <a:extLst>
              <a:ext uri="{FF2B5EF4-FFF2-40B4-BE49-F238E27FC236}">
                <a16:creationId xmlns:a16="http://schemas.microsoft.com/office/drawing/2014/main" id="{B7B3B460-D9EB-D67B-2D6E-3A196E29DF42}"/>
              </a:ext>
            </a:extLst>
          </p:cNvPr>
          <p:cNvSpPr>
            <a:spLocks noGrp="1"/>
          </p:cNvSpPr>
          <p:nvPr>
            <p:ph idx="1"/>
          </p:nvPr>
        </p:nvSpPr>
        <p:spPr/>
        <p:txBody>
          <a:bodyPr>
            <a:normAutofit fontScale="85000" lnSpcReduction="20000"/>
          </a:bodyPr>
          <a:lstStyle/>
          <a:p>
            <a:pPr algn="l" fontAlgn="base"/>
            <a:r>
              <a:rPr lang="en-US" b="1" i="0" dirty="0">
                <a:effectLst/>
                <a:latin typeface="Nunito" pitchFamily="2" charset="0"/>
              </a:rPr>
              <a:t>2. Double buffer :</a:t>
            </a:r>
            <a:endParaRPr lang="en-US" b="0" i="0" dirty="0">
              <a:effectLst/>
              <a:latin typeface="Nunito" pitchFamily="2" charset="0"/>
            </a:endParaRPr>
          </a:p>
          <a:p>
            <a:pPr algn="l" fontAlgn="base"/>
            <a:r>
              <a:rPr lang="en-US" b="1" i="0" dirty="0">
                <a:effectLst/>
                <a:latin typeface="Nunito" pitchFamily="2" charset="0"/>
              </a:rPr>
              <a:t>Block oriented –</a:t>
            </a:r>
            <a:endParaRPr lang="en-US" b="0" i="0" dirty="0">
              <a:effectLst/>
              <a:latin typeface="Nunito" pitchFamily="2" charset="0"/>
            </a:endParaRPr>
          </a:p>
          <a:p>
            <a:pPr algn="l" fontAlgn="base">
              <a:buFont typeface="Arial" panose="020B0604020202020204" pitchFamily="34" charset="0"/>
              <a:buChar char="•"/>
            </a:pPr>
            <a:r>
              <a:rPr lang="en-US" b="0" i="0" dirty="0">
                <a:effectLst/>
                <a:latin typeface="Nunito" pitchFamily="2" charset="0"/>
              </a:rPr>
              <a:t>There are two buffers in the system.</a:t>
            </a:r>
          </a:p>
          <a:p>
            <a:pPr algn="l" fontAlgn="base">
              <a:buFont typeface="Arial" panose="020B0604020202020204" pitchFamily="34" charset="0"/>
              <a:buChar char="•"/>
            </a:pPr>
            <a:r>
              <a:rPr lang="en-US" b="0" i="0" dirty="0">
                <a:effectLst/>
                <a:latin typeface="Nunito" pitchFamily="2" charset="0"/>
              </a:rPr>
              <a:t>One buffer is used by the driver or controller to store data while waiting for it to be taken by higher level of the hierarchy.</a:t>
            </a:r>
          </a:p>
          <a:p>
            <a:pPr algn="l" fontAlgn="base">
              <a:buFont typeface="Arial" panose="020B0604020202020204" pitchFamily="34" charset="0"/>
              <a:buChar char="•"/>
            </a:pPr>
            <a:r>
              <a:rPr lang="en-US" b="0" i="0" dirty="0">
                <a:effectLst/>
                <a:latin typeface="Nunito" pitchFamily="2" charset="0"/>
              </a:rPr>
              <a:t>Other buffer is used to store data from the lower level module.</a:t>
            </a:r>
          </a:p>
          <a:p>
            <a:pPr algn="l" fontAlgn="base">
              <a:buFont typeface="Arial" panose="020B0604020202020204" pitchFamily="34" charset="0"/>
              <a:buChar char="•"/>
            </a:pPr>
            <a:r>
              <a:rPr lang="en-US" b="0" i="0" dirty="0">
                <a:effectLst/>
                <a:latin typeface="Nunito" pitchFamily="2" charset="0"/>
              </a:rPr>
              <a:t>Double buffering is also known as buffer swapping.</a:t>
            </a:r>
          </a:p>
          <a:p>
            <a:pPr algn="l" fontAlgn="base"/>
            <a:r>
              <a:rPr lang="en-US" b="1" i="0" dirty="0">
                <a:effectLst/>
                <a:latin typeface="Nunito" pitchFamily="2" charset="0"/>
              </a:rPr>
              <a:t>Stream oriented –</a:t>
            </a:r>
            <a:endParaRPr lang="en-US" b="0" i="0" dirty="0">
              <a:effectLst/>
              <a:latin typeface="Nunito" pitchFamily="2" charset="0"/>
            </a:endParaRPr>
          </a:p>
          <a:p>
            <a:pPr algn="l" fontAlgn="base">
              <a:buFont typeface="Arial" panose="020B0604020202020204" pitchFamily="34" charset="0"/>
              <a:buChar char="•"/>
            </a:pPr>
            <a:r>
              <a:rPr lang="en-US" b="0" i="0" dirty="0">
                <a:effectLst/>
                <a:latin typeface="Nunito" pitchFamily="2" charset="0"/>
              </a:rPr>
              <a:t>Line- at a time I/O, the user process need not be suspended for input or output, unless process runs ahead of the double buffer.</a:t>
            </a:r>
          </a:p>
          <a:p>
            <a:pPr algn="l" fontAlgn="base">
              <a:buFont typeface="Arial" panose="020B0604020202020204" pitchFamily="34" charset="0"/>
              <a:buChar char="•"/>
            </a:pPr>
            <a:r>
              <a:rPr lang="en-US" b="0" i="0" dirty="0">
                <a:effectLst/>
                <a:latin typeface="Nunito" pitchFamily="2" charset="0"/>
              </a:rPr>
              <a:t>Byte- at a time operations, double buffer offers no advantage over a single buffer of twice the length.</a:t>
            </a:r>
          </a:p>
          <a:p>
            <a:pPr algn="l" fontAlgn="base">
              <a:buFont typeface="Arial" panose="020B0604020202020204" pitchFamily="34" charset="0"/>
              <a:buChar char="•"/>
            </a:pPr>
            <a:endParaRPr lang="en-US" b="0" i="0" dirty="0">
              <a:effectLst/>
              <a:latin typeface="Nunito" pitchFamily="2" charset="0"/>
            </a:endParaRPr>
          </a:p>
          <a:p>
            <a:endParaRPr lang="en-IN" dirty="0"/>
          </a:p>
        </p:txBody>
      </p:sp>
    </p:spTree>
    <p:extLst>
      <p:ext uri="{BB962C8B-B14F-4D97-AF65-F5344CB8AC3E}">
        <p14:creationId xmlns:p14="http://schemas.microsoft.com/office/powerpoint/2010/main" val="2830642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20196-DDA4-B8B1-8795-6612EAFA598B}"/>
              </a:ext>
            </a:extLst>
          </p:cNvPr>
          <p:cNvSpPr>
            <a:spLocks noGrp="1"/>
          </p:cNvSpPr>
          <p:nvPr>
            <p:ph type="title"/>
          </p:nvPr>
        </p:nvSpPr>
        <p:spPr/>
        <p:txBody>
          <a:bodyPr/>
          <a:lstStyle/>
          <a:p>
            <a:r>
              <a:rPr lang="en-IN" dirty="0"/>
              <a:t>Disk Storage and Disk Scheduling</a:t>
            </a:r>
          </a:p>
        </p:txBody>
      </p:sp>
      <p:sp>
        <p:nvSpPr>
          <p:cNvPr id="3" name="Content Placeholder 2">
            <a:extLst>
              <a:ext uri="{FF2B5EF4-FFF2-40B4-BE49-F238E27FC236}">
                <a16:creationId xmlns:a16="http://schemas.microsoft.com/office/drawing/2014/main" id="{BE4E58F2-6B26-7CFD-DB59-9EA8CDECC564}"/>
              </a:ext>
            </a:extLst>
          </p:cNvPr>
          <p:cNvSpPr>
            <a:spLocks noGrp="1"/>
          </p:cNvSpPr>
          <p:nvPr>
            <p:ph idx="1"/>
          </p:nvPr>
        </p:nvSpPr>
        <p:spPr/>
        <p:txBody>
          <a:bodyPr/>
          <a:lstStyle/>
          <a:p>
            <a:r>
              <a:rPr lang="en-US" dirty="0">
                <a:solidFill>
                  <a:srgbClr val="333333"/>
                </a:solidFill>
                <a:latin typeface="inter-regular"/>
              </a:rPr>
              <a:t>A</a:t>
            </a:r>
            <a:r>
              <a:rPr lang="en-US" b="0" i="0" dirty="0">
                <a:solidFill>
                  <a:srgbClr val="333333"/>
                </a:solidFill>
                <a:effectLst/>
                <a:latin typeface="inter-regular"/>
              </a:rPr>
              <a:t> process needs two type of time, CPU time and IO time. For I/O, it requests the Operating system to access the disk.</a:t>
            </a:r>
          </a:p>
          <a:p>
            <a:pPr algn="just"/>
            <a:r>
              <a:rPr lang="en-US" dirty="0">
                <a:solidFill>
                  <a:srgbClr val="333333"/>
                </a:solidFill>
                <a:latin typeface="inter-regular"/>
              </a:rPr>
              <a:t>T</a:t>
            </a:r>
            <a:r>
              <a:rPr lang="en-US" b="0" i="0" dirty="0">
                <a:solidFill>
                  <a:srgbClr val="333333"/>
                </a:solidFill>
                <a:effectLst/>
                <a:latin typeface="inter-regular"/>
              </a:rPr>
              <a:t>he operating system must be fare enough to satisfy each request and at the same time, operating system must maintain the efficiency and speed of process execution.</a:t>
            </a:r>
          </a:p>
          <a:p>
            <a:pPr algn="just"/>
            <a:r>
              <a:rPr lang="en-US" b="0" i="0" dirty="0">
                <a:solidFill>
                  <a:srgbClr val="333333"/>
                </a:solidFill>
                <a:effectLst/>
                <a:latin typeface="inter-regular"/>
              </a:rPr>
              <a:t>The technique that operating system uses to determine the request which is to be satisfied next is called disk scheduling.</a:t>
            </a: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3461322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69BE-6D6B-3DA9-6C83-EA1840682B86}"/>
              </a:ext>
            </a:extLst>
          </p:cNvPr>
          <p:cNvSpPr>
            <a:spLocks noGrp="1"/>
          </p:cNvSpPr>
          <p:nvPr>
            <p:ph type="title"/>
          </p:nvPr>
        </p:nvSpPr>
        <p:spPr/>
        <p:txBody>
          <a:bodyPr/>
          <a:lstStyle/>
          <a:p>
            <a:r>
              <a:rPr lang="en-IN" dirty="0" err="1"/>
              <a:t>Contt</a:t>
            </a:r>
            <a:r>
              <a:rPr lang="en-IN" dirty="0"/>
              <a:t>..</a:t>
            </a:r>
          </a:p>
        </p:txBody>
      </p:sp>
      <p:sp>
        <p:nvSpPr>
          <p:cNvPr id="3" name="Content Placeholder 2">
            <a:extLst>
              <a:ext uri="{FF2B5EF4-FFF2-40B4-BE49-F238E27FC236}">
                <a16:creationId xmlns:a16="http://schemas.microsoft.com/office/drawing/2014/main" id="{F29F9AF3-2EA9-C7EC-D911-C8CEC748244D}"/>
              </a:ext>
            </a:extLst>
          </p:cNvPr>
          <p:cNvSpPr>
            <a:spLocks noGrp="1"/>
          </p:cNvSpPr>
          <p:nvPr>
            <p:ph idx="1"/>
          </p:nvPr>
        </p:nvSpPr>
        <p:spPr>
          <a:xfrm>
            <a:off x="838199" y="1219200"/>
            <a:ext cx="11168743" cy="5453743"/>
          </a:xfrm>
        </p:spPr>
        <p:txBody>
          <a:bodyPr>
            <a:normAutofit fontScale="85000" lnSpcReduction="20000"/>
          </a:bodyPr>
          <a:lstStyle/>
          <a:p>
            <a:r>
              <a:rPr lang="en-US" b="1" dirty="0">
                <a:solidFill>
                  <a:srgbClr val="333333"/>
                </a:solidFill>
                <a:latin typeface="inter-regular"/>
              </a:rPr>
              <a:t>S</a:t>
            </a:r>
            <a:r>
              <a:rPr lang="en-US" b="1" i="0" dirty="0">
                <a:solidFill>
                  <a:srgbClr val="333333"/>
                </a:solidFill>
                <a:effectLst/>
                <a:latin typeface="inter-regular"/>
              </a:rPr>
              <a:t>ome important terms related to disk scheduling….</a:t>
            </a:r>
          </a:p>
          <a:p>
            <a:pPr marL="0" indent="0" algn="just">
              <a:buNone/>
            </a:pPr>
            <a:r>
              <a:rPr lang="en-US" b="1" i="0" dirty="0">
                <a:solidFill>
                  <a:srgbClr val="610B4B"/>
                </a:solidFill>
                <a:effectLst/>
                <a:latin typeface="erdana"/>
              </a:rPr>
              <a:t>    Seek Time</a:t>
            </a:r>
          </a:p>
          <a:p>
            <a:pPr algn="just"/>
            <a:r>
              <a:rPr lang="en-US" b="0" i="0" dirty="0">
                <a:solidFill>
                  <a:srgbClr val="333333"/>
                </a:solidFill>
                <a:effectLst/>
                <a:latin typeface="inter-regular"/>
              </a:rPr>
              <a:t>Seek time is the time taken in locating the disk arm to a specified track where the read/write request will be satisfied.</a:t>
            </a:r>
          </a:p>
          <a:p>
            <a:pPr marL="0" indent="0" algn="just">
              <a:buNone/>
            </a:pPr>
            <a:r>
              <a:rPr lang="en-US" b="1" i="0" dirty="0">
                <a:solidFill>
                  <a:srgbClr val="610B4B"/>
                </a:solidFill>
                <a:effectLst/>
                <a:latin typeface="erdana"/>
              </a:rPr>
              <a:t>    Rotational Latency</a:t>
            </a:r>
          </a:p>
          <a:p>
            <a:pPr algn="just"/>
            <a:r>
              <a:rPr lang="en-US" b="0" i="0" dirty="0">
                <a:solidFill>
                  <a:srgbClr val="333333"/>
                </a:solidFill>
                <a:effectLst/>
                <a:latin typeface="inter-regular"/>
              </a:rPr>
              <a:t>It is the time taken by the desired sector to rotate itself to the position from where it can access the R/W heads.</a:t>
            </a:r>
          </a:p>
          <a:p>
            <a:pPr marL="0" indent="0" algn="just">
              <a:buNone/>
            </a:pPr>
            <a:r>
              <a:rPr lang="en-US" b="1" i="0" dirty="0">
                <a:solidFill>
                  <a:srgbClr val="610B4B"/>
                </a:solidFill>
                <a:effectLst/>
                <a:latin typeface="erdana"/>
              </a:rPr>
              <a:t>     Transfer Time</a:t>
            </a:r>
          </a:p>
          <a:p>
            <a:pPr algn="just"/>
            <a:r>
              <a:rPr lang="en-US" b="0" i="0" dirty="0">
                <a:solidFill>
                  <a:srgbClr val="333333"/>
                </a:solidFill>
                <a:effectLst/>
                <a:latin typeface="inter-regular"/>
              </a:rPr>
              <a:t>It is the time taken to transfer the data.</a:t>
            </a:r>
          </a:p>
          <a:p>
            <a:pPr marL="0" indent="0" algn="just">
              <a:buNone/>
            </a:pPr>
            <a:r>
              <a:rPr lang="en-US" b="1" i="0" dirty="0">
                <a:solidFill>
                  <a:srgbClr val="610B4B"/>
                </a:solidFill>
                <a:effectLst/>
                <a:latin typeface="erdana"/>
              </a:rPr>
              <a:t>     Disk Access Time</a:t>
            </a:r>
          </a:p>
          <a:p>
            <a:pPr algn="just"/>
            <a:r>
              <a:rPr lang="en-US" b="0" i="0" dirty="0">
                <a:solidFill>
                  <a:srgbClr val="333333"/>
                </a:solidFill>
                <a:effectLst/>
                <a:latin typeface="inter-regular"/>
              </a:rPr>
              <a:t>Disk access time is given as,</a:t>
            </a:r>
          </a:p>
          <a:p>
            <a:pPr algn="just"/>
            <a:r>
              <a:rPr lang="en-US" b="0" i="0" dirty="0">
                <a:solidFill>
                  <a:srgbClr val="333333"/>
                </a:solidFill>
                <a:effectLst/>
                <a:latin typeface="inter-regular"/>
              </a:rPr>
              <a:t>Disk Access Time = Rotational Latency + Seek Time + Transfer Time</a:t>
            </a:r>
          </a:p>
          <a:p>
            <a:pPr marL="0" indent="0" algn="just">
              <a:buNone/>
            </a:pPr>
            <a:r>
              <a:rPr lang="en-US" b="1" i="0" dirty="0">
                <a:solidFill>
                  <a:srgbClr val="610B4B"/>
                </a:solidFill>
                <a:effectLst/>
                <a:latin typeface="erdana"/>
              </a:rPr>
              <a:t>     Disk Response Time</a:t>
            </a:r>
          </a:p>
          <a:p>
            <a:pPr algn="just"/>
            <a:r>
              <a:rPr lang="en-US" b="0" i="0" dirty="0">
                <a:solidFill>
                  <a:srgbClr val="333333"/>
                </a:solidFill>
                <a:effectLst/>
                <a:latin typeface="inter-regular"/>
              </a:rPr>
              <a:t>It is the average of time spent by each request waiting for the IO operation.</a:t>
            </a:r>
          </a:p>
          <a:p>
            <a:endParaRPr lang="en-IN" b="1" dirty="0"/>
          </a:p>
        </p:txBody>
      </p:sp>
    </p:spTree>
    <p:extLst>
      <p:ext uri="{BB962C8B-B14F-4D97-AF65-F5344CB8AC3E}">
        <p14:creationId xmlns:p14="http://schemas.microsoft.com/office/powerpoint/2010/main" val="2995627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578A-DED6-E1C1-065C-BD85CCD66D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269339-6DE2-F5BF-10F9-00E8C23CD7D3}"/>
              </a:ext>
            </a:extLst>
          </p:cNvPr>
          <p:cNvSpPr>
            <a:spLocks noGrp="1"/>
          </p:cNvSpPr>
          <p:nvPr>
            <p:ph idx="1"/>
          </p:nvPr>
        </p:nvSpPr>
        <p:spPr/>
        <p:txBody>
          <a:bodyPr/>
          <a:lstStyle/>
          <a:p>
            <a:pPr marL="0" indent="0" algn="just">
              <a:buNone/>
            </a:pPr>
            <a:r>
              <a:rPr lang="en-US" b="0" i="0" dirty="0">
                <a:solidFill>
                  <a:srgbClr val="610B4B"/>
                </a:solidFill>
                <a:effectLst/>
                <a:latin typeface="erdana"/>
              </a:rPr>
              <a:t>  </a:t>
            </a:r>
            <a:r>
              <a:rPr lang="en-US" b="1" i="0" dirty="0">
                <a:solidFill>
                  <a:srgbClr val="610B4B"/>
                </a:solidFill>
                <a:effectLst/>
                <a:latin typeface="erdana"/>
              </a:rPr>
              <a:t>Purpose of Disk Scheduling</a:t>
            </a:r>
          </a:p>
          <a:p>
            <a:pPr algn="just"/>
            <a:r>
              <a:rPr lang="en-US" b="0" i="0" dirty="0">
                <a:solidFill>
                  <a:srgbClr val="333333"/>
                </a:solidFill>
                <a:effectLst/>
                <a:latin typeface="inter-regular"/>
              </a:rPr>
              <a:t>The main purpose of disk scheduling algorithm is to select a disk request from the queue of IO requests and decide the schedule when this request will be processed.</a:t>
            </a:r>
          </a:p>
          <a:p>
            <a:pPr marL="0" indent="0" algn="just">
              <a:buNone/>
            </a:pPr>
            <a:r>
              <a:rPr lang="en-US" b="0" i="0" dirty="0">
                <a:solidFill>
                  <a:srgbClr val="610B4B"/>
                </a:solidFill>
                <a:effectLst/>
                <a:latin typeface="erdana"/>
              </a:rPr>
              <a:t>    </a:t>
            </a:r>
            <a:r>
              <a:rPr lang="en-US" b="1" i="0" dirty="0">
                <a:solidFill>
                  <a:srgbClr val="610B4B"/>
                </a:solidFill>
                <a:effectLst/>
                <a:latin typeface="erdana"/>
              </a:rPr>
              <a:t>Goal of Disk Scheduling Algorithm</a:t>
            </a:r>
          </a:p>
          <a:p>
            <a:pPr algn="just">
              <a:buFont typeface="Arial" panose="020B0604020202020204" pitchFamily="34" charset="0"/>
              <a:buChar char="•"/>
            </a:pPr>
            <a:r>
              <a:rPr lang="en-US" b="0" i="0" dirty="0">
                <a:solidFill>
                  <a:srgbClr val="000000"/>
                </a:solidFill>
                <a:effectLst/>
                <a:latin typeface="inter-regular"/>
              </a:rPr>
              <a:t>Fairness</a:t>
            </a:r>
          </a:p>
          <a:p>
            <a:pPr algn="just">
              <a:buFont typeface="Arial" panose="020B0604020202020204" pitchFamily="34" charset="0"/>
              <a:buChar char="•"/>
            </a:pPr>
            <a:r>
              <a:rPr lang="en-US" b="0" i="0" dirty="0">
                <a:solidFill>
                  <a:srgbClr val="000000"/>
                </a:solidFill>
                <a:effectLst/>
                <a:latin typeface="inter-regular"/>
              </a:rPr>
              <a:t>High throughout</a:t>
            </a:r>
          </a:p>
          <a:p>
            <a:pPr algn="just">
              <a:buFont typeface="Arial" panose="020B0604020202020204" pitchFamily="34" charset="0"/>
              <a:buChar char="•"/>
            </a:pPr>
            <a:r>
              <a:rPr lang="en-US" b="0" i="0" dirty="0">
                <a:solidFill>
                  <a:srgbClr val="000000"/>
                </a:solidFill>
                <a:effectLst/>
                <a:latin typeface="inter-regular"/>
              </a:rPr>
              <a:t>Minimal traveling head time</a:t>
            </a: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1913887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05F57-8408-1B58-FDA3-29F082811ABB}"/>
              </a:ext>
            </a:extLst>
          </p:cNvPr>
          <p:cNvSpPr>
            <a:spLocks noGrp="1"/>
          </p:cNvSpPr>
          <p:nvPr>
            <p:ph type="title"/>
          </p:nvPr>
        </p:nvSpPr>
        <p:spPr>
          <a:xfrm>
            <a:off x="838200" y="365126"/>
            <a:ext cx="10515600" cy="897618"/>
          </a:xfrm>
        </p:spPr>
        <p:txBody>
          <a:bodyPr>
            <a:normAutofit fontScale="90000"/>
          </a:bodyPr>
          <a:lstStyle/>
          <a:p>
            <a:r>
              <a:rPr lang="en-US" b="0" i="0" dirty="0">
                <a:solidFill>
                  <a:srgbClr val="610B4B"/>
                </a:solidFill>
                <a:effectLst/>
                <a:latin typeface="erdana"/>
              </a:rPr>
              <a:t>Disk Scheduling Algorithms</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3269C077-576B-8476-C107-152A33CF261B}"/>
              </a:ext>
            </a:extLst>
          </p:cNvPr>
          <p:cNvSpPr>
            <a:spLocks noGrp="1"/>
          </p:cNvSpPr>
          <p:nvPr>
            <p:ph idx="1"/>
          </p:nvPr>
        </p:nvSpPr>
        <p:spPr>
          <a:xfrm>
            <a:off x="838200" y="1524000"/>
            <a:ext cx="10515600" cy="4652962"/>
          </a:xfrm>
        </p:spPr>
        <p:txBody>
          <a:bodyPr>
            <a:normAutofit lnSpcReduction="10000"/>
          </a:bodyPr>
          <a:lstStyle/>
          <a:p>
            <a:pPr algn="just"/>
            <a:r>
              <a:rPr lang="en-US" b="0" i="0" dirty="0">
                <a:solidFill>
                  <a:srgbClr val="333333"/>
                </a:solidFill>
                <a:effectLst/>
                <a:latin typeface="inter-regular"/>
              </a:rPr>
              <a:t>The list of various disks scheduling algorithm is given below. Each algorithm is carrying some advantages and disadvantages. The limitation of each algorithm leads to the evolution of a new algorithm.</a:t>
            </a:r>
          </a:p>
          <a:p>
            <a:pPr algn="just">
              <a:buFont typeface="Arial" panose="020B0604020202020204" pitchFamily="34" charset="0"/>
              <a:buChar char="•"/>
            </a:pPr>
            <a:r>
              <a:rPr lang="en-US" b="0" i="0" dirty="0">
                <a:solidFill>
                  <a:srgbClr val="000000"/>
                </a:solidFill>
                <a:effectLst/>
                <a:latin typeface="inter-regular"/>
              </a:rPr>
              <a:t>FCFS scheduling algorithm</a:t>
            </a:r>
          </a:p>
          <a:p>
            <a:pPr algn="just">
              <a:buFont typeface="Arial" panose="020B0604020202020204" pitchFamily="34" charset="0"/>
              <a:buChar char="•"/>
            </a:pPr>
            <a:r>
              <a:rPr lang="en-US" b="0" i="0" dirty="0">
                <a:solidFill>
                  <a:srgbClr val="000000"/>
                </a:solidFill>
                <a:effectLst/>
                <a:latin typeface="inter-regular"/>
              </a:rPr>
              <a:t>SSTF (shortest seek time first) algorithm</a:t>
            </a:r>
          </a:p>
          <a:p>
            <a:pPr algn="just">
              <a:buFont typeface="Arial" panose="020B0604020202020204" pitchFamily="34" charset="0"/>
              <a:buChar char="•"/>
            </a:pPr>
            <a:r>
              <a:rPr lang="en-US" b="0" i="0" dirty="0">
                <a:solidFill>
                  <a:srgbClr val="000000"/>
                </a:solidFill>
                <a:effectLst/>
                <a:latin typeface="inter-regular"/>
              </a:rPr>
              <a:t>SCAN scheduling</a:t>
            </a:r>
          </a:p>
          <a:p>
            <a:pPr algn="just">
              <a:buFont typeface="Arial" panose="020B0604020202020204" pitchFamily="34" charset="0"/>
              <a:buChar char="•"/>
            </a:pPr>
            <a:r>
              <a:rPr lang="en-US" b="0" i="0" dirty="0">
                <a:solidFill>
                  <a:srgbClr val="000000"/>
                </a:solidFill>
                <a:effectLst/>
                <a:latin typeface="inter-regular"/>
              </a:rPr>
              <a:t>C-SCAN scheduling</a:t>
            </a:r>
          </a:p>
          <a:p>
            <a:pPr algn="just">
              <a:buFont typeface="Arial" panose="020B0604020202020204" pitchFamily="34" charset="0"/>
              <a:buChar char="•"/>
            </a:pPr>
            <a:r>
              <a:rPr lang="en-US" b="0" i="0" dirty="0">
                <a:solidFill>
                  <a:srgbClr val="000000"/>
                </a:solidFill>
                <a:effectLst/>
                <a:latin typeface="inter-regular"/>
              </a:rPr>
              <a:t>LOOK Scheduling</a:t>
            </a:r>
          </a:p>
          <a:p>
            <a:pPr algn="just">
              <a:buFont typeface="Arial" panose="020B0604020202020204" pitchFamily="34" charset="0"/>
              <a:buChar char="•"/>
            </a:pPr>
            <a:r>
              <a:rPr lang="en-US" b="0" i="0" dirty="0">
                <a:solidFill>
                  <a:srgbClr val="000000"/>
                </a:solidFill>
                <a:effectLst/>
                <a:latin typeface="inter-regular"/>
              </a:rPr>
              <a:t>C-LOOK scheduling</a:t>
            </a: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190748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CC259-BCC7-A88C-0516-9ABAB2AE0B8D}"/>
              </a:ext>
            </a:extLst>
          </p:cNvPr>
          <p:cNvSpPr>
            <a:spLocks noGrp="1"/>
          </p:cNvSpPr>
          <p:nvPr>
            <p:ph type="title"/>
          </p:nvPr>
        </p:nvSpPr>
        <p:spPr>
          <a:xfrm>
            <a:off x="838200" y="365126"/>
            <a:ext cx="10515600" cy="451304"/>
          </a:xfrm>
        </p:spPr>
        <p:txBody>
          <a:bodyPr>
            <a:normAutofit fontScale="90000"/>
          </a:bodyPr>
          <a:lstStyle/>
          <a:p>
            <a:r>
              <a:rPr lang="en-US" b="0" i="0" dirty="0">
                <a:solidFill>
                  <a:srgbClr val="610B38"/>
                </a:solidFill>
                <a:effectLst/>
                <a:latin typeface="erdana"/>
              </a:rPr>
              <a:t>Look Scheduling</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8C23CAE5-D7CE-45E8-74FD-1EDF62C8595B}"/>
              </a:ext>
            </a:extLst>
          </p:cNvPr>
          <p:cNvSpPr>
            <a:spLocks noGrp="1"/>
          </p:cNvSpPr>
          <p:nvPr>
            <p:ph idx="1"/>
          </p:nvPr>
        </p:nvSpPr>
        <p:spPr>
          <a:xfrm>
            <a:off x="838200" y="653144"/>
            <a:ext cx="10515600" cy="5523820"/>
          </a:xfrm>
        </p:spPr>
        <p:txBody>
          <a:bodyPr/>
          <a:lstStyle/>
          <a:p>
            <a:pPr algn="just"/>
            <a:r>
              <a:rPr lang="en-US" b="0" i="0" dirty="0">
                <a:solidFill>
                  <a:srgbClr val="333333"/>
                </a:solidFill>
                <a:effectLst/>
                <a:latin typeface="inter-regular"/>
              </a:rPr>
              <a:t>It is like SCAN scheduling Algorithm to some extant except the difference that, in this scheduling algorithm, the arm of the disk stops moving inwards (or outwards) when no more request in that direction exists. This algorithm tries to overcome the overhead of SCAN algorithm which forces disk arm to move in one direction till the end regardless of knowing if any request exists in the direction or not.</a:t>
            </a:r>
          </a:p>
          <a:p>
            <a:pPr marL="0" indent="0" algn="just">
              <a:buNone/>
            </a:pPr>
            <a:r>
              <a:rPr lang="en-US" b="0" i="0" dirty="0">
                <a:solidFill>
                  <a:srgbClr val="610B4B"/>
                </a:solidFill>
                <a:effectLst/>
                <a:latin typeface="erdana"/>
              </a:rPr>
              <a:t>   </a:t>
            </a:r>
            <a:r>
              <a:rPr lang="en-US" b="1" i="0" dirty="0">
                <a:solidFill>
                  <a:srgbClr val="610B4B"/>
                </a:solidFill>
                <a:effectLst/>
                <a:latin typeface="erdana"/>
              </a:rPr>
              <a:t>Example</a:t>
            </a:r>
          </a:p>
          <a:p>
            <a:pPr algn="just"/>
            <a:r>
              <a:rPr lang="en-US" b="0" i="0" dirty="0">
                <a:solidFill>
                  <a:srgbClr val="333333"/>
                </a:solidFill>
                <a:effectLst/>
                <a:latin typeface="inter-regular"/>
              </a:rPr>
              <a:t>Consider the following disk request sequence for a disk with 100 tracks</a:t>
            </a:r>
          </a:p>
          <a:p>
            <a:pPr algn="just"/>
            <a:r>
              <a:rPr lang="en-US" b="0" i="0" dirty="0">
                <a:solidFill>
                  <a:srgbClr val="333333"/>
                </a:solidFill>
                <a:effectLst/>
                <a:latin typeface="inter-regular"/>
              </a:rPr>
              <a:t>98, 137, 122, 183, 14, 133, 65, 78</a:t>
            </a:r>
          </a:p>
          <a:p>
            <a:pPr algn="just"/>
            <a:r>
              <a:rPr lang="en-US" b="0" i="0" dirty="0">
                <a:solidFill>
                  <a:srgbClr val="333333"/>
                </a:solidFill>
                <a:effectLst/>
                <a:latin typeface="inter-regular"/>
              </a:rPr>
              <a:t>Head pointer starting at 54 and moving in left direction. Find the number of head movements in cylinders using LOOK scheduling.</a:t>
            </a:r>
          </a:p>
          <a:p>
            <a:pPr algn="just"/>
            <a:endParaRPr lang="en-US" b="0" i="0" dirty="0">
              <a:solidFill>
                <a:srgbClr val="333333"/>
              </a:solidFill>
              <a:effectLst/>
              <a:latin typeface="inter-regular"/>
            </a:endParaRPr>
          </a:p>
          <a:p>
            <a:pPr algn="just"/>
            <a:endParaRPr lang="en-IN" dirty="0"/>
          </a:p>
        </p:txBody>
      </p:sp>
    </p:spTree>
    <p:extLst>
      <p:ext uri="{BB962C8B-B14F-4D97-AF65-F5344CB8AC3E}">
        <p14:creationId xmlns:p14="http://schemas.microsoft.com/office/powerpoint/2010/main" val="1345588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3F4EB-FAD1-58C1-B9FE-AEC7235C7112}"/>
              </a:ext>
            </a:extLst>
          </p:cNvPr>
          <p:cNvSpPr>
            <a:spLocks noGrp="1"/>
          </p:cNvSpPr>
          <p:nvPr>
            <p:ph type="title"/>
          </p:nvPr>
        </p:nvSpPr>
        <p:spPr>
          <a:xfrm>
            <a:off x="838200" y="217715"/>
            <a:ext cx="10515600" cy="620486"/>
          </a:xfrm>
        </p:spPr>
        <p:txBody>
          <a:bodyPr>
            <a:normAutofit fontScale="90000"/>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A3554258-8A4F-3ED4-DD99-FBF4F5A5CB20}"/>
              </a:ext>
            </a:extLst>
          </p:cNvPr>
          <p:cNvPicPr>
            <a:picLocks noGrp="1" noChangeAspect="1"/>
          </p:cNvPicPr>
          <p:nvPr>
            <p:ph idx="1"/>
          </p:nvPr>
        </p:nvPicPr>
        <p:blipFill>
          <a:blip r:embed="rId2"/>
          <a:stretch>
            <a:fillRect/>
          </a:stretch>
        </p:blipFill>
        <p:spPr>
          <a:xfrm>
            <a:off x="4848225" y="973251"/>
            <a:ext cx="6004832" cy="3805578"/>
          </a:xfrm>
          <a:prstGeom prst="rect">
            <a:avLst/>
          </a:prstGeom>
        </p:spPr>
      </p:pic>
      <p:sp>
        <p:nvSpPr>
          <p:cNvPr id="6" name="TextBox 5">
            <a:extLst>
              <a:ext uri="{FF2B5EF4-FFF2-40B4-BE49-F238E27FC236}">
                <a16:creationId xmlns:a16="http://schemas.microsoft.com/office/drawing/2014/main" id="{5DC59D1A-C32F-2E84-894A-6A8E3418BFD6}"/>
              </a:ext>
            </a:extLst>
          </p:cNvPr>
          <p:cNvSpPr txBox="1"/>
          <p:nvPr/>
        </p:nvSpPr>
        <p:spPr>
          <a:xfrm>
            <a:off x="2558142" y="5206778"/>
            <a:ext cx="7413172" cy="369332"/>
          </a:xfrm>
          <a:prstGeom prst="rect">
            <a:avLst/>
          </a:prstGeom>
          <a:noFill/>
        </p:spPr>
        <p:txBody>
          <a:bodyPr wrap="square">
            <a:spAutoFit/>
          </a:bodyPr>
          <a:lstStyle/>
          <a:p>
            <a:r>
              <a:rPr lang="en-US" b="0" i="0" dirty="0">
                <a:solidFill>
                  <a:srgbClr val="333333"/>
                </a:solidFill>
                <a:effectLst/>
                <a:latin typeface="inter-regular"/>
              </a:rPr>
              <a:t>Number of cylinders crossed = 40 + 51 + 13 + +20 + 24 + 11 + 4 + 46 = 209</a:t>
            </a:r>
            <a:endParaRPr lang="en-IN" dirty="0"/>
          </a:p>
        </p:txBody>
      </p:sp>
    </p:spTree>
    <p:extLst>
      <p:ext uri="{BB962C8B-B14F-4D97-AF65-F5344CB8AC3E}">
        <p14:creationId xmlns:p14="http://schemas.microsoft.com/office/powerpoint/2010/main" val="1995826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8C9D6-0C28-5881-2DD8-831DCF9067D7}"/>
              </a:ext>
            </a:extLst>
          </p:cNvPr>
          <p:cNvSpPr>
            <a:spLocks noGrp="1"/>
          </p:cNvSpPr>
          <p:nvPr>
            <p:ph type="title"/>
          </p:nvPr>
        </p:nvSpPr>
        <p:spPr>
          <a:xfrm>
            <a:off x="838200" y="365125"/>
            <a:ext cx="10515600" cy="473075"/>
          </a:xfrm>
        </p:spPr>
        <p:txBody>
          <a:bodyPr>
            <a:normAutofit fontScale="90000"/>
          </a:bodyPr>
          <a:lstStyle/>
          <a:p>
            <a:r>
              <a:rPr lang="en-US" b="0" i="0" dirty="0">
                <a:solidFill>
                  <a:srgbClr val="610B38"/>
                </a:solidFill>
                <a:effectLst/>
                <a:latin typeface="erdana"/>
              </a:rPr>
              <a:t>C Look Scheduling</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3117A95C-E385-0A04-EBCF-669C0ED454CA}"/>
              </a:ext>
            </a:extLst>
          </p:cNvPr>
          <p:cNvSpPr>
            <a:spLocks noGrp="1"/>
          </p:cNvSpPr>
          <p:nvPr>
            <p:ph idx="1"/>
          </p:nvPr>
        </p:nvSpPr>
        <p:spPr>
          <a:xfrm>
            <a:off x="838200" y="587829"/>
            <a:ext cx="10515600" cy="5589134"/>
          </a:xfrm>
        </p:spPr>
        <p:txBody>
          <a:bodyPr>
            <a:normAutofit lnSpcReduction="10000"/>
          </a:bodyPr>
          <a:lstStyle/>
          <a:p>
            <a:pPr algn="just"/>
            <a:r>
              <a:rPr lang="en-US" b="0" i="0" dirty="0">
                <a:solidFill>
                  <a:srgbClr val="333333"/>
                </a:solidFill>
                <a:effectLst/>
                <a:latin typeface="inter-regular"/>
              </a:rPr>
              <a:t>C Look Algorithm is similar to C-SCAN algorithm to some extent. In this algorithm, the arm of the disk moves outwards servicing requests until it reaches the highest request cylinder, then it jumps to the lowest request cylinder without servicing any request then it again start moving outwards servicing the remaining requests.</a:t>
            </a:r>
          </a:p>
          <a:p>
            <a:pPr algn="just"/>
            <a:r>
              <a:rPr lang="en-US" b="0" i="0" dirty="0">
                <a:solidFill>
                  <a:srgbClr val="333333"/>
                </a:solidFill>
                <a:effectLst/>
                <a:latin typeface="inter-regular"/>
              </a:rPr>
              <a:t>It is different from C SCAN algorithm in the sense that, C SCAN force the disk arm to move till the last cylinder regardless of knowing whether any request is to be serviced on that cylinder or not.</a:t>
            </a:r>
          </a:p>
          <a:p>
            <a:pPr marL="0" indent="0" algn="just">
              <a:buNone/>
            </a:pPr>
            <a:r>
              <a:rPr lang="en-US" b="0" i="0" dirty="0">
                <a:solidFill>
                  <a:srgbClr val="610B4B"/>
                </a:solidFill>
                <a:effectLst/>
                <a:latin typeface="erdana"/>
              </a:rPr>
              <a:t>    </a:t>
            </a:r>
            <a:r>
              <a:rPr lang="en-US" b="1" i="0" dirty="0">
                <a:solidFill>
                  <a:srgbClr val="610B4B"/>
                </a:solidFill>
                <a:effectLst/>
                <a:latin typeface="erdana"/>
              </a:rPr>
              <a:t>Example</a:t>
            </a:r>
          </a:p>
          <a:p>
            <a:pPr algn="just"/>
            <a:r>
              <a:rPr lang="en-US" b="0" i="0" dirty="0">
                <a:solidFill>
                  <a:srgbClr val="333333"/>
                </a:solidFill>
                <a:effectLst/>
                <a:latin typeface="inter-regular"/>
              </a:rPr>
              <a:t>Consider the following disk request sequence for a disk with 100 tracks</a:t>
            </a:r>
          </a:p>
          <a:p>
            <a:pPr algn="just"/>
            <a:r>
              <a:rPr lang="en-US" b="0" i="0" dirty="0">
                <a:solidFill>
                  <a:srgbClr val="333333"/>
                </a:solidFill>
                <a:effectLst/>
                <a:latin typeface="inter-regular"/>
              </a:rPr>
              <a:t>98, 137, 122, 183, 14, 133, 65, 78</a:t>
            </a:r>
          </a:p>
          <a:p>
            <a:pPr algn="just"/>
            <a:r>
              <a:rPr lang="en-US" b="0" i="0" dirty="0">
                <a:solidFill>
                  <a:srgbClr val="333333"/>
                </a:solidFill>
                <a:effectLst/>
                <a:latin typeface="inter-regular"/>
              </a:rPr>
              <a:t>Head pointer starting at 54 and moving in left direction. Find the number of head movements in cylinders using C LOOK scheduling.</a:t>
            </a: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3383183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88E52-639C-B76A-49CB-D62B40021A54}"/>
              </a:ext>
            </a:extLst>
          </p:cNvPr>
          <p:cNvSpPr>
            <a:spLocks noGrp="1"/>
          </p:cNvSpPr>
          <p:nvPr>
            <p:ph type="title"/>
          </p:nvPr>
        </p:nvSpPr>
        <p:spPr>
          <a:xfrm>
            <a:off x="838200" y="174172"/>
            <a:ext cx="10515600" cy="506866"/>
          </a:xfrm>
        </p:spPr>
        <p:txBody>
          <a:bodyPr>
            <a:normAutofit fontScale="90000"/>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F1B27906-4E24-7B38-2376-806E07C8C13D}"/>
              </a:ext>
            </a:extLst>
          </p:cNvPr>
          <p:cNvPicPr>
            <a:picLocks noGrp="1" noChangeAspect="1"/>
          </p:cNvPicPr>
          <p:nvPr>
            <p:ph idx="1"/>
          </p:nvPr>
        </p:nvPicPr>
        <p:blipFill>
          <a:blip r:embed="rId2"/>
          <a:stretch>
            <a:fillRect/>
          </a:stretch>
        </p:blipFill>
        <p:spPr>
          <a:xfrm>
            <a:off x="3537857" y="1018496"/>
            <a:ext cx="6407603" cy="3684134"/>
          </a:xfrm>
          <a:prstGeom prst="rect">
            <a:avLst/>
          </a:prstGeom>
        </p:spPr>
      </p:pic>
      <p:sp>
        <p:nvSpPr>
          <p:cNvPr id="6" name="TextBox 5">
            <a:extLst>
              <a:ext uri="{FF2B5EF4-FFF2-40B4-BE49-F238E27FC236}">
                <a16:creationId xmlns:a16="http://schemas.microsoft.com/office/drawing/2014/main" id="{79A3F3BE-4568-C8CE-0B10-062DD1DA0790}"/>
              </a:ext>
            </a:extLst>
          </p:cNvPr>
          <p:cNvSpPr txBox="1"/>
          <p:nvPr/>
        </p:nvSpPr>
        <p:spPr>
          <a:xfrm>
            <a:off x="2695574" y="5193173"/>
            <a:ext cx="7249886" cy="646331"/>
          </a:xfrm>
          <a:prstGeom prst="rect">
            <a:avLst/>
          </a:prstGeom>
          <a:noFill/>
        </p:spPr>
        <p:txBody>
          <a:bodyPr wrap="square">
            <a:spAutoFit/>
          </a:bodyPr>
          <a:lstStyle/>
          <a:p>
            <a:r>
              <a:rPr lang="en-US" dirty="0"/>
              <a:t>Number of cylinders crossed = 11 + 13 + 20 + 24 + 11 + 4 + 46 + 169 = 298</a:t>
            </a:r>
          </a:p>
          <a:p>
            <a:endParaRPr lang="en-US" dirty="0"/>
          </a:p>
        </p:txBody>
      </p:sp>
    </p:spTree>
    <p:extLst>
      <p:ext uri="{BB962C8B-B14F-4D97-AF65-F5344CB8AC3E}">
        <p14:creationId xmlns:p14="http://schemas.microsoft.com/office/powerpoint/2010/main" val="3961565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DD2B-2145-BD64-CFDC-C1D159B59592}"/>
              </a:ext>
            </a:extLst>
          </p:cNvPr>
          <p:cNvSpPr>
            <a:spLocks noGrp="1"/>
          </p:cNvSpPr>
          <p:nvPr>
            <p:ph type="title"/>
          </p:nvPr>
        </p:nvSpPr>
        <p:spPr/>
        <p:txBody>
          <a:bodyPr/>
          <a:lstStyle/>
          <a:p>
            <a:r>
              <a:rPr lang="en-US" b="0" i="0" dirty="0">
                <a:solidFill>
                  <a:srgbClr val="000000"/>
                </a:solidFill>
                <a:effectLst/>
                <a:latin typeface="inter-regular"/>
              </a:rPr>
              <a:t>FCFS scheduling algorithm</a:t>
            </a:r>
            <a:br>
              <a:rPr lang="en-US" b="0" i="0" dirty="0">
                <a:solidFill>
                  <a:srgbClr val="000000"/>
                </a:solidFill>
                <a:effectLst/>
                <a:latin typeface="inter-regular"/>
              </a:rPr>
            </a:br>
            <a:endParaRPr lang="en-IN" dirty="0"/>
          </a:p>
        </p:txBody>
      </p:sp>
      <p:sp>
        <p:nvSpPr>
          <p:cNvPr id="3" name="Content Placeholder 2">
            <a:extLst>
              <a:ext uri="{FF2B5EF4-FFF2-40B4-BE49-F238E27FC236}">
                <a16:creationId xmlns:a16="http://schemas.microsoft.com/office/drawing/2014/main" id="{8258CD2B-93B6-1566-176F-3AF66371E64F}"/>
              </a:ext>
            </a:extLst>
          </p:cNvPr>
          <p:cNvSpPr>
            <a:spLocks noGrp="1"/>
          </p:cNvSpPr>
          <p:nvPr>
            <p:ph idx="1"/>
          </p:nvPr>
        </p:nvSpPr>
        <p:spPr/>
        <p:txBody>
          <a:bodyPr>
            <a:normAutofit fontScale="92500" lnSpcReduction="20000"/>
          </a:bodyPr>
          <a:lstStyle/>
          <a:p>
            <a:pPr algn="just"/>
            <a:r>
              <a:rPr lang="en-US" b="0" i="0" dirty="0">
                <a:solidFill>
                  <a:srgbClr val="333333"/>
                </a:solidFill>
                <a:effectLst/>
                <a:latin typeface="inter-regular"/>
              </a:rPr>
              <a:t>It is the simplest Disk Scheduling algorithm. It services the IO requests in the order in which they arrive. There is no starvation in this algorithm, every request is serviced.</a:t>
            </a:r>
          </a:p>
          <a:p>
            <a:pPr marL="0" indent="0" algn="just">
              <a:buNone/>
            </a:pPr>
            <a:r>
              <a:rPr lang="en-IN" b="1" i="0" dirty="0">
                <a:solidFill>
                  <a:srgbClr val="610B38"/>
                </a:solidFill>
                <a:effectLst/>
                <a:latin typeface="erdana"/>
              </a:rPr>
              <a:t>    Disadvantages</a:t>
            </a:r>
          </a:p>
          <a:p>
            <a:pPr algn="just">
              <a:buFont typeface="Arial" panose="020B0604020202020204" pitchFamily="34" charset="0"/>
              <a:buChar char="•"/>
            </a:pPr>
            <a:r>
              <a:rPr lang="en-US" b="0" i="0" dirty="0">
                <a:solidFill>
                  <a:srgbClr val="000000"/>
                </a:solidFill>
                <a:effectLst/>
                <a:latin typeface="inter-regular"/>
              </a:rPr>
              <a:t>The scheme does not optimize the seek time.</a:t>
            </a:r>
          </a:p>
          <a:p>
            <a:pPr algn="just">
              <a:buFont typeface="Arial" panose="020B0604020202020204" pitchFamily="34" charset="0"/>
              <a:buChar char="•"/>
            </a:pPr>
            <a:r>
              <a:rPr lang="en-US" b="0" i="0" dirty="0">
                <a:solidFill>
                  <a:srgbClr val="000000"/>
                </a:solidFill>
                <a:effectLst/>
                <a:latin typeface="inter-regular"/>
              </a:rPr>
              <a:t>The request may come from different processes therefore there is the possibility of inappropriate movement of the head.</a:t>
            </a:r>
          </a:p>
          <a:p>
            <a:pPr marL="0" indent="0" algn="just">
              <a:buNone/>
            </a:pPr>
            <a:r>
              <a:rPr lang="en-US" b="1" i="0" dirty="0">
                <a:solidFill>
                  <a:srgbClr val="610B4B"/>
                </a:solidFill>
                <a:effectLst/>
                <a:latin typeface="erdana"/>
              </a:rPr>
              <a:t>    Example</a:t>
            </a:r>
          </a:p>
          <a:p>
            <a:pPr algn="just"/>
            <a:r>
              <a:rPr lang="en-US" b="0" i="0" dirty="0">
                <a:solidFill>
                  <a:srgbClr val="333333"/>
                </a:solidFill>
                <a:effectLst/>
                <a:latin typeface="inter-regular"/>
              </a:rPr>
              <a:t>Consider the following disk request sequence for a disk with 100 tracks 45, 21, 67, 90, 4, 50, 89, 52, 61, 87, 25</a:t>
            </a:r>
          </a:p>
          <a:p>
            <a:pPr algn="just"/>
            <a:r>
              <a:rPr lang="en-US" b="0" i="0" dirty="0">
                <a:solidFill>
                  <a:srgbClr val="333333"/>
                </a:solidFill>
                <a:effectLst/>
                <a:latin typeface="inter-regular"/>
              </a:rPr>
              <a:t>Head pointer starting at 50 and moving in left direction. Find the number of head movements in cylinders using FCFS scheduling.</a:t>
            </a:r>
          </a:p>
          <a:p>
            <a:pPr marL="0" indent="0" algn="just">
              <a:buNone/>
            </a:pPr>
            <a:endParaRPr lang="en-IN" i="0" dirty="0">
              <a:solidFill>
                <a:srgbClr val="610B38"/>
              </a:solidFill>
              <a:effectLst/>
              <a:latin typeface="erdana"/>
            </a:endParaRPr>
          </a:p>
          <a:p>
            <a:pPr algn="just"/>
            <a:endParaRPr lang="en-IN" dirty="0"/>
          </a:p>
        </p:txBody>
      </p:sp>
    </p:spTree>
    <p:extLst>
      <p:ext uri="{BB962C8B-B14F-4D97-AF65-F5344CB8AC3E}">
        <p14:creationId xmlns:p14="http://schemas.microsoft.com/office/powerpoint/2010/main" val="686321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6D2A-F563-EE03-6A21-46F6E10024B4}"/>
              </a:ext>
            </a:extLst>
          </p:cNvPr>
          <p:cNvSpPr>
            <a:spLocks noGrp="1"/>
          </p:cNvSpPr>
          <p:nvPr>
            <p:ph type="title"/>
          </p:nvPr>
        </p:nvSpPr>
        <p:spPr/>
        <p:txBody>
          <a:bodyPr/>
          <a:lstStyle/>
          <a:p>
            <a:r>
              <a:rPr lang="en-IN" dirty="0" err="1"/>
              <a:t>Contt</a:t>
            </a:r>
            <a:r>
              <a:rPr lang="en-IN" dirty="0"/>
              <a:t>..</a:t>
            </a:r>
          </a:p>
        </p:txBody>
      </p:sp>
      <p:pic>
        <p:nvPicPr>
          <p:cNvPr id="1026" name="Picture 2" descr="os fcfs scheduling algorithm">
            <a:extLst>
              <a:ext uri="{FF2B5EF4-FFF2-40B4-BE49-F238E27FC236}">
                <a16:creationId xmlns:a16="http://schemas.microsoft.com/office/drawing/2014/main" id="{A5F22340-3860-E4CD-2430-1C884364DB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42457" y="1284514"/>
            <a:ext cx="8033657" cy="4811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3898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7897-472D-A56D-815C-49DF5524F391}"/>
              </a:ext>
            </a:extLst>
          </p:cNvPr>
          <p:cNvSpPr>
            <a:spLocks noGrp="1"/>
          </p:cNvSpPr>
          <p:nvPr>
            <p:ph type="title"/>
          </p:nvPr>
        </p:nvSpPr>
        <p:spPr/>
        <p:txBody>
          <a:bodyPr/>
          <a:lstStyle/>
          <a:p>
            <a:r>
              <a:rPr lang="en-IN" dirty="0" err="1"/>
              <a:t>Contt</a:t>
            </a:r>
            <a:r>
              <a:rPr lang="en-IN" dirty="0"/>
              <a:t>..</a:t>
            </a:r>
          </a:p>
        </p:txBody>
      </p:sp>
      <p:sp>
        <p:nvSpPr>
          <p:cNvPr id="3" name="Content Placeholder 2">
            <a:extLst>
              <a:ext uri="{FF2B5EF4-FFF2-40B4-BE49-F238E27FC236}">
                <a16:creationId xmlns:a16="http://schemas.microsoft.com/office/drawing/2014/main" id="{5D021C9A-5037-2F2C-E22C-B6B745AF70BF}"/>
              </a:ext>
            </a:extLst>
          </p:cNvPr>
          <p:cNvSpPr>
            <a:spLocks noGrp="1"/>
          </p:cNvSpPr>
          <p:nvPr>
            <p:ph idx="1"/>
          </p:nvPr>
        </p:nvSpPr>
        <p:spPr/>
        <p:txBody>
          <a:bodyPr/>
          <a:lstStyle/>
          <a:p>
            <a:r>
              <a:rPr lang="en-US" b="0" i="0" dirty="0">
                <a:solidFill>
                  <a:srgbClr val="333333"/>
                </a:solidFill>
                <a:effectLst/>
                <a:latin typeface="inter-regular"/>
              </a:rPr>
              <a:t>Number of cylinders moved by the head.</a:t>
            </a:r>
          </a:p>
          <a:p>
            <a:endParaRPr lang="en-US" dirty="0">
              <a:solidFill>
                <a:srgbClr val="333333"/>
              </a:solidFill>
              <a:latin typeface="inter-regular"/>
            </a:endParaRPr>
          </a:p>
          <a:p>
            <a:pPr marL="0" indent="0" algn="just">
              <a:buNone/>
            </a:pPr>
            <a:r>
              <a:rPr lang="en-US" dirty="0">
                <a:solidFill>
                  <a:srgbClr val="333333"/>
                </a:solidFill>
                <a:latin typeface="inter-regular"/>
              </a:rPr>
              <a:t>     </a:t>
            </a:r>
            <a:r>
              <a:rPr lang="en-US" b="0" i="0" dirty="0">
                <a:solidFill>
                  <a:srgbClr val="333333"/>
                </a:solidFill>
                <a:effectLst/>
                <a:latin typeface="inter-regular"/>
              </a:rPr>
              <a:t> </a:t>
            </a:r>
            <a:r>
              <a:rPr lang="en-IN" b="0" i="0" dirty="0">
                <a:solidFill>
                  <a:srgbClr val="333333"/>
                </a:solidFill>
                <a:effectLst/>
                <a:latin typeface="inter-regular"/>
              </a:rPr>
              <a:t>=(50-45)+(45-21)+(67-21)+(90-67)+(90-4)+(50-4)+(89-50)+(61-          52)+(87-61)+(87-25)</a:t>
            </a:r>
          </a:p>
          <a:p>
            <a:pPr marL="0" indent="0" algn="just">
              <a:buNone/>
            </a:pPr>
            <a:r>
              <a:rPr lang="en-IN" b="0" i="0" dirty="0">
                <a:solidFill>
                  <a:srgbClr val="333333"/>
                </a:solidFill>
                <a:effectLst/>
                <a:latin typeface="inter-regular"/>
              </a:rPr>
              <a:t>      = 5 + 24 + 46 + 23 + 86 + 46 + 49 + 9 + 26 + 62</a:t>
            </a:r>
          </a:p>
          <a:p>
            <a:pPr marL="0" indent="0" algn="just">
              <a:buNone/>
            </a:pPr>
            <a:r>
              <a:rPr lang="en-IN" b="0" i="0" dirty="0">
                <a:solidFill>
                  <a:srgbClr val="333333"/>
                </a:solidFill>
                <a:effectLst/>
                <a:latin typeface="inter-regular"/>
              </a:rPr>
              <a:t>      = 376</a:t>
            </a:r>
          </a:p>
          <a:p>
            <a:pPr marL="0" indent="0">
              <a:buNone/>
            </a:pPr>
            <a:endParaRPr lang="en-US" b="0" i="0" dirty="0">
              <a:solidFill>
                <a:srgbClr val="333333"/>
              </a:solidFill>
              <a:effectLst/>
              <a:latin typeface="inter-regular"/>
            </a:endParaRPr>
          </a:p>
        </p:txBody>
      </p:sp>
    </p:spTree>
    <p:extLst>
      <p:ext uri="{BB962C8B-B14F-4D97-AF65-F5344CB8AC3E}">
        <p14:creationId xmlns:p14="http://schemas.microsoft.com/office/powerpoint/2010/main" val="2783513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95E4E-A4E4-52E3-FCFE-E425D89E676A}"/>
              </a:ext>
            </a:extLst>
          </p:cNvPr>
          <p:cNvSpPr>
            <a:spLocks noGrp="1"/>
          </p:cNvSpPr>
          <p:nvPr>
            <p:ph type="title"/>
          </p:nvPr>
        </p:nvSpPr>
        <p:spPr/>
        <p:txBody>
          <a:bodyPr/>
          <a:lstStyle/>
          <a:p>
            <a:r>
              <a:rPr lang="en-US" b="0" i="0" dirty="0">
                <a:solidFill>
                  <a:srgbClr val="000000"/>
                </a:solidFill>
                <a:effectLst/>
                <a:latin typeface="inter-regular"/>
              </a:rPr>
              <a:t>SSTF (shortest seek time first) algorithm</a:t>
            </a:r>
            <a:br>
              <a:rPr lang="en-US" b="0" i="0" dirty="0">
                <a:solidFill>
                  <a:srgbClr val="000000"/>
                </a:solidFill>
                <a:effectLst/>
                <a:latin typeface="inter-regular"/>
              </a:rPr>
            </a:br>
            <a:endParaRPr lang="en-IN" dirty="0"/>
          </a:p>
        </p:txBody>
      </p:sp>
      <p:sp>
        <p:nvSpPr>
          <p:cNvPr id="3" name="Content Placeholder 2">
            <a:extLst>
              <a:ext uri="{FF2B5EF4-FFF2-40B4-BE49-F238E27FC236}">
                <a16:creationId xmlns:a16="http://schemas.microsoft.com/office/drawing/2014/main" id="{0B3505F6-5424-0A89-C464-79A8BCC907AC}"/>
              </a:ext>
            </a:extLst>
          </p:cNvPr>
          <p:cNvSpPr>
            <a:spLocks noGrp="1"/>
          </p:cNvSpPr>
          <p:nvPr>
            <p:ph idx="1"/>
          </p:nvPr>
        </p:nvSpPr>
        <p:spPr/>
        <p:txBody>
          <a:bodyPr>
            <a:normAutofit lnSpcReduction="10000"/>
          </a:bodyPr>
          <a:lstStyle/>
          <a:p>
            <a:pPr marL="0" indent="0" algn="just">
              <a:buNone/>
            </a:pPr>
            <a:r>
              <a:rPr lang="en-US" b="0" i="0" dirty="0">
                <a:solidFill>
                  <a:srgbClr val="333333"/>
                </a:solidFill>
                <a:effectLst/>
                <a:latin typeface="inter-regular"/>
              </a:rPr>
              <a:t>  Shortest seek time first (SSTF) algorithm selects the disk I/O request which requires the least disk arm movement from its current position regardless of the direction. It reduces the total seek time as compared to FCFS.</a:t>
            </a:r>
          </a:p>
          <a:p>
            <a:pPr algn="just"/>
            <a:r>
              <a:rPr lang="en-US" b="0" i="0" dirty="0">
                <a:solidFill>
                  <a:srgbClr val="333333"/>
                </a:solidFill>
                <a:effectLst/>
                <a:latin typeface="inter-regular"/>
              </a:rPr>
              <a:t>It allows the head to move to the closest track in the service queue.</a:t>
            </a:r>
          </a:p>
          <a:p>
            <a:pPr marL="0" indent="0" algn="just">
              <a:buNone/>
            </a:pPr>
            <a:r>
              <a:rPr lang="en-US" b="1" i="0" dirty="0">
                <a:solidFill>
                  <a:srgbClr val="610B38"/>
                </a:solidFill>
                <a:effectLst/>
                <a:latin typeface="erdana"/>
              </a:rPr>
              <a:t>     Disadvantages</a:t>
            </a:r>
          </a:p>
          <a:p>
            <a:pPr algn="just">
              <a:buFont typeface="Arial" panose="020B0604020202020204" pitchFamily="34" charset="0"/>
              <a:buChar char="•"/>
            </a:pPr>
            <a:r>
              <a:rPr lang="en-US" b="0" i="0" dirty="0">
                <a:solidFill>
                  <a:srgbClr val="000000"/>
                </a:solidFill>
                <a:effectLst/>
                <a:latin typeface="inter-regular"/>
              </a:rPr>
              <a:t>It may cause starvation for some requests.</a:t>
            </a:r>
          </a:p>
          <a:p>
            <a:pPr algn="just">
              <a:buFont typeface="Arial" panose="020B0604020202020204" pitchFamily="34" charset="0"/>
              <a:buChar char="•"/>
            </a:pPr>
            <a:r>
              <a:rPr lang="en-US" b="0" i="0" dirty="0">
                <a:solidFill>
                  <a:srgbClr val="000000"/>
                </a:solidFill>
                <a:effectLst/>
                <a:latin typeface="inter-regular"/>
              </a:rPr>
              <a:t>Switching direction on the frequent basis slows the working of algorithm.</a:t>
            </a:r>
          </a:p>
          <a:p>
            <a:pPr algn="just">
              <a:buFont typeface="Arial" panose="020B0604020202020204" pitchFamily="34" charset="0"/>
              <a:buChar char="•"/>
            </a:pPr>
            <a:r>
              <a:rPr lang="en-US" b="0" i="0" dirty="0">
                <a:solidFill>
                  <a:srgbClr val="000000"/>
                </a:solidFill>
                <a:effectLst/>
                <a:latin typeface="inter-regular"/>
              </a:rPr>
              <a:t>It is not the most optimal algorithm.</a:t>
            </a:r>
          </a:p>
          <a:p>
            <a:endParaRPr lang="en-IN" dirty="0"/>
          </a:p>
        </p:txBody>
      </p:sp>
    </p:spTree>
    <p:extLst>
      <p:ext uri="{BB962C8B-B14F-4D97-AF65-F5344CB8AC3E}">
        <p14:creationId xmlns:p14="http://schemas.microsoft.com/office/powerpoint/2010/main" val="775069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9A99-F6C8-63E7-DBC5-2D998DD63C13}"/>
              </a:ext>
            </a:extLst>
          </p:cNvPr>
          <p:cNvSpPr>
            <a:spLocks noGrp="1"/>
          </p:cNvSpPr>
          <p:nvPr>
            <p:ph type="title"/>
          </p:nvPr>
        </p:nvSpPr>
        <p:spPr>
          <a:xfrm>
            <a:off x="838200" y="365125"/>
            <a:ext cx="10515600" cy="963159"/>
          </a:xfrm>
        </p:spPr>
        <p:txBody>
          <a:bodyPr/>
          <a:lstStyle/>
          <a:p>
            <a:r>
              <a:rPr lang="en-IN" dirty="0" err="1"/>
              <a:t>Contt</a:t>
            </a:r>
            <a:r>
              <a:rPr lang="en-IN" dirty="0"/>
              <a:t>.</a:t>
            </a:r>
          </a:p>
        </p:txBody>
      </p:sp>
      <p:sp>
        <p:nvSpPr>
          <p:cNvPr id="3" name="Content Placeholder 2">
            <a:extLst>
              <a:ext uri="{FF2B5EF4-FFF2-40B4-BE49-F238E27FC236}">
                <a16:creationId xmlns:a16="http://schemas.microsoft.com/office/drawing/2014/main" id="{2AEC886A-2E84-13B4-2F04-05468DECF6EB}"/>
              </a:ext>
            </a:extLst>
          </p:cNvPr>
          <p:cNvSpPr>
            <a:spLocks noGrp="1"/>
          </p:cNvSpPr>
          <p:nvPr>
            <p:ph idx="1"/>
          </p:nvPr>
        </p:nvSpPr>
        <p:spPr>
          <a:xfrm>
            <a:off x="478971" y="1121229"/>
            <a:ext cx="10874829" cy="5055734"/>
          </a:xfrm>
        </p:spPr>
        <p:txBody>
          <a:bodyPr/>
          <a:lstStyle/>
          <a:p>
            <a:pPr algn="just"/>
            <a:r>
              <a:rPr lang="en-US" b="0" i="0" dirty="0">
                <a:solidFill>
                  <a:srgbClr val="610B4B"/>
                </a:solidFill>
                <a:effectLst/>
                <a:latin typeface="erdana"/>
              </a:rPr>
              <a:t>Example</a:t>
            </a:r>
          </a:p>
          <a:p>
            <a:pPr marL="0" indent="0" algn="just">
              <a:buNone/>
            </a:pPr>
            <a:r>
              <a:rPr lang="en-US" b="0" i="0" dirty="0">
                <a:solidFill>
                  <a:srgbClr val="333333"/>
                </a:solidFill>
                <a:effectLst/>
                <a:latin typeface="inter-regular"/>
              </a:rPr>
              <a:t>   Consider the following disk request sequence for a disk with 100 tracks</a:t>
            </a:r>
          </a:p>
          <a:p>
            <a:pPr marL="0" indent="0" algn="just">
              <a:buNone/>
            </a:pPr>
            <a:r>
              <a:rPr lang="en-US" b="0" i="0" dirty="0">
                <a:solidFill>
                  <a:srgbClr val="333333"/>
                </a:solidFill>
                <a:effectLst/>
                <a:latin typeface="inter-regular"/>
              </a:rPr>
              <a:t>     45, 21, 67, 90, 4, 89, 52, 61, 87, 25</a:t>
            </a:r>
          </a:p>
          <a:p>
            <a:pPr marL="0" indent="0">
              <a:buNone/>
            </a:pPr>
            <a:r>
              <a:rPr lang="en-US" b="0" i="0" dirty="0">
                <a:solidFill>
                  <a:srgbClr val="333333"/>
                </a:solidFill>
                <a:effectLst/>
                <a:latin typeface="inter-regular"/>
              </a:rPr>
              <a:t>     Head pointer starting at 50. Find the number of head movements in cylinders using SSTF scheduling.</a:t>
            </a:r>
          </a:p>
          <a:p>
            <a:pPr marL="0" indent="0">
              <a:buNone/>
            </a:pPr>
            <a:endParaRPr lang="en-US" b="0" i="0" dirty="0">
              <a:solidFill>
                <a:srgbClr val="333333"/>
              </a:solidFill>
              <a:effectLst/>
              <a:latin typeface="inter-regular"/>
            </a:endParaRPr>
          </a:p>
          <a:p>
            <a:pPr marL="0" indent="0">
              <a:buNone/>
            </a:pPr>
            <a:r>
              <a:rPr lang="en-US" b="0" i="0" dirty="0">
                <a:solidFill>
                  <a:srgbClr val="333333"/>
                </a:solidFill>
                <a:effectLst/>
                <a:latin typeface="inter-regular"/>
              </a:rPr>
              <a:t>Number of cylinders = </a:t>
            </a:r>
          </a:p>
          <a:p>
            <a:pPr marL="0" indent="0">
              <a:buNone/>
            </a:pPr>
            <a:r>
              <a:rPr lang="en-US" b="0" i="0" dirty="0">
                <a:solidFill>
                  <a:srgbClr val="333333"/>
                </a:solidFill>
                <a:effectLst/>
                <a:latin typeface="inter-regular"/>
              </a:rPr>
              <a:t>5 + 7 + 9 + 6 + 20 + 2 + 1 + 65 + 4 + 17 = 136</a:t>
            </a:r>
            <a:endParaRPr lang="en-IN" dirty="0"/>
          </a:p>
        </p:txBody>
      </p:sp>
      <p:pic>
        <p:nvPicPr>
          <p:cNvPr id="4" name="Picture 3">
            <a:extLst>
              <a:ext uri="{FF2B5EF4-FFF2-40B4-BE49-F238E27FC236}">
                <a16:creationId xmlns:a16="http://schemas.microsoft.com/office/drawing/2014/main" id="{AD050FE5-C74A-5D40-D133-9AB2DA1FF047}"/>
              </a:ext>
            </a:extLst>
          </p:cNvPr>
          <p:cNvPicPr>
            <a:picLocks noChangeAspect="1"/>
          </p:cNvPicPr>
          <p:nvPr/>
        </p:nvPicPr>
        <p:blipFill>
          <a:blip r:embed="rId2"/>
          <a:stretch>
            <a:fillRect/>
          </a:stretch>
        </p:blipFill>
        <p:spPr>
          <a:xfrm>
            <a:off x="7194777" y="3559629"/>
            <a:ext cx="4029075" cy="2537732"/>
          </a:xfrm>
          <a:prstGeom prst="rect">
            <a:avLst/>
          </a:prstGeom>
        </p:spPr>
      </p:pic>
    </p:spTree>
    <p:extLst>
      <p:ext uri="{BB962C8B-B14F-4D97-AF65-F5344CB8AC3E}">
        <p14:creationId xmlns:p14="http://schemas.microsoft.com/office/powerpoint/2010/main" val="1581580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B76C9-FFEE-CCF6-0DEC-BD12F21A2B7A}"/>
              </a:ext>
            </a:extLst>
          </p:cNvPr>
          <p:cNvSpPr>
            <a:spLocks noGrp="1"/>
          </p:cNvSpPr>
          <p:nvPr>
            <p:ph type="title"/>
          </p:nvPr>
        </p:nvSpPr>
        <p:spPr>
          <a:xfrm>
            <a:off x="838200" y="365126"/>
            <a:ext cx="10515600" cy="581932"/>
          </a:xfrm>
        </p:spPr>
        <p:txBody>
          <a:bodyPr>
            <a:normAutofit fontScale="90000"/>
          </a:bodyPr>
          <a:lstStyle/>
          <a:p>
            <a:r>
              <a:rPr lang="en-IN" b="0" i="0" dirty="0">
                <a:solidFill>
                  <a:srgbClr val="610B38"/>
                </a:solidFill>
                <a:effectLst/>
                <a:latin typeface="erdana"/>
              </a:rPr>
              <a:t>SCAN and C-SCAN algorithm</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12AB6B56-40B7-6F0A-57C1-DCE18B075772}"/>
              </a:ext>
            </a:extLst>
          </p:cNvPr>
          <p:cNvSpPr>
            <a:spLocks noGrp="1"/>
          </p:cNvSpPr>
          <p:nvPr>
            <p:ph idx="1"/>
          </p:nvPr>
        </p:nvSpPr>
        <p:spPr>
          <a:xfrm>
            <a:off x="838200" y="696686"/>
            <a:ext cx="10515600" cy="5480277"/>
          </a:xfrm>
        </p:spPr>
        <p:txBody>
          <a:bodyPr>
            <a:normAutofit lnSpcReduction="10000"/>
          </a:bodyPr>
          <a:lstStyle/>
          <a:p>
            <a:pPr algn="just"/>
            <a:r>
              <a:rPr lang="en-US" b="0" i="0" dirty="0">
                <a:solidFill>
                  <a:srgbClr val="610B38"/>
                </a:solidFill>
                <a:effectLst/>
                <a:latin typeface="erdana"/>
              </a:rPr>
              <a:t>Scan Algorithm</a:t>
            </a:r>
          </a:p>
          <a:p>
            <a:pPr algn="just"/>
            <a:r>
              <a:rPr lang="en-US" b="0" i="0" dirty="0">
                <a:solidFill>
                  <a:srgbClr val="333333"/>
                </a:solidFill>
                <a:effectLst/>
                <a:latin typeface="inter-regular"/>
              </a:rPr>
              <a:t>It is also called as Elevator Algorithm. In this algorithm, the disk arm moves into a particular direction till the end, satisfying all the requests coming in its </a:t>
            </a:r>
            <a:r>
              <a:rPr lang="en-US" b="0" i="0" dirty="0" err="1">
                <a:solidFill>
                  <a:srgbClr val="333333"/>
                </a:solidFill>
                <a:effectLst/>
                <a:latin typeface="inter-regular"/>
              </a:rPr>
              <a:t>path,and</a:t>
            </a:r>
            <a:r>
              <a:rPr lang="en-US" b="0" i="0" dirty="0">
                <a:solidFill>
                  <a:srgbClr val="333333"/>
                </a:solidFill>
                <a:effectLst/>
                <a:latin typeface="inter-regular"/>
              </a:rPr>
              <a:t> then it turns </a:t>
            </a:r>
            <a:r>
              <a:rPr lang="en-US" b="0" i="0" dirty="0" err="1">
                <a:solidFill>
                  <a:srgbClr val="333333"/>
                </a:solidFill>
                <a:effectLst/>
                <a:latin typeface="inter-regular"/>
              </a:rPr>
              <a:t>backand</a:t>
            </a:r>
            <a:r>
              <a:rPr lang="en-US" b="0" i="0" dirty="0">
                <a:solidFill>
                  <a:srgbClr val="333333"/>
                </a:solidFill>
                <a:effectLst/>
                <a:latin typeface="inter-regular"/>
              </a:rPr>
              <a:t> moves in the reverse direction satisfying requests coming in its path.</a:t>
            </a:r>
          </a:p>
          <a:p>
            <a:pPr algn="just"/>
            <a:r>
              <a:rPr lang="en-US" b="0" i="0" dirty="0">
                <a:solidFill>
                  <a:srgbClr val="333333"/>
                </a:solidFill>
                <a:effectLst/>
                <a:latin typeface="inter-regular"/>
              </a:rPr>
              <a:t>It works in the way an elevator works, elevator moves in a direction completely till the last floor of that direction and then turns back.</a:t>
            </a:r>
          </a:p>
          <a:p>
            <a:pPr marL="0" indent="0" algn="just">
              <a:buNone/>
            </a:pPr>
            <a:r>
              <a:rPr lang="en-US" b="0" i="0" dirty="0">
                <a:solidFill>
                  <a:srgbClr val="610B4B"/>
                </a:solidFill>
                <a:effectLst/>
                <a:latin typeface="erdana"/>
              </a:rPr>
              <a:t>    </a:t>
            </a:r>
            <a:r>
              <a:rPr lang="en-US" b="1" i="0" dirty="0">
                <a:solidFill>
                  <a:srgbClr val="610B4B"/>
                </a:solidFill>
                <a:effectLst/>
                <a:latin typeface="erdana"/>
              </a:rPr>
              <a:t>Example</a:t>
            </a:r>
          </a:p>
          <a:p>
            <a:pPr algn="just"/>
            <a:r>
              <a:rPr lang="en-US" b="0" i="0" dirty="0">
                <a:solidFill>
                  <a:srgbClr val="333333"/>
                </a:solidFill>
                <a:effectLst/>
                <a:latin typeface="inter-regular"/>
              </a:rPr>
              <a:t>Consider the following disk request sequence for a disk with 100 tracks</a:t>
            </a:r>
          </a:p>
          <a:p>
            <a:pPr algn="just"/>
            <a:r>
              <a:rPr lang="en-US" b="0" i="0" dirty="0">
                <a:solidFill>
                  <a:srgbClr val="333333"/>
                </a:solidFill>
                <a:effectLst/>
                <a:latin typeface="inter-regular"/>
              </a:rPr>
              <a:t>98, 137, 122, 183, 14, 133, 65, 78</a:t>
            </a:r>
          </a:p>
          <a:p>
            <a:pPr algn="just"/>
            <a:r>
              <a:rPr lang="en-US" b="0" i="0" dirty="0">
                <a:solidFill>
                  <a:srgbClr val="333333"/>
                </a:solidFill>
                <a:effectLst/>
                <a:latin typeface="inter-regular"/>
              </a:rPr>
              <a:t>Head pointer starting at 54 and moving in left direction. Find the number of head movements in cylinders using SCAN scheduling.</a:t>
            </a:r>
          </a:p>
          <a:p>
            <a:endParaRPr lang="en-IN" dirty="0"/>
          </a:p>
        </p:txBody>
      </p:sp>
    </p:spTree>
    <p:extLst>
      <p:ext uri="{BB962C8B-B14F-4D97-AF65-F5344CB8AC3E}">
        <p14:creationId xmlns:p14="http://schemas.microsoft.com/office/powerpoint/2010/main" val="763192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7E628-0FEF-AB26-5D9C-F773A6C133CE}"/>
              </a:ext>
            </a:extLst>
          </p:cNvPr>
          <p:cNvSpPr>
            <a:spLocks noGrp="1"/>
          </p:cNvSpPr>
          <p:nvPr>
            <p:ph type="title"/>
          </p:nvPr>
        </p:nvSpPr>
        <p:spPr/>
        <p:txBody>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CC958073-7403-09C4-2520-59EAAD395FB7}"/>
              </a:ext>
            </a:extLst>
          </p:cNvPr>
          <p:cNvPicPr>
            <a:picLocks noGrp="1" noChangeAspect="1"/>
          </p:cNvPicPr>
          <p:nvPr>
            <p:ph idx="1"/>
          </p:nvPr>
        </p:nvPicPr>
        <p:blipFill>
          <a:blip r:embed="rId2"/>
          <a:stretch>
            <a:fillRect/>
          </a:stretch>
        </p:blipFill>
        <p:spPr>
          <a:xfrm>
            <a:off x="6819899" y="1169421"/>
            <a:ext cx="4207329" cy="3390900"/>
          </a:xfrm>
          <a:prstGeom prst="rect">
            <a:avLst/>
          </a:prstGeom>
        </p:spPr>
      </p:pic>
      <p:sp>
        <p:nvSpPr>
          <p:cNvPr id="6" name="TextBox 5">
            <a:extLst>
              <a:ext uri="{FF2B5EF4-FFF2-40B4-BE49-F238E27FC236}">
                <a16:creationId xmlns:a16="http://schemas.microsoft.com/office/drawing/2014/main" id="{237319A2-7DA4-BF7C-1A14-B2C5C318D0B4}"/>
              </a:ext>
            </a:extLst>
          </p:cNvPr>
          <p:cNvSpPr txBox="1"/>
          <p:nvPr/>
        </p:nvSpPr>
        <p:spPr>
          <a:xfrm>
            <a:off x="2013857" y="4814892"/>
            <a:ext cx="7630886" cy="369332"/>
          </a:xfrm>
          <a:prstGeom prst="rect">
            <a:avLst/>
          </a:prstGeom>
          <a:noFill/>
        </p:spPr>
        <p:txBody>
          <a:bodyPr wrap="square">
            <a:spAutoFit/>
          </a:bodyPr>
          <a:lstStyle/>
          <a:p>
            <a:r>
              <a:rPr lang="en-US" b="0" i="0" dirty="0">
                <a:solidFill>
                  <a:srgbClr val="333333"/>
                </a:solidFill>
                <a:effectLst/>
                <a:latin typeface="inter-regular"/>
              </a:rPr>
              <a:t>Number of Cylinders = 40 + 14 + 65 + 13 + 20 + 24 + 11 + 4 + 46 = 237</a:t>
            </a:r>
            <a:endParaRPr lang="en-IN" dirty="0"/>
          </a:p>
        </p:txBody>
      </p:sp>
    </p:spTree>
    <p:extLst>
      <p:ext uri="{BB962C8B-B14F-4D97-AF65-F5344CB8AC3E}">
        <p14:creationId xmlns:p14="http://schemas.microsoft.com/office/powerpoint/2010/main" val="2016363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384A2-1B8F-4A04-B58E-83137720CE66}"/>
              </a:ext>
            </a:extLst>
          </p:cNvPr>
          <p:cNvSpPr>
            <a:spLocks noGrp="1"/>
          </p:cNvSpPr>
          <p:nvPr>
            <p:ph type="title"/>
          </p:nvPr>
        </p:nvSpPr>
        <p:spPr>
          <a:xfrm>
            <a:off x="838200" y="365125"/>
            <a:ext cx="10515600" cy="788761"/>
          </a:xfrm>
        </p:spPr>
        <p:txBody>
          <a:bodyPr>
            <a:normAutofit fontScale="90000"/>
          </a:bodyPr>
          <a:lstStyle/>
          <a:p>
            <a:r>
              <a:rPr lang="en-IN" b="0" i="0" dirty="0">
                <a:solidFill>
                  <a:srgbClr val="610B38"/>
                </a:solidFill>
                <a:effectLst/>
                <a:latin typeface="erdana"/>
              </a:rPr>
              <a:t>C-SCAN algorithm</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C94A9FB5-7F80-8764-93FB-23CAA075D1DF}"/>
              </a:ext>
            </a:extLst>
          </p:cNvPr>
          <p:cNvSpPr>
            <a:spLocks noGrp="1"/>
          </p:cNvSpPr>
          <p:nvPr>
            <p:ph idx="1"/>
          </p:nvPr>
        </p:nvSpPr>
        <p:spPr>
          <a:xfrm>
            <a:off x="838200" y="870858"/>
            <a:ext cx="10515600" cy="5306106"/>
          </a:xfrm>
        </p:spPr>
        <p:txBody>
          <a:bodyPr/>
          <a:lstStyle/>
          <a:p>
            <a:pPr algn="just"/>
            <a:r>
              <a:rPr lang="en-US" b="0" i="0" dirty="0">
                <a:solidFill>
                  <a:srgbClr val="333333"/>
                </a:solidFill>
                <a:effectLst/>
                <a:latin typeface="inter-regular"/>
              </a:rPr>
              <a:t>In C-SCAN algorithm, the arm of the disk moves in a particular direction servicing requests until it reaches the last cylinder, then it jumps to the last cylinder of the opposite direction without servicing any request then it turns back and start moving in that direction servicing the remaining requests.</a:t>
            </a:r>
          </a:p>
          <a:p>
            <a:pPr marL="0" indent="0" algn="just">
              <a:buNone/>
            </a:pPr>
            <a:r>
              <a:rPr lang="en-US" b="0" i="0" dirty="0">
                <a:solidFill>
                  <a:srgbClr val="610B4B"/>
                </a:solidFill>
                <a:effectLst/>
                <a:latin typeface="erdana"/>
              </a:rPr>
              <a:t>   </a:t>
            </a:r>
            <a:r>
              <a:rPr lang="en-US" b="1" i="0" dirty="0">
                <a:solidFill>
                  <a:srgbClr val="610B4B"/>
                </a:solidFill>
                <a:effectLst/>
                <a:latin typeface="erdana"/>
              </a:rPr>
              <a:t>Example</a:t>
            </a:r>
          </a:p>
          <a:p>
            <a:pPr algn="just"/>
            <a:r>
              <a:rPr lang="en-US" b="0" i="0" dirty="0">
                <a:solidFill>
                  <a:srgbClr val="333333"/>
                </a:solidFill>
                <a:effectLst/>
                <a:latin typeface="inter-regular"/>
              </a:rPr>
              <a:t>Consider the following disk request sequence for a disk with 100 tracks</a:t>
            </a:r>
          </a:p>
          <a:p>
            <a:pPr algn="just"/>
            <a:r>
              <a:rPr lang="en-US" b="0" i="0" dirty="0">
                <a:solidFill>
                  <a:srgbClr val="333333"/>
                </a:solidFill>
                <a:effectLst/>
                <a:latin typeface="inter-regular"/>
              </a:rPr>
              <a:t>98, 137, 122, 183, 14, 133, 65, 78</a:t>
            </a:r>
          </a:p>
          <a:p>
            <a:pPr algn="just"/>
            <a:r>
              <a:rPr lang="en-US" b="0" i="0" dirty="0">
                <a:solidFill>
                  <a:srgbClr val="333333"/>
                </a:solidFill>
                <a:effectLst/>
                <a:latin typeface="inter-regular"/>
              </a:rPr>
              <a:t>Head pointer starting at 54 and moving in left direction. Find the number of head movements in cylinders using C-SCAN scheduling.</a:t>
            </a:r>
          </a:p>
          <a:p>
            <a:pPr algn="just"/>
            <a:endParaRPr lang="en-IN" dirty="0"/>
          </a:p>
        </p:txBody>
      </p:sp>
    </p:spTree>
    <p:extLst>
      <p:ext uri="{BB962C8B-B14F-4D97-AF65-F5344CB8AC3E}">
        <p14:creationId xmlns:p14="http://schemas.microsoft.com/office/powerpoint/2010/main" val="3569112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5F83B-B715-22AA-DD1B-277646A34542}"/>
              </a:ext>
            </a:extLst>
          </p:cNvPr>
          <p:cNvSpPr>
            <a:spLocks noGrp="1"/>
          </p:cNvSpPr>
          <p:nvPr>
            <p:ph type="title"/>
          </p:nvPr>
        </p:nvSpPr>
        <p:spPr/>
        <p:txBody>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1E993800-6EC7-5B6E-506A-77C6FC07DE87}"/>
              </a:ext>
            </a:extLst>
          </p:cNvPr>
          <p:cNvPicPr>
            <a:picLocks noGrp="1" noChangeAspect="1"/>
          </p:cNvPicPr>
          <p:nvPr>
            <p:ph idx="1"/>
          </p:nvPr>
        </p:nvPicPr>
        <p:blipFill>
          <a:blip r:embed="rId2"/>
          <a:stretch>
            <a:fillRect/>
          </a:stretch>
        </p:blipFill>
        <p:spPr>
          <a:xfrm>
            <a:off x="2732314" y="807017"/>
            <a:ext cx="8371115" cy="3579926"/>
          </a:xfrm>
          <a:prstGeom prst="rect">
            <a:avLst/>
          </a:prstGeom>
        </p:spPr>
      </p:pic>
      <p:sp>
        <p:nvSpPr>
          <p:cNvPr id="6" name="TextBox 5">
            <a:extLst>
              <a:ext uri="{FF2B5EF4-FFF2-40B4-BE49-F238E27FC236}">
                <a16:creationId xmlns:a16="http://schemas.microsoft.com/office/drawing/2014/main" id="{DABE96DE-0F7C-0157-9AE1-AD8A95E3721A}"/>
              </a:ext>
            </a:extLst>
          </p:cNvPr>
          <p:cNvSpPr txBox="1"/>
          <p:nvPr/>
        </p:nvSpPr>
        <p:spPr>
          <a:xfrm>
            <a:off x="936171" y="4695150"/>
            <a:ext cx="8055429" cy="369332"/>
          </a:xfrm>
          <a:prstGeom prst="rect">
            <a:avLst/>
          </a:prstGeom>
          <a:noFill/>
        </p:spPr>
        <p:txBody>
          <a:bodyPr wrap="square">
            <a:spAutoFit/>
          </a:bodyPr>
          <a:lstStyle/>
          <a:p>
            <a:r>
              <a:rPr lang="en-US" b="0" i="0" dirty="0">
                <a:solidFill>
                  <a:srgbClr val="333333"/>
                </a:solidFill>
                <a:effectLst/>
                <a:latin typeface="inter-regular"/>
              </a:rPr>
              <a:t>No. of cylinders crossed = 40 + 14 + 199 + 16 + 46 + 4 + 11 + 24 + 20 + 13 = 387</a:t>
            </a:r>
            <a:endParaRPr lang="en-IN" dirty="0"/>
          </a:p>
        </p:txBody>
      </p:sp>
    </p:spTree>
    <p:extLst>
      <p:ext uri="{BB962C8B-B14F-4D97-AF65-F5344CB8AC3E}">
        <p14:creationId xmlns:p14="http://schemas.microsoft.com/office/powerpoint/2010/main" val="2365255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C2474-DA5D-830B-464A-185F4B81AE6E}"/>
              </a:ext>
            </a:extLst>
          </p:cNvPr>
          <p:cNvSpPr>
            <a:spLocks noGrp="1"/>
          </p:cNvSpPr>
          <p:nvPr>
            <p:ph type="title"/>
          </p:nvPr>
        </p:nvSpPr>
        <p:spPr>
          <a:xfrm>
            <a:off x="838200" y="365125"/>
            <a:ext cx="10515600" cy="788761"/>
          </a:xfrm>
        </p:spPr>
        <p:txBody>
          <a:bodyPr/>
          <a:lstStyle/>
          <a:p>
            <a:r>
              <a:rPr lang="en-IN" dirty="0"/>
              <a:t>File System</a:t>
            </a:r>
          </a:p>
        </p:txBody>
      </p:sp>
      <p:sp>
        <p:nvSpPr>
          <p:cNvPr id="3" name="Content Placeholder 2">
            <a:extLst>
              <a:ext uri="{FF2B5EF4-FFF2-40B4-BE49-F238E27FC236}">
                <a16:creationId xmlns:a16="http://schemas.microsoft.com/office/drawing/2014/main" id="{FE1A3670-642F-60E2-05A6-ABBED28BE489}"/>
              </a:ext>
            </a:extLst>
          </p:cNvPr>
          <p:cNvSpPr>
            <a:spLocks noGrp="1"/>
          </p:cNvSpPr>
          <p:nvPr>
            <p:ph idx="1"/>
          </p:nvPr>
        </p:nvSpPr>
        <p:spPr>
          <a:xfrm>
            <a:off x="838200" y="1012371"/>
            <a:ext cx="10515600" cy="5164592"/>
          </a:xfrm>
        </p:spPr>
        <p:txBody>
          <a:bodyPr/>
          <a:lstStyle/>
          <a:p>
            <a:pPr algn="just"/>
            <a:r>
              <a:rPr lang="en-US" b="0" i="0" dirty="0">
                <a:solidFill>
                  <a:srgbClr val="333333"/>
                </a:solidFill>
                <a:effectLst/>
                <a:latin typeface="inter-regular"/>
              </a:rPr>
              <a:t>A file can be defined as a data structure which stores the sequence of records. Files are stored in a file system, which may exist on a disk or in the main memory. Files can be simple (plain text) or complex (specially-formatted).</a:t>
            </a:r>
          </a:p>
          <a:p>
            <a:pPr algn="just"/>
            <a:r>
              <a:rPr lang="en-US" b="0" i="0" dirty="0">
                <a:solidFill>
                  <a:srgbClr val="333333"/>
                </a:solidFill>
                <a:effectLst/>
                <a:latin typeface="inter-regular"/>
              </a:rPr>
              <a:t>The collection of files is known as Directory. </a:t>
            </a:r>
          </a:p>
          <a:p>
            <a:pPr algn="just"/>
            <a:r>
              <a:rPr lang="en-US" b="0" i="0" dirty="0">
                <a:solidFill>
                  <a:srgbClr val="333333"/>
                </a:solidFill>
                <a:effectLst/>
                <a:latin typeface="inter-regular"/>
              </a:rPr>
              <a:t>The collection of directories at the different levels, is known as File System.</a:t>
            </a:r>
          </a:p>
          <a:p>
            <a:endParaRPr lang="en-IN" dirty="0"/>
          </a:p>
        </p:txBody>
      </p:sp>
      <p:pic>
        <p:nvPicPr>
          <p:cNvPr id="4" name="Picture 3">
            <a:extLst>
              <a:ext uri="{FF2B5EF4-FFF2-40B4-BE49-F238E27FC236}">
                <a16:creationId xmlns:a16="http://schemas.microsoft.com/office/drawing/2014/main" id="{4D4F52FF-B7F0-2C35-5753-DFF7DC553329}"/>
              </a:ext>
            </a:extLst>
          </p:cNvPr>
          <p:cNvPicPr>
            <a:picLocks noChangeAspect="1"/>
          </p:cNvPicPr>
          <p:nvPr/>
        </p:nvPicPr>
        <p:blipFill>
          <a:blip r:embed="rId2"/>
          <a:stretch>
            <a:fillRect/>
          </a:stretch>
        </p:blipFill>
        <p:spPr>
          <a:xfrm>
            <a:off x="9524999" y="2564493"/>
            <a:ext cx="1503589" cy="3819525"/>
          </a:xfrm>
          <a:prstGeom prst="rect">
            <a:avLst/>
          </a:prstGeom>
        </p:spPr>
      </p:pic>
    </p:spTree>
    <p:extLst>
      <p:ext uri="{BB962C8B-B14F-4D97-AF65-F5344CB8AC3E}">
        <p14:creationId xmlns:p14="http://schemas.microsoft.com/office/powerpoint/2010/main" val="2722820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C470-B765-F306-A930-57D787EF77F5}"/>
              </a:ext>
            </a:extLst>
          </p:cNvPr>
          <p:cNvSpPr>
            <a:spLocks noGrp="1"/>
          </p:cNvSpPr>
          <p:nvPr>
            <p:ph type="title"/>
          </p:nvPr>
        </p:nvSpPr>
        <p:spPr/>
        <p:txBody>
          <a:bodyPr/>
          <a:lstStyle/>
          <a:p>
            <a:r>
              <a:rPr lang="en-IN" b="0" i="0" dirty="0">
                <a:solidFill>
                  <a:srgbClr val="610B38"/>
                </a:solidFill>
                <a:effectLst/>
                <a:latin typeface="erdana"/>
              </a:rPr>
              <a:t>Attributes of the File</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5A16778D-D098-1832-A26D-DD10CE23FFFF}"/>
              </a:ext>
            </a:extLst>
          </p:cNvPr>
          <p:cNvSpPr>
            <a:spLocks noGrp="1"/>
          </p:cNvSpPr>
          <p:nvPr>
            <p:ph idx="1"/>
          </p:nvPr>
        </p:nvSpPr>
        <p:spPr>
          <a:xfrm>
            <a:off x="838200" y="1894114"/>
            <a:ext cx="10515600" cy="4282849"/>
          </a:xfrm>
        </p:spPr>
        <p:txBody>
          <a:bodyPr/>
          <a:lstStyle/>
          <a:p>
            <a:r>
              <a:rPr lang="en-IN" b="1" i="0" dirty="0">
                <a:solidFill>
                  <a:srgbClr val="333333"/>
                </a:solidFill>
                <a:effectLst/>
                <a:latin typeface="inter-bold"/>
              </a:rPr>
              <a:t>1.Name</a:t>
            </a:r>
          </a:p>
          <a:p>
            <a:r>
              <a:rPr lang="en-IN" b="1" i="0" dirty="0">
                <a:solidFill>
                  <a:srgbClr val="333333"/>
                </a:solidFill>
                <a:effectLst/>
                <a:latin typeface="inter-bold"/>
              </a:rPr>
              <a:t>2.Identifier</a:t>
            </a:r>
            <a:endParaRPr lang="en-IN" b="1" dirty="0">
              <a:solidFill>
                <a:srgbClr val="333333"/>
              </a:solidFill>
              <a:latin typeface="inter-bold"/>
            </a:endParaRPr>
          </a:p>
          <a:p>
            <a:r>
              <a:rPr lang="en-IN" b="1" i="0" dirty="0">
                <a:solidFill>
                  <a:srgbClr val="333333"/>
                </a:solidFill>
                <a:effectLst/>
                <a:latin typeface="inter-bold"/>
              </a:rPr>
              <a:t>3.Type</a:t>
            </a:r>
          </a:p>
          <a:p>
            <a:r>
              <a:rPr lang="en-IN" b="1" i="0" dirty="0">
                <a:solidFill>
                  <a:srgbClr val="333333"/>
                </a:solidFill>
                <a:effectLst/>
                <a:latin typeface="inter-bold"/>
              </a:rPr>
              <a:t>4.Location</a:t>
            </a:r>
            <a:endParaRPr lang="en-IN" b="1" dirty="0">
              <a:solidFill>
                <a:srgbClr val="333333"/>
              </a:solidFill>
              <a:latin typeface="inter-bold"/>
            </a:endParaRPr>
          </a:p>
          <a:p>
            <a:r>
              <a:rPr lang="en-IN" b="1" i="0" dirty="0">
                <a:solidFill>
                  <a:srgbClr val="333333"/>
                </a:solidFill>
                <a:effectLst/>
                <a:latin typeface="inter-bold"/>
              </a:rPr>
              <a:t>5.Size</a:t>
            </a:r>
          </a:p>
          <a:p>
            <a:r>
              <a:rPr lang="en-IN" b="1" i="0" dirty="0">
                <a:solidFill>
                  <a:srgbClr val="333333"/>
                </a:solidFill>
                <a:effectLst/>
                <a:latin typeface="inter-bold"/>
              </a:rPr>
              <a:t>6.Protection</a:t>
            </a:r>
            <a:endParaRPr lang="en-IN" b="1" dirty="0">
              <a:solidFill>
                <a:srgbClr val="333333"/>
              </a:solidFill>
              <a:latin typeface="inter-bold"/>
            </a:endParaRPr>
          </a:p>
          <a:p>
            <a:r>
              <a:rPr lang="en-IN" b="1" i="0" dirty="0">
                <a:solidFill>
                  <a:srgbClr val="333333"/>
                </a:solidFill>
                <a:effectLst/>
                <a:latin typeface="inter-bold"/>
              </a:rPr>
              <a:t>7.Time and Date</a:t>
            </a:r>
            <a:endParaRPr lang="en-IN" dirty="0"/>
          </a:p>
        </p:txBody>
      </p:sp>
    </p:spTree>
    <p:extLst>
      <p:ext uri="{BB962C8B-B14F-4D97-AF65-F5344CB8AC3E}">
        <p14:creationId xmlns:p14="http://schemas.microsoft.com/office/powerpoint/2010/main" val="1496731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7CF6B-DF2E-3A32-D6FF-390ECF64BA6D}"/>
              </a:ext>
            </a:extLst>
          </p:cNvPr>
          <p:cNvSpPr>
            <a:spLocks noGrp="1"/>
          </p:cNvSpPr>
          <p:nvPr>
            <p:ph type="title"/>
          </p:nvPr>
        </p:nvSpPr>
        <p:spPr>
          <a:xfrm>
            <a:off x="838200" y="365126"/>
            <a:ext cx="10515600" cy="592818"/>
          </a:xfrm>
        </p:spPr>
        <p:txBody>
          <a:bodyPr>
            <a:normAutofit fontScale="90000"/>
          </a:bodyPr>
          <a:lstStyle/>
          <a:p>
            <a:r>
              <a:rPr lang="en-IN" b="0" i="0" dirty="0">
                <a:solidFill>
                  <a:srgbClr val="610B38"/>
                </a:solidFill>
                <a:effectLst/>
                <a:latin typeface="erdana"/>
              </a:rPr>
              <a:t>Operations on the File</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5E991BA0-F12E-803D-8068-E2510C730D32}"/>
              </a:ext>
            </a:extLst>
          </p:cNvPr>
          <p:cNvSpPr>
            <a:spLocks noGrp="1"/>
          </p:cNvSpPr>
          <p:nvPr>
            <p:ph idx="1"/>
          </p:nvPr>
        </p:nvSpPr>
        <p:spPr>
          <a:xfrm>
            <a:off x="838200" y="762000"/>
            <a:ext cx="10515600" cy="5414963"/>
          </a:xfrm>
        </p:spPr>
        <p:txBody>
          <a:bodyPr/>
          <a:lstStyle/>
          <a:p>
            <a:r>
              <a:rPr lang="en-IN" b="1" i="0" dirty="0">
                <a:solidFill>
                  <a:srgbClr val="333333"/>
                </a:solidFill>
                <a:effectLst/>
                <a:latin typeface="inter-bold"/>
              </a:rPr>
              <a:t>Create operation:</a:t>
            </a:r>
          </a:p>
          <a:p>
            <a:r>
              <a:rPr lang="en-IN" b="1" dirty="0">
                <a:solidFill>
                  <a:srgbClr val="333333"/>
                </a:solidFill>
                <a:latin typeface="inter-bold"/>
              </a:rPr>
              <a:t>Open</a:t>
            </a:r>
            <a:r>
              <a:rPr lang="en-IN" b="1" i="0" dirty="0">
                <a:solidFill>
                  <a:srgbClr val="333333"/>
                </a:solidFill>
                <a:effectLst/>
                <a:latin typeface="inter-bold"/>
              </a:rPr>
              <a:t> operation:</a:t>
            </a:r>
          </a:p>
          <a:p>
            <a:r>
              <a:rPr lang="en-IN" b="1" i="0" dirty="0">
                <a:solidFill>
                  <a:srgbClr val="333333"/>
                </a:solidFill>
                <a:effectLst/>
                <a:latin typeface="inter-bold"/>
              </a:rPr>
              <a:t>Write operation:</a:t>
            </a:r>
            <a:endParaRPr lang="en-IN" b="1" dirty="0">
              <a:solidFill>
                <a:srgbClr val="333333"/>
              </a:solidFill>
              <a:latin typeface="inter-bold"/>
            </a:endParaRPr>
          </a:p>
          <a:p>
            <a:r>
              <a:rPr lang="en-IN" b="1" dirty="0">
                <a:solidFill>
                  <a:srgbClr val="333333"/>
                </a:solidFill>
                <a:latin typeface="inter-bold"/>
              </a:rPr>
              <a:t>Read</a:t>
            </a:r>
            <a:r>
              <a:rPr lang="en-IN" b="1" i="0" dirty="0">
                <a:solidFill>
                  <a:srgbClr val="333333"/>
                </a:solidFill>
                <a:effectLst/>
                <a:latin typeface="inter-bold"/>
              </a:rPr>
              <a:t> operation:</a:t>
            </a:r>
          </a:p>
          <a:p>
            <a:r>
              <a:rPr lang="en-IN" b="1" i="0" dirty="0">
                <a:solidFill>
                  <a:srgbClr val="333333"/>
                </a:solidFill>
                <a:effectLst/>
                <a:latin typeface="inter-bold"/>
              </a:rPr>
              <a:t>Re-position or Seek operation:</a:t>
            </a:r>
            <a:endParaRPr lang="en-IN" b="1" dirty="0">
              <a:solidFill>
                <a:srgbClr val="333333"/>
              </a:solidFill>
              <a:latin typeface="inter-bold"/>
            </a:endParaRPr>
          </a:p>
          <a:p>
            <a:r>
              <a:rPr lang="en-IN" b="1" i="0" dirty="0">
                <a:solidFill>
                  <a:srgbClr val="333333"/>
                </a:solidFill>
                <a:effectLst/>
                <a:latin typeface="inter-bold"/>
              </a:rPr>
              <a:t>Delete operation:</a:t>
            </a:r>
          </a:p>
          <a:p>
            <a:r>
              <a:rPr lang="en-IN" b="1" i="0" dirty="0">
                <a:solidFill>
                  <a:srgbClr val="333333"/>
                </a:solidFill>
                <a:effectLst/>
                <a:latin typeface="inter-bold"/>
              </a:rPr>
              <a:t>Close operation:</a:t>
            </a:r>
            <a:endParaRPr lang="en-IN" b="1" dirty="0">
              <a:solidFill>
                <a:srgbClr val="333333"/>
              </a:solidFill>
              <a:latin typeface="inter-bold"/>
            </a:endParaRPr>
          </a:p>
          <a:p>
            <a:r>
              <a:rPr lang="en-IN" b="1" i="0" dirty="0">
                <a:solidFill>
                  <a:srgbClr val="333333"/>
                </a:solidFill>
                <a:effectLst/>
                <a:latin typeface="inter-bold"/>
              </a:rPr>
              <a:t>Rename operation:</a:t>
            </a:r>
            <a:endParaRPr lang="en-IN" dirty="0"/>
          </a:p>
        </p:txBody>
      </p:sp>
    </p:spTree>
    <p:extLst>
      <p:ext uri="{BB962C8B-B14F-4D97-AF65-F5344CB8AC3E}">
        <p14:creationId xmlns:p14="http://schemas.microsoft.com/office/powerpoint/2010/main" val="1686967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D5736-1CB8-85B3-3A84-B684B2765081}"/>
              </a:ext>
            </a:extLst>
          </p:cNvPr>
          <p:cNvSpPr>
            <a:spLocks noGrp="1"/>
          </p:cNvSpPr>
          <p:nvPr>
            <p:ph type="title"/>
          </p:nvPr>
        </p:nvSpPr>
        <p:spPr/>
        <p:txBody>
          <a:bodyPr/>
          <a:lstStyle/>
          <a:p>
            <a:r>
              <a:rPr lang="en-US" b="0" i="0" dirty="0">
                <a:solidFill>
                  <a:srgbClr val="610B38"/>
                </a:solidFill>
                <a:effectLst/>
                <a:latin typeface="erdana"/>
              </a:rPr>
              <a:t>File Access Methods</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98DBE0EB-6D3D-1BCB-53D1-D9A4125FB1EC}"/>
              </a:ext>
            </a:extLst>
          </p:cNvPr>
          <p:cNvSpPr>
            <a:spLocks noGrp="1"/>
          </p:cNvSpPr>
          <p:nvPr>
            <p:ph idx="1"/>
          </p:nvPr>
        </p:nvSpPr>
        <p:spPr>
          <a:xfrm>
            <a:off x="838200" y="1153886"/>
            <a:ext cx="10515600" cy="5023077"/>
          </a:xfrm>
        </p:spPr>
        <p:txBody>
          <a:bodyPr>
            <a:normAutofit fontScale="92500" lnSpcReduction="20000"/>
          </a:bodyPr>
          <a:lstStyle/>
          <a:p>
            <a:pPr algn="just"/>
            <a:r>
              <a:rPr lang="en-US" b="0" i="0" dirty="0">
                <a:solidFill>
                  <a:srgbClr val="333333"/>
                </a:solidFill>
                <a:effectLst/>
                <a:latin typeface="inter-regular"/>
              </a:rPr>
              <a:t>Let's look at various ways to access files stored in secondary memory.</a:t>
            </a:r>
          </a:p>
          <a:p>
            <a:pPr marL="0" indent="0" algn="just">
              <a:buNone/>
            </a:pPr>
            <a:r>
              <a:rPr lang="en-IN" b="0" i="0" dirty="0">
                <a:solidFill>
                  <a:srgbClr val="610B38"/>
                </a:solidFill>
                <a:effectLst/>
                <a:latin typeface="erdana"/>
              </a:rPr>
              <a:t>   Sequential Access</a:t>
            </a:r>
          </a:p>
          <a:p>
            <a:pPr algn="just"/>
            <a:r>
              <a:rPr lang="en-US" b="0" i="0" dirty="0">
                <a:solidFill>
                  <a:srgbClr val="333333"/>
                </a:solidFill>
                <a:effectLst/>
                <a:latin typeface="inter-regular"/>
              </a:rPr>
              <a:t>Most of the operating systems access the file sequentially. In other words, we can say that most of the files need to be accessed sequentially by the operating system.</a:t>
            </a:r>
          </a:p>
          <a:p>
            <a:pPr algn="just"/>
            <a:r>
              <a:rPr lang="en-US" b="0" i="0" dirty="0">
                <a:solidFill>
                  <a:srgbClr val="333333"/>
                </a:solidFill>
                <a:effectLst/>
                <a:latin typeface="inter-regular"/>
              </a:rPr>
              <a:t>In sequential access, the OS read the file word by word. A pointer is maintained which initially points to the base address of the file. If the user wants to read first word of the file then the pointer provides that word to the user and increases its value by 1 word. This process continues till the end of the file.</a:t>
            </a:r>
          </a:p>
          <a:p>
            <a:pPr algn="just"/>
            <a:r>
              <a:rPr lang="en-US" b="0" i="0" dirty="0">
                <a:solidFill>
                  <a:srgbClr val="333333"/>
                </a:solidFill>
                <a:effectLst/>
                <a:latin typeface="inter-regular"/>
              </a:rPr>
              <a:t>Modern word systems do provide the concept of direct access and indexed access but the most used method is sequential access due to the fact that most of the files such as text files, audio files, video files, </a:t>
            </a:r>
            <a:r>
              <a:rPr lang="en-US" b="0" i="0" dirty="0" err="1">
                <a:solidFill>
                  <a:srgbClr val="333333"/>
                </a:solidFill>
                <a:effectLst/>
                <a:latin typeface="inter-regular"/>
              </a:rPr>
              <a:t>etc</a:t>
            </a:r>
            <a:r>
              <a:rPr lang="en-US" b="0" i="0" dirty="0">
                <a:solidFill>
                  <a:srgbClr val="333333"/>
                </a:solidFill>
                <a:effectLst/>
                <a:latin typeface="inter-regular"/>
              </a:rPr>
              <a:t> need to be sequentially accessed.</a:t>
            </a:r>
          </a:p>
          <a:p>
            <a:pPr marL="0" indent="0" algn="just">
              <a:buNone/>
            </a:pPr>
            <a:endParaRPr lang="en-IN" b="0" i="0" dirty="0">
              <a:solidFill>
                <a:srgbClr val="610B38"/>
              </a:solidFill>
              <a:effectLst/>
              <a:latin typeface="erdana"/>
            </a:endParaRPr>
          </a:p>
          <a:p>
            <a:pPr algn="just"/>
            <a:endParaRPr lang="en-US" b="0" i="0" dirty="0">
              <a:solidFill>
                <a:srgbClr val="333333"/>
              </a:solidFill>
              <a:effectLst/>
              <a:latin typeface="inter-regular"/>
            </a:endParaRPr>
          </a:p>
          <a:p>
            <a:pPr algn="just"/>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3072017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556A-8F32-7505-EBAF-3B12672846D0}"/>
              </a:ext>
            </a:extLst>
          </p:cNvPr>
          <p:cNvSpPr>
            <a:spLocks noGrp="1"/>
          </p:cNvSpPr>
          <p:nvPr>
            <p:ph type="title"/>
          </p:nvPr>
        </p:nvSpPr>
        <p:spPr>
          <a:xfrm>
            <a:off x="838200" y="365126"/>
            <a:ext cx="10515600" cy="723446"/>
          </a:xfrm>
        </p:spPr>
        <p:txBody>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F90E9617-15AE-DF0C-E46B-959DD60C4123}"/>
              </a:ext>
            </a:extLst>
          </p:cNvPr>
          <p:cNvPicPr>
            <a:picLocks noGrp="1" noChangeAspect="1"/>
          </p:cNvPicPr>
          <p:nvPr>
            <p:ph idx="1"/>
          </p:nvPr>
        </p:nvPicPr>
        <p:blipFill>
          <a:blip r:embed="rId2"/>
          <a:stretch>
            <a:fillRect/>
          </a:stretch>
        </p:blipFill>
        <p:spPr>
          <a:xfrm>
            <a:off x="2307771" y="1371600"/>
            <a:ext cx="8022772" cy="4735286"/>
          </a:xfrm>
          <a:prstGeom prst="rect">
            <a:avLst/>
          </a:prstGeom>
        </p:spPr>
      </p:pic>
    </p:spTree>
    <p:extLst>
      <p:ext uri="{BB962C8B-B14F-4D97-AF65-F5344CB8AC3E}">
        <p14:creationId xmlns:p14="http://schemas.microsoft.com/office/powerpoint/2010/main" val="2549166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20965-17A2-7433-B4A9-06D803B12753}"/>
              </a:ext>
            </a:extLst>
          </p:cNvPr>
          <p:cNvSpPr>
            <a:spLocks noGrp="1"/>
          </p:cNvSpPr>
          <p:nvPr>
            <p:ph type="title"/>
          </p:nvPr>
        </p:nvSpPr>
        <p:spPr>
          <a:xfrm>
            <a:off x="838200" y="365126"/>
            <a:ext cx="10515600" cy="581932"/>
          </a:xfrm>
        </p:spPr>
        <p:txBody>
          <a:bodyPr>
            <a:normAutofit fontScale="90000"/>
          </a:bodyPr>
          <a:lstStyle/>
          <a:p>
            <a:r>
              <a:rPr lang="en-US" b="0" i="0" dirty="0">
                <a:solidFill>
                  <a:srgbClr val="610B38"/>
                </a:solidFill>
                <a:effectLst/>
                <a:latin typeface="erdana"/>
              </a:rPr>
              <a:t>Direct Access</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3B316E6C-754D-FB72-2D54-58CD6FF93435}"/>
              </a:ext>
            </a:extLst>
          </p:cNvPr>
          <p:cNvSpPr>
            <a:spLocks noGrp="1"/>
          </p:cNvSpPr>
          <p:nvPr>
            <p:ph idx="1"/>
          </p:nvPr>
        </p:nvSpPr>
        <p:spPr>
          <a:xfrm>
            <a:off x="838200" y="947058"/>
            <a:ext cx="10515600" cy="5229905"/>
          </a:xfrm>
        </p:spPr>
        <p:txBody>
          <a:bodyPr>
            <a:normAutofit/>
          </a:bodyPr>
          <a:lstStyle/>
          <a:p>
            <a:pPr algn="just"/>
            <a:r>
              <a:rPr lang="en-US" b="0" i="0" dirty="0">
                <a:solidFill>
                  <a:srgbClr val="333333"/>
                </a:solidFill>
                <a:effectLst/>
                <a:latin typeface="inter-regular"/>
              </a:rPr>
              <a:t>The Direct Access is mostly required in the case of database systems. In most of the cases, we need filtered information from the database. The sequential access can be very slow and inefficient in such cases.</a:t>
            </a:r>
          </a:p>
          <a:p>
            <a:pPr algn="just"/>
            <a:r>
              <a:rPr lang="en-US" b="0" i="0" dirty="0">
                <a:solidFill>
                  <a:srgbClr val="333333"/>
                </a:solidFill>
                <a:effectLst/>
                <a:latin typeface="inter-regular"/>
              </a:rPr>
              <a:t>Suppose every block of the storage stores 4 records and we know that the record we needed is stored in 10th block. In that case, the sequential access will not be implemented because it will traverse all the blocks in order to access the needed record.</a:t>
            </a:r>
          </a:p>
          <a:p>
            <a:r>
              <a:rPr lang="en-US" b="0" i="0" dirty="0">
                <a:solidFill>
                  <a:srgbClr val="333333"/>
                </a:solidFill>
                <a:effectLst/>
                <a:latin typeface="inter-regular"/>
              </a:rPr>
              <a:t>Direct access will give the required result despite of the fact that the operating system has to perform some complex tasks such as determining the desired block number. However, that is generally implemented in database applications.</a:t>
            </a:r>
            <a:endParaRPr lang="en-IN" dirty="0"/>
          </a:p>
        </p:txBody>
      </p:sp>
    </p:spTree>
    <p:extLst>
      <p:ext uri="{BB962C8B-B14F-4D97-AF65-F5344CB8AC3E}">
        <p14:creationId xmlns:p14="http://schemas.microsoft.com/office/powerpoint/2010/main" val="3632342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456E1-7077-69F4-DCF4-FC6932BC0054}"/>
              </a:ext>
            </a:extLst>
          </p:cNvPr>
          <p:cNvSpPr>
            <a:spLocks noGrp="1"/>
          </p:cNvSpPr>
          <p:nvPr>
            <p:ph type="title"/>
          </p:nvPr>
        </p:nvSpPr>
        <p:spPr/>
        <p:txBody>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46FAEADE-3E08-E59F-F942-F0DE66C8D958}"/>
              </a:ext>
            </a:extLst>
          </p:cNvPr>
          <p:cNvPicPr>
            <a:picLocks noGrp="1" noChangeAspect="1"/>
          </p:cNvPicPr>
          <p:nvPr>
            <p:ph idx="1"/>
          </p:nvPr>
        </p:nvPicPr>
        <p:blipFill>
          <a:blip r:embed="rId2"/>
          <a:stretch>
            <a:fillRect/>
          </a:stretch>
        </p:blipFill>
        <p:spPr>
          <a:xfrm>
            <a:off x="2939142" y="1611087"/>
            <a:ext cx="5965371" cy="4280920"/>
          </a:xfrm>
          <a:prstGeom prst="rect">
            <a:avLst/>
          </a:prstGeom>
        </p:spPr>
      </p:pic>
    </p:spTree>
    <p:extLst>
      <p:ext uri="{BB962C8B-B14F-4D97-AF65-F5344CB8AC3E}">
        <p14:creationId xmlns:p14="http://schemas.microsoft.com/office/powerpoint/2010/main" val="4123725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45DF-46FD-BF75-8433-688975C31178}"/>
              </a:ext>
            </a:extLst>
          </p:cNvPr>
          <p:cNvSpPr>
            <a:spLocks noGrp="1"/>
          </p:cNvSpPr>
          <p:nvPr>
            <p:ph type="title"/>
          </p:nvPr>
        </p:nvSpPr>
        <p:spPr>
          <a:xfrm>
            <a:off x="838200" y="365126"/>
            <a:ext cx="10515600" cy="658132"/>
          </a:xfrm>
        </p:spPr>
        <p:txBody>
          <a:bodyPr>
            <a:normAutofit fontScale="90000"/>
          </a:bodyPr>
          <a:lstStyle/>
          <a:p>
            <a:r>
              <a:rPr lang="en-US" b="0" i="0" dirty="0">
                <a:solidFill>
                  <a:srgbClr val="610B38"/>
                </a:solidFill>
                <a:effectLst/>
                <a:latin typeface="erdana"/>
              </a:rPr>
              <a:t>Indexed Access</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701D2FC0-236A-5B89-92B8-92E783483CD3}"/>
              </a:ext>
            </a:extLst>
          </p:cNvPr>
          <p:cNvSpPr>
            <a:spLocks noGrp="1"/>
          </p:cNvSpPr>
          <p:nvPr>
            <p:ph idx="1"/>
          </p:nvPr>
        </p:nvSpPr>
        <p:spPr>
          <a:xfrm>
            <a:off x="838200" y="1023258"/>
            <a:ext cx="10515600" cy="5153705"/>
          </a:xfrm>
        </p:spPr>
        <p:txBody>
          <a:bodyPr/>
          <a:lstStyle/>
          <a:p>
            <a:pPr algn="just"/>
            <a:r>
              <a:rPr lang="en-US" b="0" i="0" dirty="0">
                <a:solidFill>
                  <a:srgbClr val="333333"/>
                </a:solidFill>
                <a:effectLst/>
                <a:latin typeface="inter-regular"/>
              </a:rPr>
              <a:t>If a file can be sorted on any of the filed then an index can be assigned to a group of certain records. However, A particular record can be accessed by its index. The index is nothing but the address of a record in the file.</a:t>
            </a:r>
          </a:p>
          <a:p>
            <a:pPr algn="just"/>
            <a:r>
              <a:rPr lang="en-US" b="0" i="0" dirty="0">
                <a:solidFill>
                  <a:srgbClr val="333333"/>
                </a:solidFill>
                <a:effectLst/>
                <a:latin typeface="inter-regular"/>
              </a:rPr>
              <a:t>In index accessing, searching in a large database became very quick and easy but we need to have some extra space in the memory to store the index value.</a:t>
            </a:r>
          </a:p>
          <a:p>
            <a:endParaRPr lang="en-IN" dirty="0"/>
          </a:p>
        </p:txBody>
      </p:sp>
    </p:spTree>
    <p:extLst>
      <p:ext uri="{BB962C8B-B14F-4D97-AF65-F5344CB8AC3E}">
        <p14:creationId xmlns:p14="http://schemas.microsoft.com/office/powerpoint/2010/main" val="3956980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5F2B7-1E16-E6C2-D935-17092F3FA178}"/>
              </a:ext>
            </a:extLst>
          </p:cNvPr>
          <p:cNvSpPr>
            <a:spLocks noGrp="1"/>
          </p:cNvSpPr>
          <p:nvPr>
            <p:ph type="title"/>
          </p:nvPr>
        </p:nvSpPr>
        <p:spPr>
          <a:xfrm>
            <a:off x="838200" y="365126"/>
            <a:ext cx="10515600" cy="451304"/>
          </a:xfrm>
        </p:spPr>
        <p:txBody>
          <a:bodyPr>
            <a:normAutofit fontScale="90000"/>
          </a:bodyPr>
          <a:lstStyle/>
          <a:p>
            <a:r>
              <a:rPr lang="en-IN" b="0" i="0" dirty="0">
                <a:solidFill>
                  <a:srgbClr val="610B38"/>
                </a:solidFill>
                <a:effectLst/>
                <a:latin typeface="erdana"/>
              </a:rPr>
              <a:t>Directory Structure in OS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20B6DC68-298D-3287-FE1A-B262254B2B3D}"/>
              </a:ext>
            </a:extLst>
          </p:cNvPr>
          <p:cNvSpPr>
            <a:spLocks noGrp="1"/>
          </p:cNvSpPr>
          <p:nvPr>
            <p:ph idx="1"/>
          </p:nvPr>
        </p:nvSpPr>
        <p:spPr>
          <a:xfrm>
            <a:off x="838200" y="685800"/>
            <a:ext cx="10515600" cy="5491163"/>
          </a:xfrm>
        </p:spPr>
        <p:txBody>
          <a:bodyPr/>
          <a:lstStyle/>
          <a:p>
            <a:pPr algn="just"/>
            <a:r>
              <a:rPr lang="en-US" b="0" i="0" dirty="0">
                <a:solidFill>
                  <a:srgbClr val="610B38"/>
                </a:solidFill>
                <a:effectLst/>
                <a:latin typeface="erdana"/>
              </a:rPr>
              <a:t>What is a directory?</a:t>
            </a:r>
          </a:p>
          <a:p>
            <a:pPr algn="just"/>
            <a:r>
              <a:rPr lang="en-US" b="0" i="0" dirty="0">
                <a:solidFill>
                  <a:srgbClr val="333333"/>
                </a:solidFill>
                <a:effectLst/>
                <a:latin typeface="inter-regular"/>
              </a:rPr>
              <a:t>Directory can be defined as the listing of the related files on the disk. The directory may store some or the entire file attributes.</a:t>
            </a:r>
          </a:p>
          <a:p>
            <a:pPr algn="just"/>
            <a:r>
              <a:rPr lang="en-US" b="0" i="0" dirty="0">
                <a:solidFill>
                  <a:srgbClr val="333333"/>
                </a:solidFill>
                <a:effectLst/>
                <a:latin typeface="inter-regular"/>
              </a:rPr>
              <a:t>To get the benefit of different file systems on the different operating systems, A hard disk can be divided into the number of partitions of different sizes. The partitions are also called volumes or mini disks.</a:t>
            </a:r>
          </a:p>
          <a:p>
            <a:pPr algn="just"/>
            <a:r>
              <a:rPr lang="en-US" b="0" i="0" dirty="0">
                <a:solidFill>
                  <a:srgbClr val="333333"/>
                </a:solidFill>
                <a:effectLst/>
                <a:latin typeface="inter-regular"/>
              </a:rPr>
              <a:t>Each partition must have at least one directory in which, all the files of the partition can be listed. A directory entry is maintained for each file in the directory which stores all the information related to that file.</a:t>
            </a:r>
          </a:p>
          <a:p>
            <a:pPr algn="just"/>
            <a:r>
              <a:rPr lang="en-US" b="0" i="0" dirty="0">
                <a:solidFill>
                  <a:srgbClr val="333333"/>
                </a:solidFill>
                <a:effectLst/>
                <a:latin typeface="inter-regular"/>
              </a:rPr>
              <a:t>A directory can be viewed as a file which contains the Meta data of the bunch of files.</a:t>
            </a:r>
          </a:p>
        </p:txBody>
      </p:sp>
    </p:spTree>
    <p:extLst>
      <p:ext uri="{BB962C8B-B14F-4D97-AF65-F5344CB8AC3E}">
        <p14:creationId xmlns:p14="http://schemas.microsoft.com/office/powerpoint/2010/main" val="3592047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17D8-723F-3BDC-5B42-C2853D1C32B2}"/>
              </a:ext>
            </a:extLst>
          </p:cNvPr>
          <p:cNvSpPr>
            <a:spLocks noGrp="1"/>
          </p:cNvSpPr>
          <p:nvPr>
            <p:ph type="title"/>
          </p:nvPr>
        </p:nvSpPr>
        <p:spPr/>
        <p:txBody>
          <a:bodyPr/>
          <a:lstStyle/>
          <a:p>
            <a:r>
              <a:rPr lang="en-IN" dirty="0"/>
              <a:t>Cont..</a:t>
            </a:r>
          </a:p>
        </p:txBody>
      </p:sp>
      <p:pic>
        <p:nvPicPr>
          <p:cNvPr id="4" name="Content Placeholder 3">
            <a:extLst>
              <a:ext uri="{FF2B5EF4-FFF2-40B4-BE49-F238E27FC236}">
                <a16:creationId xmlns:a16="http://schemas.microsoft.com/office/drawing/2014/main" id="{417A7446-EE45-68C5-651C-961E6EDBEE18}"/>
              </a:ext>
            </a:extLst>
          </p:cNvPr>
          <p:cNvPicPr>
            <a:picLocks noGrp="1" noChangeAspect="1"/>
          </p:cNvPicPr>
          <p:nvPr>
            <p:ph idx="1"/>
          </p:nvPr>
        </p:nvPicPr>
        <p:blipFill>
          <a:blip r:embed="rId2"/>
          <a:stretch>
            <a:fillRect/>
          </a:stretch>
        </p:blipFill>
        <p:spPr>
          <a:xfrm>
            <a:off x="2709862" y="2234406"/>
            <a:ext cx="8066995" cy="4013994"/>
          </a:xfrm>
          <a:prstGeom prst="rect">
            <a:avLst/>
          </a:prstGeom>
        </p:spPr>
      </p:pic>
    </p:spTree>
    <p:extLst>
      <p:ext uri="{BB962C8B-B14F-4D97-AF65-F5344CB8AC3E}">
        <p14:creationId xmlns:p14="http://schemas.microsoft.com/office/powerpoint/2010/main" val="3394265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65AD-6AD0-BC81-729D-2E85981D4613}"/>
              </a:ext>
            </a:extLst>
          </p:cNvPr>
          <p:cNvSpPr>
            <a:spLocks noGrp="1"/>
          </p:cNvSpPr>
          <p:nvPr>
            <p:ph type="title"/>
          </p:nvPr>
        </p:nvSpPr>
        <p:spPr/>
        <p:txBody>
          <a:bodyPr/>
          <a:lstStyle/>
          <a:p>
            <a:r>
              <a:rPr lang="en-US" b="0" i="0" dirty="0">
                <a:solidFill>
                  <a:srgbClr val="610B38"/>
                </a:solidFill>
                <a:effectLst/>
                <a:latin typeface="erdana"/>
              </a:rPr>
              <a:t>Single Level Directory</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0A18FD2A-7076-3E61-E7DC-8CF097CD1B6C}"/>
              </a:ext>
            </a:extLst>
          </p:cNvPr>
          <p:cNvSpPr>
            <a:spLocks noGrp="1"/>
          </p:cNvSpPr>
          <p:nvPr>
            <p:ph idx="1"/>
          </p:nvPr>
        </p:nvSpPr>
        <p:spPr/>
        <p:txBody>
          <a:bodyPr/>
          <a:lstStyle/>
          <a:p>
            <a:pPr algn="just"/>
            <a:r>
              <a:rPr lang="en-US" b="0" i="0" dirty="0">
                <a:solidFill>
                  <a:srgbClr val="333333"/>
                </a:solidFill>
                <a:effectLst/>
                <a:latin typeface="inter-regular"/>
              </a:rPr>
              <a:t>The simplest method is to have one big list of all the files on the disk. The entire system will contain only one directory which is supposed to mention all the files present in the file system. The directory contains one entry per each file present on the file system.</a:t>
            </a:r>
          </a:p>
          <a:p>
            <a:pPr algn="just"/>
            <a:endParaRPr lang="en-US" b="0" i="0" dirty="0">
              <a:solidFill>
                <a:srgbClr val="333333"/>
              </a:solidFill>
              <a:effectLst/>
              <a:latin typeface="inter-regular"/>
            </a:endParaRPr>
          </a:p>
          <a:p>
            <a:endParaRPr lang="en-IN" dirty="0"/>
          </a:p>
        </p:txBody>
      </p:sp>
      <p:pic>
        <p:nvPicPr>
          <p:cNvPr id="5" name="Picture 4">
            <a:extLst>
              <a:ext uri="{FF2B5EF4-FFF2-40B4-BE49-F238E27FC236}">
                <a16:creationId xmlns:a16="http://schemas.microsoft.com/office/drawing/2014/main" id="{8C00DF12-E070-DCC3-2E2B-0A577B7B8A62}"/>
              </a:ext>
            </a:extLst>
          </p:cNvPr>
          <p:cNvPicPr>
            <a:picLocks noChangeAspect="1"/>
          </p:cNvPicPr>
          <p:nvPr/>
        </p:nvPicPr>
        <p:blipFill>
          <a:blip r:embed="rId2"/>
          <a:stretch>
            <a:fillRect/>
          </a:stretch>
        </p:blipFill>
        <p:spPr>
          <a:xfrm>
            <a:off x="2481943" y="3865108"/>
            <a:ext cx="7260771" cy="2198235"/>
          </a:xfrm>
          <a:prstGeom prst="rect">
            <a:avLst/>
          </a:prstGeom>
        </p:spPr>
      </p:pic>
    </p:spTree>
    <p:extLst>
      <p:ext uri="{BB962C8B-B14F-4D97-AF65-F5344CB8AC3E}">
        <p14:creationId xmlns:p14="http://schemas.microsoft.com/office/powerpoint/2010/main" val="2608430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06FD-A850-BF17-98B8-0B661DF6EE7F}"/>
              </a:ext>
            </a:extLst>
          </p:cNvPr>
          <p:cNvSpPr>
            <a:spLocks noGrp="1"/>
          </p:cNvSpPr>
          <p:nvPr>
            <p:ph type="title"/>
          </p:nvPr>
        </p:nvSpPr>
        <p:spPr>
          <a:xfrm>
            <a:off x="838200" y="365126"/>
            <a:ext cx="10515600" cy="581932"/>
          </a:xfrm>
        </p:spPr>
        <p:txBody>
          <a:bodyPr>
            <a:normAutofit fontScale="90000"/>
          </a:bodyPr>
          <a:lstStyle/>
          <a:p>
            <a:r>
              <a:rPr lang="en-IN" b="0" i="0" dirty="0">
                <a:solidFill>
                  <a:srgbClr val="610B38"/>
                </a:solidFill>
                <a:effectLst/>
                <a:latin typeface="erdana"/>
              </a:rPr>
              <a:t>Two Level Directory</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498F9170-B72C-3A78-859E-FFB25402ABE4}"/>
              </a:ext>
            </a:extLst>
          </p:cNvPr>
          <p:cNvSpPr>
            <a:spLocks noGrp="1"/>
          </p:cNvSpPr>
          <p:nvPr>
            <p:ph idx="1"/>
          </p:nvPr>
        </p:nvSpPr>
        <p:spPr>
          <a:xfrm>
            <a:off x="838200" y="783771"/>
            <a:ext cx="10515600" cy="5393192"/>
          </a:xfrm>
        </p:spPr>
        <p:txBody>
          <a:bodyPr/>
          <a:lstStyle/>
          <a:p>
            <a:pPr algn="just"/>
            <a:r>
              <a:rPr lang="en-US" b="0" i="0" dirty="0">
                <a:solidFill>
                  <a:srgbClr val="333333"/>
                </a:solidFill>
                <a:effectLst/>
                <a:latin typeface="inter-regular"/>
              </a:rPr>
              <a:t>In two level directory systems, we can create a separate directory for each user. There is one master directory which contains separate directories dedicated to each user. For each user, there is a different directory present at the second level, containing group of user's file. The system doesn't let a user to enter in the other user's directory without permission.</a:t>
            </a:r>
          </a:p>
          <a:p>
            <a:pPr algn="just"/>
            <a:endParaRPr lang="en-IN" dirty="0"/>
          </a:p>
        </p:txBody>
      </p:sp>
      <p:pic>
        <p:nvPicPr>
          <p:cNvPr id="4" name="Picture 3">
            <a:extLst>
              <a:ext uri="{FF2B5EF4-FFF2-40B4-BE49-F238E27FC236}">
                <a16:creationId xmlns:a16="http://schemas.microsoft.com/office/drawing/2014/main" id="{9CD88E6B-F096-7225-F89B-A8A662D1DA0C}"/>
              </a:ext>
            </a:extLst>
          </p:cNvPr>
          <p:cNvPicPr>
            <a:picLocks noChangeAspect="1"/>
          </p:cNvPicPr>
          <p:nvPr/>
        </p:nvPicPr>
        <p:blipFill>
          <a:blip r:embed="rId2"/>
          <a:stretch>
            <a:fillRect/>
          </a:stretch>
        </p:blipFill>
        <p:spPr>
          <a:xfrm>
            <a:off x="2124074" y="3142569"/>
            <a:ext cx="8086725" cy="2771775"/>
          </a:xfrm>
          <a:prstGeom prst="rect">
            <a:avLst/>
          </a:prstGeom>
        </p:spPr>
      </p:pic>
    </p:spTree>
    <p:extLst>
      <p:ext uri="{BB962C8B-B14F-4D97-AF65-F5344CB8AC3E}">
        <p14:creationId xmlns:p14="http://schemas.microsoft.com/office/powerpoint/2010/main" val="620353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B575-E5B5-8E9C-B3D7-E8C1820BD411}"/>
              </a:ext>
            </a:extLst>
          </p:cNvPr>
          <p:cNvSpPr>
            <a:spLocks noGrp="1"/>
          </p:cNvSpPr>
          <p:nvPr>
            <p:ph type="title"/>
          </p:nvPr>
        </p:nvSpPr>
        <p:spPr>
          <a:xfrm>
            <a:off x="838200" y="365126"/>
            <a:ext cx="10515600" cy="799646"/>
          </a:xfrm>
        </p:spPr>
        <p:txBody>
          <a:bodyPr>
            <a:normAutofit fontScale="90000"/>
          </a:bodyPr>
          <a:lstStyle/>
          <a:p>
            <a:r>
              <a:rPr lang="en-US" b="0" i="0" dirty="0">
                <a:solidFill>
                  <a:srgbClr val="610B38"/>
                </a:solidFill>
                <a:effectLst/>
                <a:latin typeface="erdana"/>
              </a:rPr>
              <a:t>Characteristics of two level directory system</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8B951CE0-284D-B8CB-731F-9D2DD403FF25}"/>
              </a:ext>
            </a:extLst>
          </p:cNvPr>
          <p:cNvSpPr>
            <a:spLocks noGrp="1"/>
          </p:cNvSpPr>
          <p:nvPr>
            <p:ph idx="1"/>
          </p:nvPr>
        </p:nvSpPr>
        <p:spPr>
          <a:xfrm>
            <a:off x="838200" y="979714"/>
            <a:ext cx="10515600" cy="5197249"/>
          </a:xfrm>
        </p:spPr>
        <p:txBody>
          <a:bodyPr>
            <a:normAutofit/>
          </a:bodyPr>
          <a:lstStyle/>
          <a:p>
            <a:pPr algn="just">
              <a:buFont typeface="+mj-lt"/>
              <a:buAutoNum type="arabicPeriod"/>
            </a:pPr>
            <a:r>
              <a:rPr lang="en-US" b="0" i="0" dirty="0">
                <a:solidFill>
                  <a:srgbClr val="000000"/>
                </a:solidFill>
                <a:effectLst/>
                <a:latin typeface="inter-regular"/>
              </a:rPr>
              <a:t>Each files has a path name as </a:t>
            </a:r>
            <a:r>
              <a:rPr lang="en-US" b="1" i="1" dirty="0">
                <a:solidFill>
                  <a:srgbClr val="000000"/>
                </a:solidFill>
                <a:effectLst/>
                <a:latin typeface="inter-bold"/>
              </a:rPr>
              <a:t>/User-name/directory-name/</a:t>
            </a:r>
            <a:endParaRPr lang="en-US" b="0" i="0" dirty="0">
              <a:solidFill>
                <a:srgbClr val="000000"/>
              </a:solidFill>
              <a:effectLst/>
              <a:latin typeface="inter-regular"/>
            </a:endParaRPr>
          </a:p>
          <a:p>
            <a:pPr algn="just">
              <a:buFont typeface="+mj-lt"/>
              <a:buAutoNum type="arabicPeriod"/>
            </a:pPr>
            <a:r>
              <a:rPr lang="en-US" b="0" i="0" dirty="0">
                <a:solidFill>
                  <a:srgbClr val="000000"/>
                </a:solidFill>
                <a:effectLst/>
                <a:latin typeface="inter-regular"/>
              </a:rPr>
              <a:t>Different users can have the same file name.</a:t>
            </a:r>
          </a:p>
          <a:p>
            <a:pPr algn="just">
              <a:buFont typeface="+mj-lt"/>
              <a:buAutoNum type="arabicPeriod"/>
            </a:pPr>
            <a:r>
              <a:rPr lang="en-US" b="0" i="0" dirty="0">
                <a:solidFill>
                  <a:srgbClr val="000000"/>
                </a:solidFill>
                <a:effectLst/>
                <a:latin typeface="inter-regular"/>
              </a:rPr>
              <a:t>Searching becomes more efficient as only one user's list needs to be traversed.</a:t>
            </a:r>
          </a:p>
          <a:p>
            <a:pPr algn="just">
              <a:buFont typeface="+mj-lt"/>
              <a:buAutoNum type="arabicPeriod"/>
            </a:pPr>
            <a:r>
              <a:rPr lang="en-US" b="0" i="0" dirty="0">
                <a:solidFill>
                  <a:srgbClr val="000000"/>
                </a:solidFill>
                <a:effectLst/>
                <a:latin typeface="inter-regular"/>
              </a:rPr>
              <a:t>The same kind of files cannot be grouped into a single directory for a particular user.</a:t>
            </a:r>
          </a:p>
          <a:p>
            <a:pPr algn="just"/>
            <a:r>
              <a:rPr lang="en-US" b="0" i="0" dirty="0">
                <a:solidFill>
                  <a:srgbClr val="333333"/>
                </a:solidFill>
                <a:effectLst/>
                <a:latin typeface="inter-regular"/>
              </a:rPr>
              <a:t>Every Operating System maintains a variable as </a:t>
            </a:r>
            <a:r>
              <a:rPr lang="en-US" b="1" i="0" dirty="0">
                <a:solidFill>
                  <a:srgbClr val="333333"/>
                </a:solidFill>
                <a:effectLst/>
                <a:latin typeface="inter-bold"/>
              </a:rPr>
              <a:t>PWD</a:t>
            </a:r>
            <a:r>
              <a:rPr lang="en-US" b="0" i="0" dirty="0">
                <a:solidFill>
                  <a:srgbClr val="333333"/>
                </a:solidFill>
                <a:effectLst/>
                <a:latin typeface="inter-regular"/>
              </a:rPr>
              <a:t> which contains the present directory name (present user name) so that the searching can be done appropriately.</a:t>
            </a:r>
          </a:p>
          <a:p>
            <a:endParaRPr lang="en-IN" dirty="0"/>
          </a:p>
        </p:txBody>
      </p:sp>
    </p:spTree>
    <p:extLst>
      <p:ext uri="{BB962C8B-B14F-4D97-AF65-F5344CB8AC3E}">
        <p14:creationId xmlns:p14="http://schemas.microsoft.com/office/powerpoint/2010/main" val="19334125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D52D-73AB-3E03-2186-07C982EA4AD7}"/>
              </a:ext>
            </a:extLst>
          </p:cNvPr>
          <p:cNvSpPr>
            <a:spLocks noGrp="1"/>
          </p:cNvSpPr>
          <p:nvPr>
            <p:ph type="title"/>
          </p:nvPr>
        </p:nvSpPr>
        <p:spPr>
          <a:xfrm>
            <a:off x="838200" y="206829"/>
            <a:ext cx="10515600" cy="696685"/>
          </a:xfrm>
        </p:spPr>
        <p:txBody>
          <a:bodyPr>
            <a:normAutofit/>
          </a:bodyPr>
          <a:lstStyle/>
          <a:p>
            <a:r>
              <a:rPr lang="en-IN" sz="4000" dirty="0"/>
              <a:t>File System Implementation in Operating System</a:t>
            </a:r>
          </a:p>
        </p:txBody>
      </p:sp>
      <p:sp>
        <p:nvSpPr>
          <p:cNvPr id="3" name="Content Placeholder 2">
            <a:extLst>
              <a:ext uri="{FF2B5EF4-FFF2-40B4-BE49-F238E27FC236}">
                <a16:creationId xmlns:a16="http://schemas.microsoft.com/office/drawing/2014/main" id="{4AE0DA7A-F56F-F7DE-0844-547D3189E71E}"/>
              </a:ext>
            </a:extLst>
          </p:cNvPr>
          <p:cNvSpPr>
            <a:spLocks noGrp="1"/>
          </p:cNvSpPr>
          <p:nvPr>
            <p:ph idx="1"/>
          </p:nvPr>
        </p:nvSpPr>
        <p:spPr>
          <a:xfrm>
            <a:off x="838200" y="903514"/>
            <a:ext cx="10515600" cy="5747657"/>
          </a:xfrm>
        </p:spPr>
        <p:txBody>
          <a:bodyPr>
            <a:normAutofit fontScale="77500" lnSpcReduction="20000"/>
          </a:bodyPr>
          <a:lstStyle/>
          <a:p>
            <a:r>
              <a:rPr lang="en-US" dirty="0"/>
              <a:t>A file is a collection of related information. The file system resides on secondary storage and provides efficient and convenient access to the disk by allowing data to be stored, located, and retrieved. </a:t>
            </a:r>
          </a:p>
          <a:p>
            <a:r>
              <a:rPr lang="en-US" dirty="0"/>
              <a:t>File System Structure: The file system structure refers to how the files and directories are organized and stored on the physical storage device. This includes the layout of file systems data structures such as the directory structure, file allocation table, and </a:t>
            </a:r>
            <a:r>
              <a:rPr lang="en-US" dirty="0" err="1"/>
              <a:t>inodes</a:t>
            </a:r>
            <a:r>
              <a:rPr lang="en-US" dirty="0"/>
              <a:t>.</a:t>
            </a:r>
          </a:p>
          <a:p>
            <a:r>
              <a:rPr lang="en-US" dirty="0"/>
              <a:t>File Allocation: The file allocation mechanism determines how files are allocated on the storage device. This can include allocation techniques such as contiguous allocation, linked allocation, indexed allocation, or a combination of these techniques.</a:t>
            </a:r>
          </a:p>
          <a:p>
            <a:r>
              <a:rPr lang="en-US" dirty="0"/>
              <a:t>Data Retrieval: The file system implementation determines how the data is read from and written to the physical storage device. This includes strategies such as buffering and caching to optimize file I/O performance.</a:t>
            </a:r>
          </a:p>
          <a:p>
            <a:r>
              <a:rPr lang="en-US" dirty="0"/>
              <a:t>Security and Permissions: The file system implementation includes features for managing file security and permissions. This includes access control lists (ACLs), file permissions, and ownership management.</a:t>
            </a:r>
          </a:p>
          <a:p>
            <a:r>
              <a:rPr lang="en-US" dirty="0"/>
              <a:t>Recovery and Fault Tolerance: The file system implementation includes features for recovering from system failures and maintaining data integrity. This includes techniques such as journaling and file system snapshots.</a:t>
            </a:r>
            <a:endParaRPr lang="en-IN" dirty="0"/>
          </a:p>
        </p:txBody>
      </p:sp>
    </p:spTree>
    <p:extLst>
      <p:ext uri="{BB962C8B-B14F-4D97-AF65-F5344CB8AC3E}">
        <p14:creationId xmlns:p14="http://schemas.microsoft.com/office/powerpoint/2010/main" val="10757184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F2E3-B75B-A183-4BAC-1FF7AA19F80C}"/>
              </a:ext>
            </a:extLst>
          </p:cNvPr>
          <p:cNvSpPr>
            <a:spLocks noGrp="1"/>
          </p:cNvSpPr>
          <p:nvPr>
            <p:ph type="title"/>
          </p:nvPr>
        </p:nvSpPr>
        <p:spPr/>
        <p:txBody>
          <a:bodyPr/>
          <a:lstStyle/>
          <a:p>
            <a:r>
              <a:rPr lang="en-IN" dirty="0" err="1"/>
              <a:t>Contt</a:t>
            </a:r>
            <a:r>
              <a:rPr lang="en-IN" dirty="0"/>
              <a:t>..</a:t>
            </a:r>
          </a:p>
        </p:txBody>
      </p:sp>
      <p:pic>
        <p:nvPicPr>
          <p:cNvPr id="4" name="Content Placeholder 3">
            <a:extLst>
              <a:ext uri="{FF2B5EF4-FFF2-40B4-BE49-F238E27FC236}">
                <a16:creationId xmlns:a16="http://schemas.microsoft.com/office/drawing/2014/main" id="{369ACED9-1985-1D1E-D240-3E0DDB275285}"/>
              </a:ext>
            </a:extLst>
          </p:cNvPr>
          <p:cNvPicPr>
            <a:picLocks noGrp="1" noChangeAspect="1"/>
          </p:cNvPicPr>
          <p:nvPr>
            <p:ph idx="1"/>
          </p:nvPr>
        </p:nvPicPr>
        <p:blipFill>
          <a:blip r:embed="rId2"/>
          <a:stretch>
            <a:fillRect/>
          </a:stretch>
        </p:blipFill>
        <p:spPr>
          <a:xfrm>
            <a:off x="3243943" y="2158206"/>
            <a:ext cx="5747657" cy="4220823"/>
          </a:xfrm>
          <a:prstGeom prst="rect">
            <a:avLst/>
          </a:prstGeom>
        </p:spPr>
      </p:pic>
    </p:spTree>
    <p:extLst>
      <p:ext uri="{BB962C8B-B14F-4D97-AF65-F5344CB8AC3E}">
        <p14:creationId xmlns:p14="http://schemas.microsoft.com/office/powerpoint/2010/main" val="5481820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9BB8-AD8A-EAE9-E7E5-FF1F39F8A9C9}"/>
              </a:ext>
            </a:extLst>
          </p:cNvPr>
          <p:cNvSpPr>
            <a:spLocks noGrp="1"/>
          </p:cNvSpPr>
          <p:nvPr>
            <p:ph type="title"/>
          </p:nvPr>
        </p:nvSpPr>
        <p:spPr>
          <a:xfrm>
            <a:off x="838200" y="185057"/>
            <a:ext cx="10515600" cy="598715"/>
          </a:xfrm>
        </p:spPr>
        <p:txBody>
          <a:bodyPr>
            <a:normAutofit fontScale="90000"/>
          </a:bodyPr>
          <a:lstStyle/>
          <a:p>
            <a:r>
              <a:rPr lang="en-IN" b="1" dirty="0"/>
              <a:t>File system Implementation Issues</a:t>
            </a:r>
          </a:p>
        </p:txBody>
      </p:sp>
      <p:sp>
        <p:nvSpPr>
          <p:cNvPr id="3" name="Content Placeholder 2">
            <a:extLst>
              <a:ext uri="{FF2B5EF4-FFF2-40B4-BE49-F238E27FC236}">
                <a16:creationId xmlns:a16="http://schemas.microsoft.com/office/drawing/2014/main" id="{581F3063-F213-7B7B-3C67-AA5FDAA852D7}"/>
              </a:ext>
            </a:extLst>
          </p:cNvPr>
          <p:cNvSpPr>
            <a:spLocks noGrp="1"/>
          </p:cNvSpPr>
          <p:nvPr>
            <p:ph idx="1"/>
          </p:nvPr>
        </p:nvSpPr>
        <p:spPr>
          <a:xfrm>
            <a:off x="838200" y="925286"/>
            <a:ext cx="10515600" cy="5251677"/>
          </a:xfrm>
        </p:spPr>
        <p:txBody>
          <a:bodyPr>
            <a:normAutofit fontScale="77500" lnSpcReduction="20000"/>
          </a:bodyPr>
          <a:lstStyle/>
          <a:p>
            <a:pPr algn="just"/>
            <a:r>
              <a:rPr lang="en-US" b="1" dirty="0"/>
              <a:t>Management of disc space: </a:t>
            </a:r>
            <a:r>
              <a:rPr lang="en-US" dirty="0"/>
              <a:t>To prevent space wastage and to guarantee that files can always be stored in contiguous blocks, file systems must manage disc space effectively. Free space management, fragmentation prevention, and garbage collection are methods for managing disc space.</a:t>
            </a:r>
          </a:p>
          <a:p>
            <a:pPr algn="just"/>
            <a:endParaRPr lang="en-US" dirty="0"/>
          </a:p>
          <a:p>
            <a:pPr algn="just"/>
            <a:r>
              <a:rPr lang="en-US" b="1" dirty="0"/>
              <a:t>Checking for consistency and repairing errors: </a:t>
            </a:r>
            <a:r>
              <a:rPr lang="en-US" dirty="0"/>
              <a:t>The consistency and error-free operation of files and directories must be guaranteed by file systems. Journaling, </a:t>
            </a:r>
            <a:r>
              <a:rPr lang="en-US" dirty="0" err="1"/>
              <a:t>checksumming</a:t>
            </a:r>
            <a:r>
              <a:rPr lang="en-US" dirty="0"/>
              <a:t>, and redundancy are methods for consistency checking and error recovery. File systems may need to perform recovery operations if errors happen in order to restore lost or damaged data.</a:t>
            </a:r>
          </a:p>
          <a:p>
            <a:pPr algn="just"/>
            <a:endParaRPr lang="en-US" dirty="0"/>
          </a:p>
          <a:p>
            <a:pPr algn="just"/>
            <a:r>
              <a:rPr lang="en-US" b="1" dirty="0"/>
              <a:t>Locking files and managing concurrency:</a:t>
            </a:r>
            <a:r>
              <a:rPr lang="en-US" dirty="0"/>
              <a:t> To prevent conflicts and guarantee data integrity, file systems must control how many processes or users can access a file at once. File locking, semaphore, and other concurrency-controlling methods are available.</a:t>
            </a:r>
          </a:p>
          <a:p>
            <a:pPr algn="just"/>
            <a:endParaRPr lang="en-US" dirty="0"/>
          </a:p>
          <a:p>
            <a:pPr algn="just"/>
            <a:r>
              <a:rPr lang="en-US" b="1" dirty="0"/>
              <a:t>Performance optimization:</a:t>
            </a:r>
            <a:r>
              <a:rPr lang="en-US" dirty="0"/>
              <a:t> File systems need to optimize performance by reducing file access times, increasing throughput, and minimizing system overhead. Caching, buffering, prefetching, and parallel processing are methods for improving performance.</a:t>
            </a:r>
            <a:endParaRPr lang="en-IN" dirty="0"/>
          </a:p>
        </p:txBody>
      </p:sp>
    </p:spTree>
    <p:extLst>
      <p:ext uri="{BB962C8B-B14F-4D97-AF65-F5344CB8AC3E}">
        <p14:creationId xmlns:p14="http://schemas.microsoft.com/office/powerpoint/2010/main" val="2118378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2FD86-4528-BEB9-007C-D6A8B721E461}"/>
              </a:ext>
            </a:extLst>
          </p:cNvPr>
          <p:cNvSpPr>
            <a:spLocks noGrp="1"/>
          </p:cNvSpPr>
          <p:nvPr>
            <p:ph type="title"/>
          </p:nvPr>
        </p:nvSpPr>
        <p:spPr>
          <a:xfrm>
            <a:off x="838200" y="108858"/>
            <a:ext cx="10515600" cy="696686"/>
          </a:xfrm>
        </p:spPr>
        <p:txBody>
          <a:bodyPr>
            <a:normAutofit/>
          </a:bodyPr>
          <a:lstStyle/>
          <a:p>
            <a:r>
              <a:rPr lang="en-US" sz="4000" dirty="0"/>
              <a:t>Key Steps Involved In File System Implementation</a:t>
            </a:r>
            <a:endParaRPr lang="en-IN" sz="4000" dirty="0"/>
          </a:p>
        </p:txBody>
      </p:sp>
      <p:sp>
        <p:nvSpPr>
          <p:cNvPr id="3" name="Content Placeholder 2">
            <a:extLst>
              <a:ext uri="{FF2B5EF4-FFF2-40B4-BE49-F238E27FC236}">
                <a16:creationId xmlns:a16="http://schemas.microsoft.com/office/drawing/2014/main" id="{75149498-F524-C4A8-4C25-550F9BC1C7C8}"/>
              </a:ext>
            </a:extLst>
          </p:cNvPr>
          <p:cNvSpPr>
            <a:spLocks noGrp="1"/>
          </p:cNvSpPr>
          <p:nvPr>
            <p:ph idx="1"/>
          </p:nvPr>
        </p:nvSpPr>
        <p:spPr>
          <a:xfrm>
            <a:off x="838200" y="805544"/>
            <a:ext cx="10515600" cy="5371419"/>
          </a:xfrm>
        </p:spPr>
        <p:txBody>
          <a:bodyPr>
            <a:normAutofit fontScale="70000" lnSpcReduction="20000"/>
          </a:bodyPr>
          <a:lstStyle/>
          <a:p>
            <a:pPr algn="just"/>
            <a:r>
              <a:rPr lang="en-US" dirty="0"/>
              <a:t>File system implementation is a crucial component of an operating system, as it provides an interface between the user and the physical storage device. Here are the key steps involved in file system implementation:</a:t>
            </a:r>
          </a:p>
          <a:p>
            <a:pPr algn="just"/>
            <a:r>
              <a:rPr lang="en-US" b="1" dirty="0"/>
              <a:t>Partitioning the storage device:</a:t>
            </a:r>
            <a:r>
              <a:rPr lang="en-US" dirty="0"/>
              <a:t> The first step in file system implementation is to partition the physical storage device into one or more logical partitions. Each partition is formatted with a specific file system that defines the way files and directories are organized and stored.</a:t>
            </a:r>
          </a:p>
          <a:p>
            <a:pPr algn="just"/>
            <a:r>
              <a:rPr lang="en-US" b="1" dirty="0"/>
              <a:t>File system structures: </a:t>
            </a:r>
            <a:r>
              <a:rPr lang="en-US" dirty="0"/>
              <a:t>File system structures are the data structures used by the operating system to manage files and directories. Some of the key file system structures include the superblock, </a:t>
            </a:r>
            <a:r>
              <a:rPr lang="en-US" dirty="0" err="1"/>
              <a:t>inode</a:t>
            </a:r>
            <a:r>
              <a:rPr lang="en-US" dirty="0"/>
              <a:t> table, directory structure, and file allocation table.</a:t>
            </a:r>
          </a:p>
          <a:p>
            <a:pPr algn="just"/>
            <a:r>
              <a:rPr lang="en-US" b="1" dirty="0"/>
              <a:t>Allocation of storage space: </a:t>
            </a:r>
            <a:r>
              <a:rPr lang="en-US" dirty="0"/>
              <a:t>The file system must allocate storage space for each file and directory on the storage device. There are several methods for allocating storage space, including contiguous, linked, and indexed allocation.</a:t>
            </a:r>
          </a:p>
          <a:p>
            <a:pPr algn="just"/>
            <a:r>
              <a:rPr lang="en-US" b="1" dirty="0"/>
              <a:t>File operations: </a:t>
            </a:r>
            <a:r>
              <a:rPr lang="en-US" dirty="0"/>
              <a:t>The file system provides a set of operations that can be performed on files and directories, including create, delete, read, write, open, close, and seek. These operations are implemented using the file system structures and the storage allocation methods.</a:t>
            </a:r>
          </a:p>
          <a:p>
            <a:pPr algn="just"/>
            <a:r>
              <a:rPr lang="en-US" b="1" dirty="0"/>
              <a:t>File system security: </a:t>
            </a:r>
            <a:r>
              <a:rPr lang="en-US" dirty="0"/>
              <a:t>The file system must provide security mechanisms to protect files and directories from unauthorized access or modification. This can be done by setting file permissions, access control lists, or encryption.</a:t>
            </a:r>
          </a:p>
          <a:p>
            <a:pPr algn="just"/>
            <a:r>
              <a:rPr lang="en-US" b="1" dirty="0"/>
              <a:t>File system maintenance: </a:t>
            </a:r>
            <a:r>
              <a:rPr lang="en-US" dirty="0"/>
              <a:t>The file system must be maintained to ensure efficient and reliable operation. This includes tasks such as disk defragmentation, disk checking, and backup and recovery.</a:t>
            </a:r>
            <a:endParaRPr lang="en-IN" dirty="0"/>
          </a:p>
        </p:txBody>
      </p:sp>
    </p:spTree>
    <p:extLst>
      <p:ext uri="{BB962C8B-B14F-4D97-AF65-F5344CB8AC3E}">
        <p14:creationId xmlns:p14="http://schemas.microsoft.com/office/powerpoint/2010/main" val="187172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410C-F470-5D99-C31A-550706BC18C8}"/>
              </a:ext>
            </a:extLst>
          </p:cNvPr>
          <p:cNvSpPr>
            <a:spLocks noGrp="1"/>
          </p:cNvSpPr>
          <p:nvPr>
            <p:ph type="title"/>
          </p:nvPr>
        </p:nvSpPr>
        <p:spPr>
          <a:xfrm>
            <a:off x="838200" y="365126"/>
            <a:ext cx="10515600" cy="516618"/>
          </a:xfrm>
        </p:spPr>
        <p:txBody>
          <a:bodyPr>
            <a:noAutofit/>
          </a:bodyPr>
          <a:lstStyle/>
          <a:p>
            <a:r>
              <a:rPr lang="en-US" sz="3600" b="1" i="0" dirty="0">
                <a:solidFill>
                  <a:srgbClr val="000000"/>
                </a:solidFill>
                <a:effectLst/>
                <a:latin typeface="var(--ff-lato)"/>
              </a:rPr>
              <a:t>Protection and Security in Operating System</a:t>
            </a:r>
            <a:br>
              <a:rPr lang="en-US" sz="3600" b="1" i="0" dirty="0">
                <a:solidFill>
                  <a:srgbClr val="000000"/>
                </a:solidFill>
                <a:effectLst/>
                <a:latin typeface="var(--ff-lato)"/>
              </a:rPr>
            </a:br>
            <a:endParaRPr lang="en-IN" sz="3600" dirty="0"/>
          </a:p>
        </p:txBody>
      </p:sp>
      <p:sp>
        <p:nvSpPr>
          <p:cNvPr id="3" name="Content Placeholder 2">
            <a:extLst>
              <a:ext uri="{FF2B5EF4-FFF2-40B4-BE49-F238E27FC236}">
                <a16:creationId xmlns:a16="http://schemas.microsoft.com/office/drawing/2014/main" id="{87AB7CB6-2043-A2F2-2AB6-5B44F014ED90}"/>
              </a:ext>
            </a:extLst>
          </p:cNvPr>
          <p:cNvSpPr>
            <a:spLocks noGrp="1"/>
          </p:cNvSpPr>
          <p:nvPr>
            <p:ph idx="1"/>
          </p:nvPr>
        </p:nvSpPr>
        <p:spPr>
          <a:xfrm>
            <a:off x="838200" y="685800"/>
            <a:ext cx="10515600" cy="5491163"/>
          </a:xfrm>
        </p:spPr>
        <p:txBody>
          <a:bodyPr>
            <a:normAutofit fontScale="92500" lnSpcReduction="20000"/>
          </a:bodyPr>
          <a:lstStyle/>
          <a:p>
            <a:pPr algn="just"/>
            <a:r>
              <a:rPr lang="en-US" sz="2000" b="0" i="0" dirty="0">
                <a:solidFill>
                  <a:srgbClr val="000000"/>
                </a:solidFill>
                <a:effectLst/>
                <a:latin typeface="Verdana" panose="020B0604030504040204" pitchFamily="34" charset="0"/>
              </a:rPr>
              <a:t>Protection and security requires that computer resources such as </a:t>
            </a:r>
            <a:r>
              <a:rPr lang="en-US" sz="2000" b="1" i="0" u="none" strike="noStrike" dirty="0">
                <a:solidFill>
                  <a:srgbClr val="008000"/>
                </a:solidFill>
                <a:effectLst/>
                <a:latin typeface="Verdana" panose="020B0604030504040204" pitchFamily="34" charset="0"/>
              </a:rPr>
              <a:t>CPU</a:t>
            </a:r>
            <a:r>
              <a:rPr lang="en-US" sz="2000" b="0" i="0" dirty="0">
                <a:solidFill>
                  <a:srgbClr val="000000"/>
                </a:solidFill>
                <a:effectLst/>
                <a:latin typeface="Verdana" panose="020B0604030504040204" pitchFamily="34" charset="0"/>
              </a:rPr>
              <a:t>, </a:t>
            </a:r>
            <a:r>
              <a:rPr lang="en-US" sz="2000" b="1" i="0" u="none" strike="noStrike" dirty="0" err="1">
                <a:solidFill>
                  <a:srgbClr val="008000"/>
                </a:solidFill>
                <a:effectLst/>
                <a:latin typeface="Verdana" panose="020B0604030504040204" pitchFamily="34" charset="0"/>
                <a:hlinkClick r:id="rId2"/>
              </a:rPr>
              <a:t>softwares</a:t>
            </a:r>
            <a:r>
              <a:rPr lang="en-US" sz="2000" b="0" i="0" dirty="0">
                <a:solidFill>
                  <a:srgbClr val="000000"/>
                </a:solidFill>
                <a:effectLst/>
                <a:latin typeface="Verdana" panose="020B0604030504040204" pitchFamily="34" charset="0"/>
              </a:rPr>
              <a:t>, </a:t>
            </a:r>
            <a:r>
              <a:rPr lang="en-US" sz="2000" b="1" i="0" u="none" strike="noStrike" dirty="0">
                <a:solidFill>
                  <a:srgbClr val="008000"/>
                </a:solidFill>
                <a:effectLst/>
                <a:latin typeface="Verdana" panose="020B0604030504040204" pitchFamily="34" charset="0"/>
              </a:rPr>
              <a:t>memory</a:t>
            </a:r>
            <a:r>
              <a:rPr lang="en-US" sz="2000" b="0" i="0" dirty="0">
                <a:solidFill>
                  <a:srgbClr val="000000"/>
                </a:solidFill>
                <a:effectLst/>
                <a:latin typeface="Verdana" panose="020B0604030504040204" pitchFamily="34" charset="0"/>
              </a:rPr>
              <a:t> etc. are protected. This extends to the operating system as well as the data in the system. This can be done by ensuring integrity, confidentiality and availability in the operating system. The system must be protect against unauthorized access, viruses, worms etc.</a:t>
            </a:r>
          </a:p>
          <a:p>
            <a:pPr marL="0" indent="0" algn="just">
              <a:buNone/>
            </a:pPr>
            <a:r>
              <a:rPr lang="en-US" sz="2400" b="1" i="0" dirty="0">
                <a:solidFill>
                  <a:srgbClr val="000000"/>
                </a:solidFill>
                <a:effectLst/>
                <a:latin typeface="var(--ff-lato)"/>
              </a:rPr>
              <a:t>    Threats to Protection and Security</a:t>
            </a:r>
          </a:p>
          <a:p>
            <a:pPr algn="just"/>
            <a:r>
              <a:rPr lang="en-US" sz="1400" b="0" i="0" dirty="0">
                <a:solidFill>
                  <a:srgbClr val="000000"/>
                </a:solidFill>
                <a:effectLst/>
                <a:latin typeface="Verdana" panose="020B0604030504040204" pitchFamily="34" charset="0"/>
              </a:rPr>
              <a:t>A threat is a program that is malicious in nature and leads to harmful effects for the system. Some of the common threats that occur in a system are −</a:t>
            </a:r>
          </a:p>
          <a:p>
            <a:pPr marL="0" indent="0" algn="l">
              <a:buNone/>
            </a:pPr>
            <a:r>
              <a:rPr lang="en-US" sz="1400" b="1" i="0" dirty="0">
                <a:effectLst/>
                <a:latin typeface="Verdana" panose="020B0604030504040204" pitchFamily="34" charset="0"/>
              </a:rPr>
              <a:t>     Virus</a:t>
            </a:r>
          </a:p>
          <a:p>
            <a:pPr algn="just"/>
            <a:r>
              <a:rPr lang="en-US" sz="1400" b="0" i="0" dirty="0">
                <a:solidFill>
                  <a:srgbClr val="000000"/>
                </a:solidFill>
                <a:effectLst/>
                <a:latin typeface="Verdana" panose="020B0604030504040204" pitchFamily="34" charset="0"/>
              </a:rPr>
              <a:t>Viruses are generally small snippets of code embedded in a system. They are very dangerous and can corrupt files, destroy data, crash systems etc. They can also spread further by replicating themselves as required.</a:t>
            </a:r>
          </a:p>
          <a:p>
            <a:pPr marL="0" indent="0" algn="l">
              <a:buNone/>
            </a:pPr>
            <a:r>
              <a:rPr lang="en-US" sz="1400" b="1" i="0" dirty="0">
                <a:effectLst/>
                <a:latin typeface="Verdana" panose="020B0604030504040204" pitchFamily="34" charset="0"/>
              </a:rPr>
              <a:t>     Trojan Horse</a:t>
            </a:r>
          </a:p>
          <a:p>
            <a:pPr algn="just"/>
            <a:r>
              <a:rPr lang="en-US" sz="1400" b="0" i="0" dirty="0">
                <a:solidFill>
                  <a:srgbClr val="000000"/>
                </a:solidFill>
                <a:effectLst/>
                <a:latin typeface="Verdana" panose="020B0604030504040204" pitchFamily="34" charset="0"/>
              </a:rPr>
              <a:t>A trojan horse can secretly access the login details of a system. Then a malicious user can use these to enter the system as a harmless being and wreak havoc.</a:t>
            </a:r>
          </a:p>
          <a:p>
            <a:pPr marL="0" indent="0" algn="l">
              <a:buNone/>
            </a:pPr>
            <a:r>
              <a:rPr lang="en-US" sz="1400" b="1" i="0" dirty="0">
                <a:effectLst/>
                <a:latin typeface="Verdana" panose="020B0604030504040204" pitchFamily="34" charset="0"/>
              </a:rPr>
              <a:t>      Trap Door</a:t>
            </a:r>
          </a:p>
          <a:p>
            <a:pPr algn="just"/>
            <a:r>
              <a:rPr lang="en-US" sz="1400" b="0" i="0" dirty="0">
                <a:solidFill>
                  <a:srgbClr val="000000"/>
                </a:solidFill>
                <a:effectLst/>
                <a:latin typeface="Verdana" panose="020B0604030504040204" pitchFamily="34" charset="0"/>
              </a:rPr>
              <a:t>A trap door is a security breach that may be present in a system without the knowledge of the users. It can be exploited to harm the data or files in a system by malicious people.</a:t>
            </a:r>
          </a:p>
          <a:p>
            <a:pPr marL="0" indent="0" algn="l">
              <a:buNone/>
            </a:pPr>
            <a:r>
              <a:rPr lang="en-US" sz="1400" b="1" i="0" dirty="0">
                <a:effectLst/>
                <a:latin typeface="Verdana" panose="020B0604030504040204" pitchFamily="34" charset="0"/>
              </a:rPr>
              <a:t>       Worm</a:t>
            </a:r>
          </a:p>
          <a:p>
            <a:pPr algn="just"/>
            <a:r>
              <a:rPr lang="en-US" sz="1400" b="0" i="0" dirty="0">
                <a:solidFill>
                  <a:srgbClr val="000000"/>
                </a:solidFill>
                <a:effectLst/>
                <a:latin typeface="Verdana" panose="020B0604030504040204" pitchFamily="34" charset="0"/>
              </a:rPr>
              <a:t>A worm can destroy a system by using its resources to extreme levels. It can generate multiple copies which claim all the resources and don't allow any other processes to access them. A worm can shut down a whole network in this way.</a:t>
            </a:r>
          </a:p>
          <a:p>
            <a:pPr marL="0" indent="0" algn="l">
              <a:buNone/>
            </a:pPr>
            <a:r>
              <a:rPr lang="en-US" sz="1400" b="1" i="0" dirty="0">
                <a:effectLst/>
                <a:latin typeface="Verdana" panose="020B0604030504040204" pitchFamily="34" charset="0"/>
              </a:rPr>
              <a:t>       Denial of Service</a:t>
            </a:r>
          </a:p>
          <a:p>
            <a:pPr algn="just"/>
            <a:r>
              <a:rPr lang="en-US" sz="1400" b="0" i="0" dirty="0">
                <a:solidFill>
                  <a:srgbClr val="000000"/>
                </a:solidFill>
                <a:effectLst/>
                <a:latin typeface="Verdana" panose="020B0604030504040204" pitchFamily="34" charset="0"/>
              </a:rPr>
              <a:t>These type of attacks do not allow the legitimate users to access a system. It overwhelms the system with requests so it is overwhelmed and cannot work properly for other user.</a:t>
            </a:r>
          </a:p>
          <a:p>
            <a:pPr algn="just"/>
            <a:endParaRPr lang="en-IN" sz="2000" dirty="0"/>
          </a:p>
        </p:txBody>
      </p:sp>
    </p:spTree>
    <p:extLst>
      <p:ext uri="{BB962C8B-B14F-4D97-AF65-F5344CB8AC3E}">
        <p14:creationId xmlns:p14="http://schemas.microsoft.com/office/powerpoint/2010/main" val="3115342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C6C26-E5F8-72CA-864F-995CFE68C708}"/>
              </a:ext>
            </a:extLst>
          </p:cNvPr>
          <p:cNvSpPr>
            <a:spLocks noGrp="1"/>
          </p:cNvSpPr>
          <p:nvPr>
            <p:ph type="title"/>
          </p:nvPr>
        </p:nvSpPr>
        <p:spPr>
          <a:xfrm>
            <a:off x="838200" y="365125"/>
            <a:ext cx="10515600" cy="538389"/>
          </a:xfrm>
        </p:spPr>
        <p:txBody>
          <a:bodyPr>
            <a:normAutofit fontScale="90000"/>
          </a:bodyPr>
          <a:lstStyle/>
          <a:p>
            <a:r>
              <a:rPr lang="en-US" b="0" i="0" dirty="0">
                <a:solidFill>
                  <a:srgbClr val="000000"/>
                </a:solidFill>
                <a:effectLst/>
                <a:latin typeface="var(--ff-lato)"/>
              </a:rPr>
              <a:t>Protection and Security Methods</a:t>
            </a:r>
            <a:br>
              <a:rPr lang="en-US" b="0" i="0" dirty="0">
                <a:solidFill>
                  <a:srgbClr val="000000"/>
                </a:solidFill>
                <a:effectLst/>
                <a:latin typeface="var(--ff-lato)"/>
              </a:rPr>
            </a:br>
            <a:endParaRPr lang="en-IN" dirty="0"/>
          </a:p>
        </p:txBody>
      </p:sp>
      <p:sp>
        <p:nvSpPr>
          <p:cNvPr id="3" name="Content Placeholder 2">
            <a:extLst>
              <a:ext uri="{FF2B5EF4-FFF2-40B4-BE49-F238E27FC236}">
                <a16:creationId xmlns:a16="http://schemas.microsoft.com/office/drawing/2014/main" id="{50239052-C2F1-4257-C045-26293C6BECC4}"/>
              </a:ext>
            </a:extLst>
          </p:cNvPr>
          <p:cNvSpPr>
            <a:spLocks noGrp="1"/>
          </p:cNvSpPr>
          <p:nvPr>
            <p:ph idx="1"/>
          </p:nvPr>
        </p:nvSpPr>
        <p:spPr>
          <a:xfrm>
            <a:off x="838200" y="729343"/>
            <a:ext cx="10515600" cy="5763532"/>
          </a:xfrm>
        </p:spPr>
        <p:txBody>
          <a:bodyPr>
            <a:normAutofit lnSpcReduction="10000"/>
          </a:bodyPr>
          <a:lstStyle/>
          <a:p>
            <a:pPr algn="just"/>
            <a:r>
              <a:rPr lang="en-US" b="0" i="0" dirty="0">
                <a:solidFill>
                  <a:srgbClr val="000000"/>
                </a:solidFill>
                <a:effectLst/>
                <a:latin typeface="Verdana" panose="020B0604030504040204" pitchFamily="34" charset="0"/>
              </a:rPr>
              <a:t>The different methods that may provide protect and security for different computer systems are −</a:t>
            </a:r>
          </a:p>
          <a:p>
            <a:pPr marL="0" indent="0" algn="l">
              <a:buNone/>
            </a:pPr>
            <a:r>
              <a:rPr lang="en-US" b="0" i="0" dirty="0">
                <a:effectLst/>
                <a:latin typeface="Verdana" panose="020B0604030504040204" pitchFamily="34" charset="0"/>
              </a:rPr>
              <a:t>   </a:t>
            </a:r>
            <a:r>
              <a:rPr lang="en-US" b="1" i="0" dirty="0">
                <a:effectLst/>
                <a:latin typeface="Verdana" panose="020B0604030504040204" pitchFamily="34" charset="0"/>
              </a:rPr>
              <a:t>Authentication</a:t>
            </a:r>
          </a:p>
          <a:p>
            <a:pPr algn="just"/>
            <a:r>
              <a:rPr lang="en-US" b="0" i="0" dirty="0">
                <a:solidFill>
                  <a:srgbClr val="000000"/>
                </a:solidFill>
                <a:effectLst/>
                <a:latin typeface="Verdana" panose="020B0604030504040204" pitchFamily="34" charset="0"/>
              </a:rPr>
              <a:t>This deals with identifying each user in the system and making sure they are who they claim to be. The operating system makes sure that all the users are authenticated before they access the system. The different ways to make sure that the users are authentic are:</a:t>
            </a:r>
          </a:p>
          <a:p>
            <a:pPr algn="just"/>
            <a:r>
              <a:rPr lang="en-IN" b="1" i="0" dirty="0">
                <a:solidFill>
                  <a:srgbClr val="000000"/>
                </a:solidFill>
                <a:effectLst/>
                <a:latin typeface="Verdana" panose="020B0604030504040204" pitchFamily="34" charset="0"/>
              </a:rPr>
              <a:t>Username/ Password</a:t>
            </a:r>
            <a:endParaRPr lang="en-US" dirty="0">
              <a:solidFill>
                <a:srgbClr val="000000"/>
              </a:solidFill>
              <a:latin typeface="Verdana" panose="020B0604030504040204" pitchFamily="34" charset="0"/>
            </a:endParaRPr>
          </a:p>
          <a:p>
            <a:pPr algn="just"/>
            <a:r>
              <a:rPr lang="en-IN" b="1" i="0" dirty="0">
                <a:solidFill>
                  <a:srgbClr val="000000"/>
                </a:solidFill>
                <a:effectLst/>
                <a:latin typeface="Verdana" panose="020B0604030504040204" pitchFamily="34" charset="0"/>
              </a:rPr>
              <a:t>User Key/ User Card</a:t>
            </a:r>
            <a:endParaRPr lang="en-US" b="1" i="0" dirty="0">
              <a:solidFill>
                <a:srgbClr val="000000"/>
              </a:solidFill>
              <a:effectLst/>
              <a:latin typeface="Verdana" panose="020B0604030504040204" pitchFamily="34" charset="0"/>
            </a:endParaRPr>
          </a:p>
          <a:p>
            <a:pPr algn="just"/>
            <a:r>
              <a:rPr lang="en-IN" b="1" i="0" dirty="0">
                <a:solidFill>
                  <a:srgbClr val="000000"/>
                </a:solidFill>
                <a:effectLst/>
                <a:latin typeface="Verdana" panose="020B0604030504040204" pitchFamily="34" charset="0"/>
              </a:rPr>
              <a:t>User Attribute Identification</a:t>
            </a:r>
            <a:endParaRPr lang="en-US" b="1" dirty="0">
              <a:solidFill>
                <a:srgbClr val="000000"/>
              </a:solidFill>
              <a:latin typeface="Verdana" panose="020B0604030504040204" pitchFamily="34" charset="0"/>
            </a:endParaRPr>
          </a:p>
          <a:p>
            <a:pPr algn="just"/>
            <a:r>
              <a:rPr lang="en-IN" b="1" i="0" dirty="0">
                <a:effectLst/>
                <a:latin typeface="Verdana" panose="020B0604030504040204" pitchFamily="34" charset="0"/>
              </a:rPr>
              <a:t>One Time Password</a:t>
            </a:r>
          </a:p>
          <a:p>
            <a:pPr algn="just"/>
            <a:endParaRPr lang="en-US" b="0" i="0" dirty="0">
              <a:solidFill>
                <a:srgbClr val="000000"/>
              </a:solidFill>
              <a:effectLst/>
              <a:latin typeface="Verdana" panose="020B0604030504040204" pitchFamily="34" charset="0"/>
            </a:endParaRPr>
          </a:p>
          <a:p>
            <a:pPr algn="just"/>
            <a:endParaRPr lang="en-US" b="0" i="0" dirty="0">
              <a:solidFill>
                <a:srgbClr val="000000"/>
              </a:solidFill>
              <a:effectLst/>
              <a:latin typeface="Verdana" panose="020B0604030504040204" pitchFamily="34" charset="0"/>
            </a:endParaRPr>
          </a:p>
          <a:p>
            <a:endParaRPr lang="en-IN" dirty="0"/>
          </a:p>
        </p:txBody>
      </p:sp>
    </p:spTree>
    <p:extLst>
      <p:ext uri="{BB962C8B-B14F-4D97-AF65-F5344CB8AC3E}">
        <p14:creationId xmlns:p14="http://schemas.microsoft.com/office/powerpoint/2010/main" val="647302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4133</Words>
  <Application>Microsoft Office PowerPoint</Application>
  <PresentationFormat>Widescreen</PresentationFormat>
  <Paragraphs>254</Paragraphs>
  <Slides>44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Arial</vt:lpstr>
      <vt:lpstr>Calibri</vt:lpstr>
      <vt:lpstr>Calibri Light</vt:lpstr>
      <vt:lpstr>erdana</vt:lpstr>
      <vt:lpstr>Google Sans</vt:lpstr>
      <vt:lpstr>inter-bold</vt:lpstr>
      <vt:lpstr>inter-regular</vt:lpstr>
      <vt:lpstr>Nunito</vt:lpstr>
      <vt:lpstr>var(--ff-lato)</vt:lpstr>
      <vt:lpstr>Verdana</vt:lpstr>
      <vt:lpstr>Office Theme</vt:lpstr>
      <vt:lpstr>IO Management &amp; Disk Scheduling</vt:lpstr>
      <vt:lpstr>Introduction</vt:lpstr>
      <vt:lpstr>Contt.</vt:lpstr>
      <vt:lpstr>I/O Devices</vt:lpstr>
      <vt:lpstr>I/O Subsystems</vt:lpstr>
      <vt:lpstr>I/O Buffering</vt:lpstr>
      <vt:lpstr>Contt.</vt:lpstr>
      <vt:lpstr>contt</vt:lpstr>
      <vt:lpstr>Disk Storage and Disk Scheduling</vt:lpstr>
      <vt:lpstr>Contt..</vt:lpstr>
      <vt:lpstr>PowerPoint Presentation</vt:lpstr>
      <vt:lpstr>Disk Scheduling Algorithms </vt:lpstr>
      <vt:lpstr>Look Scheduling </vt:lpstr>
      <vt:lpstr>Contt..</vt:lpstr>
      <vt:lpstr>C Look Scheduling </vt:lpstr>
      <vt:lpstr>Contt…</vt:lpstr>
      <vt:lpstr>FCFS scheduling algorithm </vt:lpstr>
      <vt:lpstr>Contt..</vt:lpstr>
      <vt:lpstr>Contt..</vt:lpstr>
      <vt:lpstr>SSTF (shortest seek time first) algorithm </vt:lpstr>
      <vt:lpstr>Contt.</vt:lpstr>
      <vt:lpstr>SCAN and C-SCAN algorithm </vt:lpstr>
      <vt:lpstr>Contt...</vt:lpstr>
      <vt:lpstr>C-SCAN algorithm </vt:lpstr>
      <vt:lpstr>Contt..</vt:lpstr>
      <vt:lpstr>File System</vt:lpstr>
      <vt:lpstr>Attributes of the File </vt:lpstr>
      <vt:lpstr>Operations on the File </vt:lpstr>
      <vt:lpstr>File Access Methods </vt:lpstr>
      <vt:lpstr>Contt..</vt:lpstr>
      <vt:lpstr>Direct Access </vt:lpstr>
      <vt:lpstr>Contt..</vt:lpstr>
      <vt:lpstr>Indexed Access </vt:lpstr>
      <vt:lpstr>Directory Structure in OS </vt:lpstr>
      <vt:lpstr>Cont..</vt:lpstr>
      <vt:lpstr>Single Level Directory </vt:lpstr>
      <vt:lpstr>Two Level Directory </vt:lpstr>
      <vt:lpstr>Characteristics of two level directory system </vt:lpstr>
      <vt:lpstr>File System Implementation in Operating System</vt:lpstr>
      <vt:lpstr>Contt..</vt:lpstr>
      <vt:lpstr>File system Implementation Issues</vt:lpstr>
      <vt:lpstr>Key Steps Involved In File System Implementation</vt:lpstr>
      <vt:lpstr>Protection and Security in Operating System </vt:lpstr>
      <vt:lpstr>Protection and Security Methods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 Management &amp; Disk Scheduling</dc:title>
  <dc:creator>Manish Kumar</dc:creator>
  <cp:lastModifiedBy>Manish Kumar</cp:lastModifiedBy>
  <cp:revision>27</cp:revision>
  <dcterms:created xsi:type="dcterms:W3CDTF">2023-10-27T03:20:39Z</dcterms:created>
  <dcterms:modified xsi:type="dcterms:W3CDTF">2023-12-05T02:55:59Z</dcterms:modified>
</cp:coreProperties>
</file>