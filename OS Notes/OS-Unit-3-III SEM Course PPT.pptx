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handoutMasterIdLst>
    <p:handoutMasterId r:id="rId60"/>
  </p:handoutMasterIdLst>
  <p:sldIdLst>
    <p:sldId id="281" r:id="rId2"/>
    <p:sldId id="385" r:id="rId3"/>
    <p:sldId id="470" r:id="rId4"/>
    <p:sldId id="471" r:id="rId5"/>
    <p:sldId id="474" r:id="rId6"/>
    <p:sldId id="475" r:id="rId7"/>
    <p:sldId id="436" r:id="rId8"/>
    <p:sldId id="437" r:id="rId9"/>
    <p:sldId id="568" r:id="rId10"/>
    <p:sldId id="569" r:id="rId11"/>
    <p:sldId id="570" r:id="rId12"/>
    <p:sldId id="571" r:id="rId13"/>
    <p:sldId id="572" r:id="rId14"/>
    <p:sldId id="443" r:id="rId15"/>
    <p:sldId id="573" r:id="rId16"/>
    <p:sldId id="473" r:id="rId17"/>
    <p:sldId id="574" r:id="rId18"/>
    <p:sldId id="445" r:id="rId19"/>
    <p:sldId id="446" r:id="rId20"/>
    <p:sldId id="447" r:id="rId21"/>
    <p:sldId id="448" r:id="rId22"/>
    <p:sldId id="449" r:id="rId23"/>
    <p:sldId id="575" r:id="rId24"/>
    <p:sldId id="451" r:id="rId25"/>
    <p:sldId id="576" r:id="rId26"/>
    <p:sldId id="577" r:id="rId27"/>
    <p:sldId id="578" r:id="rId28"/>
    <p:sldId id="455" r:id="rId29"/>
    <p:sldId id="456" r:id="rId30"/>
    <p:sldId id="457" r:id="rId31"/>
    <p:sldId id="458" r:id="rId32"/>
    <p:sldId id="257" r:id="rId33"/>
    <p:sldId id="258" r:id="rId34"/>
    <p:sldId id="259" r:id="rId35"/>
    <p:sldId id="260" r:id="rId36"/>
    <p:sldId id="261" r:id="rId37"/>
    <p:sldId id="262" r:id="rId38"/>
    <p:sldId id="263" r:id="rId39"/>
    <p:sldId id="264" r:id="rId40"/>
    <p:sldId id="265" r:id="rId41"/>
    <p:sldId id="266" r:id="rId42"/>
    <p:sldId id="267" r:id="rId43"/>
    <p:sldId id="268" r:id="rId44"/>
    <p:sldId id="269" r:id="rId45"/>
    <p:sldId id="270" r:id="rId46"/>
    <p:sldId id="271" r:id="rId47"/>
    <p:sldId id="272" r:id="rId48"/>
    <p:sldId id="273" r:id="rId49"/>
    <p:sldId id="275" r:id="rId50"/>
    <p:sldId id="276" r:id="rId51"/>
    <p:sldId id="277" r:id="rId52"/>
    <p:sldId id="278" r:id="rId53"/>
    <p:sldId id="280" r:id="rId54"/>
    <p:sldId id="579" r:id="rId55"/>
    <p:sldId id="283" r:id="rId56"/>
    <p:sldId id="284" r:id="rId57"/>
    <p:sldId id="384" r:id="rId58"/>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0000"/>
    <a:srgbClr val="260000"/>
    <a:srgbClr val="FFFFFF"/>
    <a:srgbClr val="000066"/>
    <a:srgbClr val="006600"/>
    <a:srgbClr val="FF3399"/>
    <a:srgbClr val="33CCFF"/>
    <a:srgbClr val="FF0000"/>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94" autoAdjust="0"/>
    <p:restoredTop sz="86092" autoAdjust="0"/>
  </p:normalViewPr>
  <p:slideViewPr>
    <p:cSldViewPr>
      <p:cViewPr varScale="1">
        <p:scale>
          <a:sx n="82" d="100"/>
          <a:sy n="82" d="100"/>
        </p:scale>
        <p:origin x="1488"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3177" tIns="46589" rIns="93177" bIns="46589" rtlCol="0"/>
          <a:lstStyle>
            <a:lvl1pPr algn="l">
              <a:defRPr sz="1200"/>
            </a:lvl1pPr>
          </a:lstStyle>
          <a:p>
            <a:pPr>
              <a:defRPr/>
            </a:pPr>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3177" tIns="46589" rIns="93177" bIns="46589" rtlCol="0"/>
          <a:lstStyle>
            <a:lvl1pPr algn="r">
              <a:defRPr sz="1200"/>
            </a:lvl1pPr>
          </a:lstStyle>
          <a:p>
            <a:pPr>
              <a:defRPr/>
            </a:pPr>
            <a:fld id="{1F97CC94-77CE-46D8-BBD2-3A9CB870576E}" type="datetimeFigureOut">
              <a:rPr lang="en-US"/>
              <a:pPr>
                <a:defRPr/>
              </a:pPr>
              <a:t>11/1/2023</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3177" tIns="46589" rIns="93177" bIns="46589"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3177" tIns="46589" rIns="93177" bIns="46589" rtlCol="0" anchor="b"/>
          <a:lstStyle>
            <a:lvl1pPr algn="r">
              <a:defRPr sz="1200"/>
            </a:lvl1pPr>
          </a:lstStyle>
          <a:p>
            <a:pPr>
              <a:defRPr/>
            </a:pPr>
            <a:fld id="{AA33767F-25E3-46D9-93B5-7A0FA54E61CC}"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a:latin typeface="+mn-lt"/>
                <a:cs typeface="+mn-cs"/>
              </a:defRPr>
            </a:lvl1pPr>
          </a:lstStyle>
          <a:p>
            <a:pPr>
              <a:defRPr/>
            </a:pPr>
            <a:fld id="{88FFC1C1-C5D8-4A0F-A5B5-28FE1899DDE3}" type="datetimeFigureOut">
              <a:rPr lang="en-US"/>
              <a:pPr>
                <a:defRPr/>
              </a:pPr>
              <a:t>11/1/2023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a:latin typeface="+mn-lt"/>
                <a:cs typeface="+mn-cs"/>
              </a:defRPr>
            </a:lvl1pPr>
          </a:lstStyle>
          <a:p>
            <a:pPr>
              <a:defRPr/>
            </a:pPr>
            <a:fld id="{ED2B828A-C779-4795-8183-D9758A5B6C2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p:spPr>
      </p:sp>
      <p:sp>
        <p:nvSpPr>
          <p:cNvPr id="235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560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C308B30-E594-431C-8FCD-89CB4F3BE307}" type="slidenum">
              <a:rPr lang="en-US" smtClean="0">
                <a:cs typeface="Arial" charset="0"/>
              </a:rPr>
              <a:pPr fontAlgn="base">
                <a:spcBef>
                  <a:spcPct val="0"/>
                </a:spcBef>
                <a:spcAft>
                  <a:spcPct val="0"/>
                </a:spcAft>
                <a:defRPr/>
              </a:pPr>
              <a:t>1</a:t>
            </a:fld>
            <a:endParaRPr lang="en-US">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A9356ECA-A60B-FA3F-B0B5-3B9ED100501E}"/>
              </a:ext>
            </a:extLst>
          </p:cNvPr>
          <p:cNvSpPr>
            <a:spLocks noChangeArrowheads="1" noTextEdit="1"/>
          </p:cNvSpPr>
          <p:nvPr>
            <p:ph type="sldImg"/>
          </p:nvPr>
        </p:nvSpPr>
        <p:spPr>
          <a:ln/>
        </p:spPr>
      </p:sp>
      <p:sp>
        <p:nvSpPr>
          <p:cNvPr id="96259" name="Rectangle 3">
            <a:extLst>
              <a:ext uri="{FF2B5EF4-FFF2-40B4-BE49-F238E27FC236}">
                <a16:creationId xmlns:a16="http://schemas.microsoft.com/office/drawing/2014/main" id="{B03F89F3-9DCB-AB01-1A5E-5428EB1126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00D43A43-1D26-D656-C6AE-5609867D0A2F}"/>
              </a:ext>
            </a:extLst>
          </p:cNvPr>
          <p:cNvSpPr>
            <a:spLocks noChangeArrowheads="1" noTextEdit="1"/>
          </p:cNvSpPr>
          <p:nvPr>
            <p:ph type="sldImg"/>
          </p:nvPr>
        </p:nvSpPr>
        <p:spPr>
          <a:ln/>
        </p:spPr>
      </p:sp>
      <p:sp>
        <p:nvSpPr>
          <p:cNvPr id="97283" name="Rectangle 3">
            <a:extLst>
              <a:ext uri="{FF2B5EF4-FFF2-40B4-BE49-F238E27FC236}">
                <a16:creationId xmlns:a16="http://schemas.microsoft.com/office/drawing/2014/main" id="{203E18F1-9B47-3737-9F8E-FE1F044F74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E01ADF22-72F6-F7B3-9FFF-F53133213AE7}"/>
              </a:ext>
            </a:extLst>
          </p:cNvPr>
          <p:cNvSpPr>
            <a:spLocks noChangeArrowheads="1" noTextEdit="1"/>
          </p:cNvSpPr>
          <p:nvPr>
            <p:ph type="sldImg"/>
          </p:nvPr>
        </p:nvSpPr>
        <p:spPr>
          <a:ln/>
        </p:spPr>
      </p:sp>
      <p:sp>
        <p:nvSpPr>
          <p:cNvPr id="98307" name="Rectangle 3">
            <a:extLst>
              <a:ext uri="{FF2B5EF4-FFF2-40B4-BE49-F238E27FC236}">
                <a16:creationId xmlns:a16="http://schemas.microsoft.com/office/drawing/2014/main" id="{5C972C91-A43D-51CC-7B65-E2521D9024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6E4C05C2-EFA1-130F-E8E1-FD0C82B54BBB}"/>
              </a:ext>
            </a:extLst>
          </p:cNvPr>
          <p:cNvSpPr>
            <a:spLocks noChangeArrowheads="1" noTextEdit="1"/>
          </p:cNvSpPr>
          <p:nvPr>
            <p:ph type="sldImg"/>
          </p:nvPr>
        </p:nvSpPr>
        <p:spPr>
          <a:ln/>
        </p:spPr>
      </p:sp>
      <p:sp>
        <p:nvSpPr>
          <p:cNvPr id="99331" name="Rectangle 3">
            <a:extLst>
              <a:ext uri="{FF2B5EF4-FFF2-40B4-BE49-F238E27FC236}">
                <a16:creationId xmlns:a16="http://schemas.microsoft.com/office/drawing/2014/main" id="{A9A9E770-FC60-0B0B-D8D6-3CCF9D942C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1C7850C3-9E15-BC17-45A4-30CE527C9CCC}"/>
              </a:ext>
            </a:extLst>
          </p:cNvPr>
          <p:cNvSpPr>
            <a:spLocks noChangeArrowheads="1" noTextEdit="1"/>
          </p:cNvSpPr>
          <p:nvPr>
            <p:ph type="sldImg"/>
          </p:nvPr>
        </p:nvSpPr>
        <p:spPr>
          <a:ln/>
        </p:spPr>
      </p:sp>
      <p:sp>
        <p:nvSpPr>
          <p:cNvPr id="100355" name="Rectangle 3">
            <a:extLst>
              <a:ext uri="{FF2B5EF4-FFF2-40B4-BE49-F238E27FC236}">
                <a16:creationId xmlns:a16="http://schemas.microsoft.com/office/drawing/2014/main" id="{075A7095-2B45-CB8E-8BBE-E9879CD12C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E9788838-804B-42F9-AFFF-CCE59CC900C1}"/>
              </a:ext>
            </a:extLst>
          </p:cNvPr>
          <p:cNvSpPr>
            <a:spLocks noChangeArrowheads="1" noTextEdit="1"/>
          </p:cNvSpPr>
          <p:nvPr>
            <p:ph type="sldImg"/>
          </p:nvPr>
        </p:nvSpPr>
        <p:spPr>
          <a:ln/>
        </p:spPr>
      </p:sp>
      <p:sp>
        <p:nvSpPr>
          <p:cNvPr id="101379" name="Rectangle 3">
            <a:extLst>
              <a:ext uri="{FF2B5EF4-FFF2-40B4-BE49-F238E27FC236}">
                <a16:creationId xmlns:a16="http://schemas.microsoft.com/office/drawing/2014/main" id="{91F0ABFE-9315-F88C-772E-FE0AE7A00D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20C33E50-36C9-7502-AB21-80BE40972DFE}"/>
              </a:ext>
            </a:extLst>
          </p:cNvPr>
          <p:cNvSpPr>
            <a:spLocks noChangeArrowheads="1" noTextEdit="1"/>
          </p:cNvSpPr>
          <p:nvPr>
            <p:ph type="sldImg"/>
          </p:nvPr>
        </p:nvSpPr>
        <p:spPr>
          <a:ln/>
        </p:spPr>
      </p:sp>
      <p:sp>
        <p:nvSpPr>
          <p:cNvPr id="102403" name="Rectangle 3">
            <a:extLst>
              <a:ext uri="{FF2B5EF4-FFF2-40B4-BE49-F238E27FC236}">
                <a16:creationId xmlns:a16="http://schemas.microsoft.com/office/drawing/2014/main" id="{32D4E3F7-54F7-AEAB-08C1-D30685A56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7F6F6B39-B75F-6464-DAD8-60E2B7F1C6BD}"/>
              </a:ext>
            </a:extLst>
          </p:cNvPr>
          <p:cNvSpPr>
            <a:spLocks noChangeArrowheads="1" noTextEdit="1"/>
          </p:cNvSpPr>
          <p:nvPr>
            <p:ph type="sldImg"/>
          </p:nvPr>
        </p:nvSpPr>
        <p:spPr>
          <a:ln/>
        </p:spPr>
      </p:sp>
      <p:sp>
        <p:nvSpPr>
          <p:cNvPr id="103427" name="Rectangle 3">
            <a:extLst>
              <a:ext uri="{FF2B5EF4-FFF2-40B4-BE49-F238E27FC236}">
                <a16:creationId xmlns:a16="http://schemas.microsoft.com/office/drawing/2014/main" id="{5FC8D617-F46B-DF8F-F887-D526209B78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EFEA8578-1602-B833-5A48-82389AAC68FD}"/>
              </a:ext>
            </a:extLst>
          </p:cNvPr>
          <p:cNvSpPr>
            <a:spLocks noChangeArrowheads="1" noTextEdit="1"/>
          </p:cNvSpPr>
          <p:nvPr>
            <p:ph type="sldImg"/>
          </p:nvPr>
        </p:nvSpPr>
        <p:spPr>
          <a:ln/>
        </p:spPr>
      </p:sp>
      <p:sp>
        <p:nvSpPr>
          <p:cNvPr id="104451" name="Rectangle 3">
            <a:extLst>
              <a:ext uri="{FF2B5EF4-FFF2-40B4-BE49-F238E27FC236}">
                <a16:creationId xmlns:a16="http://schemas.microsoft.com/office/drawing/2014/main" id="{3D6E2F69-8BC7-580F-8A4C-C318DDC218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B2843738-F38E-6C7A-93F8-4ADD7F3F3A55}"/>
              </a:ext>
            </a:extLst>
          </p:cNvPr>
          <p:cNvSpPr>
            <a:spLocks noChangeArrowheads="1" noTextEdit="1"/>
          </p:cNvSpPr>
          <p:nvPr>
            <p:ph type="sldImg"/>
          </p:nvPr>
        </p:nvSpPr>
        <p:spPr>
          <a:ln/>
        </p:spPr>
      </p:sp>
      <p:sp>
        <p:nvSpPr>
          <p:cNvPr id="105475" name="Rectangle 3">
            <a:extLst>
              <a:ext uri="{FF2B5EF4-FFF2-40B4-BE49-F238E27FC236}">
                <a16:creationId xmlns:a16="http://schemas.microsoft.com/office/drawing/2014/main" id="{11CFD3BA-4B40-9CF4-C726-10E2E015F0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8671C0FB-4333-DE2C-9FA3-26B16A4AE6D1}"/>
              </a:ext>
            </a:extLst>
          </p:cNvPr>
          <p:cNvSpPr>
            <a:spLocks noChangeArrowheads="1" noTextEdit="1"/>
          </p:cNvSpPr>
          <p:nvPr>
            <p:ph type="sldImg"/>
          </p:nvPr>
        </p:nvSpPr>
        <p:spPr>
          <a:ln/>
        </p:spPr>
      </p:sp>
      <p:sp>
        <p:nvSpPr>
          <p:cNvPr id="106499" name="Rectangle 3">
            <a:extLst>
              <a:ext uri="{FF2B5EF4-FFF2-40B4-BE49-F238E27FC236}">
                <a16:creationId xmlns:a16="http://schemas.microsoft.com/office/drawing/2014/main" id="{AA9C7F08-343B-C2DF-C09C-C3C6EBB39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B319DF7D-328B-B4D6-EE6D-5E7F6968E7F9}"/>
              </a:ext>
            </a:extLst>
          </p:cNvPr>
          <p:cNvSpPr>
            <a:spLocks noChangeArrowheads="1" noTextEdit="1"/>
          </p:cNvSpPr>
          <p:nvPr>
            <p:ph type="sldImg"/>
          </p:nvPr>
        </p:nvSpPr>
        <p:spPr>
          <a:ln/>
        </p:spPr>
      </p:sp>
      <p:sp>
        <p:nvSpPr>
          <p:cNvPr id="107523" name="Rectangle 3">
            <a:extLst>
              <a:ext uri="{FF2B5EF4-FFF2-40B4-BE49-F238E27FC236}">
                <a16:creationId xmlns:a16="http://schemas.microsoft.com/office/drawing/2014/main" id="{2A586019-B5AF-4DB9-C83B-4C17A56D02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F1296CB0-BFC2-91CD-0B6B-0E4338DD3944}"/>
              </a:ext>
            </a:extLst>
          </p:cNvPr>
          <p:cNvSpPr>
            <a:spLocks noChangeArrowheads="1" noTextEdit="1"/>
          </p:cNvSpPr>
          <p:nvPr>
            <p:ph type="sldImg"/>
          </p:nvPr>
        </p:nvSpPr>
        <p:spPr>
          <a:ln/>
        </p:spPr>
      </p:sp>
      <p:sp>
        <p:nvSpPr>
          <p:cNvPr id="108547" name="Rectangle 3">
            <a:extLst>
              <a:ext uri="{FF2B5EF4-FFF2-40B4-BE49-F238E27FC236}">
                <a16:creationId xmlns:a16="http://schemas.microsoft.com/office/drawing/2014/main" id="{435F7D67-E049-7570-383C-4304869112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64CCD4F2-7039-D0CC-A740-ED2E6E6CA81D}"/>
              </a:ext>
            </a:extLst>
          </p:cNvPr>
          <p:cNvSpPr>
            <a:spLocks noChangeArrowheads="1" noTextEdit="1"/>
          </p:cNvSpPr>
          <p:nvPr>
            <p:ph type="sldImg"/>
          </p:nvPr>
        </p:nvSpPr>
        <p:spPr>
          <a:ln/>
        </p:spPr>
      </p:sp>
      <p:sp>
        <p:nvSpPr>
          <p:cNvPr id="109571" name="Rectangle 3">
            <a:extLst>
              <a:ext uri="{FF2B5EF4-FFF2-40B4-BE49-F238E27FC236}">
                <a16:creationId xmlns:a16="http://schemas.microsoft.com/office/drawing/2014/main" id="{DC9E4AA6-71C5-2623-BE47-4B8EF4FF86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7D2AF1D0-2A77-A359-098E-AD6AAF6AC6DB}"/>
              </a:ext>
            </a:extLst>
          </p:cNvPr>
          <p:cNvSpPr>
            <a:spLocks noChangeArrowheads="1" noTextEdit="1"/>
          </p:cNvSpPr>
          <p:nvPr>
            <p:ph type="sldImg"/>
          </p:nvPr>
        </p:nvSpPr>
        <p:spPr>
          <a:ln/>
        </p:spPr>
      </p:sp>
      <p:sp>
        <p:nvSpPr>
          <p:cNvPr id="110595" name="Rectangle 3">
            <a:extLst>
              <a:ext uri="{FF2B5EF4-FFF2-40B4-BE49-F238E27FC236}">
                <a16:creationId xmlns:a16="http://schemas.microsoft.com/office/drawing/2014/main" id="{A42BAEB1-3118-47B4-6F7B-E2215CF2D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26EBB611-69C0-13E4-EEC3-52F00E1171BC}"/>
              </a:ext>
            </a:extLst>
          </p:cNvPr>
          <p:cNvSpPr>
            <a:spLocks noChangeArrowheads="1" noTextEdit="1"/>
          </p:cNvSpPr>
          <p:nvPr>
            <p:ph type="sldImg"/>
          </p:nvPr>
        </p:nvSpPr>
        <p:spPr>
          <a:ln/>
        </p:spPr>
      </p:sp>
      <p:sp>
        <p:nvSpPr>
          <p:cNvPr id="111619" name="Rectangle 3">
            <a:extLst>
              <a:ext uri="{FF2B5EF4-FFF2-40B4-BE49-F238E27FC236}">
                <a16:creationId xmlns:a16="http://schemas.microsoft.com/office/drawing/2014/main" id="{7D52B4C1-9337-06B8-788E-0306B2595A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4FC9E4C3-0429-0C7C-9AF1-B91020C2A737}"/>
              </a:ext>
            </a:extLst>
          </p:cNvPr>
          <p:cNvSpPr>
            <a:spLocks noChangeArrowheads="1" noTextEdit="1"/>
          </p:cNvSpPr>
          <p:nvPr>
            <p:ph type="sldImg"/>
          </p:nvPr>
        </p:nvSpPr>
        <p:spPr>
          <a:ln/>
        </p:spPr>
      </p:sp>
      <p:sp>
        <p:nvSpPr>
          <p:cNvPr id="112643" name="Rectangle 3">
            <a:extLst>
              <a:ext uri="{FF2B5EF4-FFF2-40B4-BE49-F238E27FC236}">
                <a16:creationId xmlns:a16="http://schemas.microsoft.com/office/drawing/2014/main" id="{5C4810CF-A1F5-33D2-E59F-791A5BC4CA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DCC5688-7598-1521-CD4F-275ABC67D34F}"/>
              </a:ext>
            </a:extLst>
          </p:cNvPr>
          <p:cNvSpPr>
            <a:spLocks noChangeArrowheads="1" noTextEdit="1"/>
          </p:cNvSpPr>
          <p:nvPr>
            <p:ph type="sldImg"/>
          </p:nvPr>
        </p:nvSpPr>
        <p:spPr>
          <a:ln/>
        </p:spPr>
      </p:sp>
      <p:sp>
        <p:nvSpPr>
          <p:cNvPr id="113667" name="Rectangle 3">
            <a:extLst>
              <a:ext uri="{FF2B5EF4-FFF2-40B4-BE49-F238E27FC236}">
                <a16:creationId xmlns:a16="http://schemas.microsoft.com/office/drawing/2014/main" id="{D8E98416-7DB6-86FD-BA7A-A3292340C3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39E50AEE-FD59-3141-A99D-E803BDA37B5E}"/>
              </a:ext>
            </a:extLst>
          </p:cNvPr>
          <p:cNvSpPr>
            <a:spLocks noChangeArrowheads="1" noTextEdit="1"/>
          </p:cNvSpPr>
          <p:nvPr>
            <p:ph type="sldImg"/>
          </p:nvPr>
        </p:nvSpPr>
        <p:spPr>
          <a:ln/>
        </p:spPr>
      </p:sp>
      <p:sp>
        <p:nvSpPr>
          <p:cNvPr id="114691" name="Rectangle 3">
            <a:extLst>
              <a:ext uri="{FF2B5EF4-FFF2-40B4-BE49-F238E27FC236}">
                <a16:creationId xmlns:a16="http://schemas.microsoft.com/office/drawing/2014/main" id="{5707C67F-7C41-93BA-3B23-B4FD77A4B8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18E005F-9997-07B1-1526-5F6CF8710DB0}"/>
              </a:ext>
            </a:extLst>
          </p:cNvPr>
          <p:cNvSpPr>
            <a:spLocks noChangeArrowheads="1" noTextEdit="1"/>
          </p:cNvSpPr>
          <p:nvPr>
            <p:ph type="sldImg"/>
          </p:nvPr>
        </p:nvSpPr>
        <p:spPr>
          <a:ln/>
        </p:spPr>
      </p:sp>
      <p:sp>
        <p:nvSpPr>
          <p:cNvPr id="115715" name="Rectangle 3">
            <a:extLst>
              <a:ext uri="{FF2B5EF4-FFF2-40B4-BE49-F238E27FC236}">
                <a16:creationId xmlns:a16="http://schemas.microsoft.com/office/drawing/2014/main" id="{D233C138-8473-8E66-688B-6D55C305D6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6385B51A-E0B7-FBAC-E652-7B262B475D8C}"/>
              </a:ext>
            </a:extLst>
          </p:cNvPr>
          <p:cNvSpPr>
            <a:spLocks noChangeArrowheads="1" noTextEdit="1"/>
          </p:cNvSpPr>
          <p:nvPr>
            <p:ph type="sldImg"/>
          </p:nvPr>
        </p:nvSpPr>
        <p:spPr>
          <a:ln/>
        </p:spPr>
      </p:sp>
      <p:sp>
        <p:nvSpPr>
          <p:cNvPr id="116739" name="Rectangle 3">
            <a:extLst>
              <a:ext uri="{FF2B5EF4-FFF2-40B4-BE49-F238E27FC236}">
                <a16:creationId xmlns:a16="http://schemas.microsoft.com/office/drawing/2014/main" id="{4A9E97D2-C642-AEBC-F4D4-05F3F7EE64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D9533274-EE47-F745-DAAA-A1424E2EA4BE}"/>
              </a:ext>
            </a:extLst>
          </p:cNvPr>
          <p:cNvSpPr>
            <a:spLocks noChangeArrowheads="1" noTextEdit="1"/>
          </p:cNvSpPr>
          <p:nvPr>
            <p:ph type="sldImg"/>
          </p:nvPr>
        </p:nvSpPr>
        <p:spPr>
          <a:ln/>
        </p:spPr>
      </p:sp>
      <p:sp>
        <p:nvSpPr>
          <p:cNvPr id="117763" name="Rectangle 3">
            <a:extLst>
              <a:ext uri="{FF2B5EF4-FFF2-40B4-BE49-F238E27FC236}">
                <a16:creationId xmlns:a16="http://schemas.microsoft.com/office/drawing/2014/main" id="{E0678DAF-6E9B-1F63-2684-4683A5C807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79C41946-3CB6-A046-1489-7DFFF8CC89E7}"/>
              </a:ext>
            </a:extLst>
          </p:cNvPr>
          <p:cNvSpPr>
            <a:spLocks noChangeArrowheads="1" noTextEdit="1"/>
          </p:cNvSpPr>
          <p:nvPr>
            <p:ph type="sldImg"/>
          </p:nvPr>
        </p:nvSpPr>
        <p:spPr>
          <a:ln/>
        </p:spPr>
      </p:sp>
      <p:sp>
        <p:nvSpPr>
          <p:cNvPr id="118787" name="Rectangle 3">
            <a:extLst>
              <a:ext uri="{FF2B5EF4-FFF2-40B4-BE49-F238E27FC236}">
                <a16:creationId xmlns:a16="http://schemas.microsoft.com/office/drawing/2014/main" id="{59CB4708-9F7B-6C41-1E63-C9515501FD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98413222-2A27-742C-5760-DA2F322FBF05}"/>
              </a:ext>
            </a:extLst>
          </p:cNvPr>
          <p:cNvSpPr>
            <a:spLocks noChangeArrowheads="1" noTextEdit="1"/>
          </p:cNvSpPr>
          <p:nvPr>
            <p:ph type="sldImg"/>
          </p:nvPr>
        </p:nvSpPr>
        <p:spPr>
          <a:ln/>
        </p:spPr>
      </p:sp>
      <p:sp>
        <p:nvSpPr>
          <p:cNvPr id="119811" name="Rectangle 3">
            <a:extLst>
              <a:ext uri="{FF2B5EF4-FFF2-40B4-BE49-F238E27FC236}">
                <a16:creationId xmlns:a16="http://schemas.microsoft.com/office/drawing/2014/main" id="{512952E4-AA4B-90EB-D558-4F57F4946D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EE0602F3-0412-F24F-D473-F9C3AE891A90}"/>
              </a:ext>
            </a:extLst>
          </p:cNvPr>
          <p:cNvSpPr>
            <a:spLocks noChangeArrowheads="1" noTextEdit="1"/>
          </p:cNvSpPr>
          <p:nvPr>
            <p:ph type="sldImg"/>
          </p:nvPr>
        </p:nvSpPr>
        <p:spPr>
          <a:ln/>
        </p:spPr>
      </p:sp>
      <p:sp>
        <p:nvSpPr>
          <p:cNvPr id="120835" name="Rectangle 3">
            <a:extLst>
              <a:ext uri="{FF2B5EF4-FFF2-40B4-BE49-F238E27FC236}">
                <a16:creationId xmlns:a16="http://schemas.microsoft.com/office/drawing/2014/main" id="{84787E29-FEC4-B2DC-86D6-9383C75BDF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00323780-9907-4C02-80A4-A79A47DF9E8A}" type="slidenum">
              <a:rPr lang="en-US" smtClean="0">
                <a:ea typeface="MS PGothic" pitchFamily="34" charset="-128"/>
              </a:rPr>
              <a:pPr/>
              <a:t>49</a:t>
            </a:fld>
            <a:endParaRPr lang="en-US">
              <a:ea typeface="MS PGothic" pitchFamily="34" charset="-128"/>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B44F97F7-70CE-4E8F-89C5-9930B0A347FC}" type="slidenum">
              <a:rPr lang="en-US" smtClean="0">
                <a:ea typeface="MS PGothic" pitchFamily="34" charset="-128"/>
              </a:rPr>
              <a:pPr/>
              <a:t>50</a:t>
            </a:fld>
            <a:endParaRPr lang="en-US">
              <a:ea typeface="MS PGothic" pitchFamily="34" charset="-128"/>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967B6CA1-1D30-476F-A85F-2B53FBF562A6}" type="slidenum">
              <a:rPr lang="en-US" smtClean="0">
                <a:ea typeface="MS PGothic" pitchFamily="34" charset="-128"/>
              </a:rPr>
              <a:pPr/>
              <a:t>51</a:t>
            </a:fld>
            <a:endParaRPr lang="en-US">
              <a:ea typeface="MS PGothic" pitchFamily="34" charset="-128"/>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2B28B07C-3113-4C5E-AC31-82D46C6F6F43}" type="slidenum">
              <a:rPr lang="en-US" smtClean="0">
                <a:ea typeface="MS PGothic" pitchFamily="34" charset="-128"/>
              </a:rPr>
              <a:pPr/>
              <a:t>52</a:t>
            </a:fld>
            <a:endParaRPr lang="en-US">
              <a:ea typeface="MS PGothic" pitchFamily="34" charset="-128"/>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59C42AFE-45DD-42AD-AA66-E8A89F356043}" type="slidenum">
              <a:rPr lang="en-US" smtClean="0">
                <a:ea typeface="MS PGothic" pitchFamily="34" charset="-128"/>
              </a:rPr>
              <a:pPr/>
              <a:t>53</a:t>
            </a:fld>
            <a:endParaRPr lang="en-US">
              <a:ea typeface="MS PGothic" pitchFamily="34" charset="-128"/>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906BF83A-078F-4F64-BF0B-CF3FB99FB060}" type="slidenum">
              <a:rPr lang="en-US" smtClean="0">
                <a:ea typeface="MS PGothic" pitchFamily="34" charset="-128"/>
              </a:rPr>
              <a:pPr/>
              <a:t>54</a:t>
            </a:fld>
            <a:endParaRPr lang="en-US">
              <a:ea typeface="MS PGothic" pitchFamily="34" charset="-128"/>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4FD939FE-D40E-41A9-AD41-4A0F1F1BDF76}" type="slidenum">
              <a:rPr lang="en-US" smtClean="0">
                <a:ea typeface="MS PGothic" pitchFamily="34" charset="-128"/>
              </a:rPr>
              <a:pPr/>
              <a:t>55</a:t>
            </a:fld>
            <a:endParaRPr lang="en-US">
              <a:ea typeface="MS PGothic" pitchFamily="34" charset="-128"/>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44A75C72-1B1F-4061-8B2E-021E911BF6CE}" type="slidenum">
              <a:rPr lang="en-US" smtClean="0">
                <a:ea typeface="MS PGothic" pitchFamily="34" charset="-128"/>
              </a:rPr>
              <a:pPr/>
              <a:t>56</a:t>
            </a:fld>
            <a:endParaRPr lang="en-US">
              <a:ea typeface="MS PGothic" pitchFamily="34" charset="-128"/>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endParaRPr 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lnSpc>
                <a:spcPct val="150000"/>
              </a:lnSpc>
              <a:defRPr/>
            </a:lvl1pPr>
            <a:lvl2pPr>
              <a:lnSpc>
                <a:spcPct val="150000"/>
              </a:lnSpc>
              <a:buNone/>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0">
            <a:lum/>
          </a:blip>
          <a:srcRect/>
          <a:stretch>
            <a:fillRect t="-36000" b="-36000"/>
          </a:stretch>
        </a:blipFill>
        <a:effectLst/>
      </p:bgPr>
    </p:bg>
    <p:spTree>
      <p:nvGrpSpPr>
        <p:cNvPr id="1" name=""/>
        <p:cNvGrpSpPr/>
        <p:nvPr/>
      </p:nvGrpSpPr>
      <p:grpSpPr>
        <a:xfrm>
          <a:off x="0" y="0"/>
          <a:ext cx="0" cy="0"/>
          <a:chOff x="0" y="0"/>
          <a:chExt cx="0" cy="0"/>
        </a:xfrm>
      </p:grpSpPr>
      <p:pic>
        <p:nvPicPr>
          <p:cNvPr id="1026" name="Picture 6" descr="JU_PPT-template_option1b.jpg"/>
          <p:cNvPicPr>
            <a:picLocks noChangeAspect="1"/>
          </p:cNvPicPr>
          <p:nvPr/>
        </p:nvPicPr>
        <p:blipFill>
          <a:blip r:embed="rId21"/>
          <a:srcRect/>
          <a:stretch>
            <a:fillRect/>
          </a:stretch>
        </p:blipFill>
        <p:spPr bwMode="auto">
          <a:xfrm>
            <a:off x="0" y="0"/>
            <a:ext cx="9144000" cy="6858000"/>
          </a:xfrm>
          <a:prstGeom prst="rect">
            <a:avLst/>
          </a:prstGeom>
          <a:noFill/>
          <a:ln w="9525">
            <a:noFill/>
            <a:miter lim="800000"/>
            <a:headEnd/>
            <a:tailEnd/>
          </a:ln>
        </p:spPr>
      </p:pic>
      <p:sp>
        <p:nvSpPr>
          <p:cNvPr id="1027" name="Title Placeholder 1"/>
          <p:cNvSpPr>
            <a:spLocks noGrp="1"/>
          </p:cNvSpPr>
          <p:nvPr>
            <p:ph type="title"/>
          </p:nvPr>
        </p:nvSpPr>
        <p:spPr bwMode="auto">
          <a:xfrm>
            <a:off x="457200" y="228600"/>
            <a:ext cx="8229600"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533400" y="1371600"/>
            <a:ext cx="7924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p:txBody>
      </p:sp>
    </p:spTree>
  </p:cSld>
  <p:clrMap bg1="lt1" tx1="dk1" bg2="lt2" tx2="dk2" accent1="accent1" accent2="accent2" accent3="accent3" accent4="accent4" accent5="accent5" accent6="accent6" hlink="hlink" folHlink="folHlink"/>
  <p:sldLayoutIdLst>
    <p:sldLayoutId id="2147483661" r:id="rId1"/>
    <p:sldLayoutId id="2147483677" r:id="rId2"/>
    <p:sldLayoutId id="2147483678"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Lst>
  <p:transition>
    <p:fade/>
  </p:transition>
  <p:txStyles>
    <p:titleStyle>
      <a:lvl1pPr algn="l" defTabSz="912813" rtl="0" eaLnBrk="0" fontAlgn="base" hangingPunct="0">
        <a:spcBef>
          <a:spcPct val="0"/>
        </a:spcBef>
        <a:spcAft>
          <a:spcPct val="0"/>
        </a:spcAft>
        <a:defRPr sz="2800" b="1" kern="1200">
          <a:solidFill>
            <a:schemeClr val="bg1"/>
          </a:solidFill>
          <a:latin typeface="Times New Roman" pitchFamily="18" charset="0"/>
          <a:ea typeface="+mj-ea"/>
          <a:cs typeface="Times New Roman" pitchFamily="18" charset="0"/>
        </a:defRPr>
      </a:lvl1pPr>
      <a:lvl2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2pPr>
      <a:lvl3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3pPr>
      <a:lvl4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4pPr>
      <a:lvl5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5pPr>
      <a:lvl6pPr marL="457200" algn="l" defTabSz="912813" rtl="0" fontAlgn="base">
        <a:spcBef>
          <a:spcPct val="0"/>
        </a:spcBef>
        <a:spcAft>
          <a:spcPct val="0"/>
        </a:spcAft>
        <a:defRPr sz="2800" b="1">
          <a:solidFill>
            <a:schemeClr val="bg1"/>
          </a:solidFill>
          <a:latin typeface="Times New Roman" pitchFamily="18" charset="0"/>
          <a:cs typeface="Times New Roman" pitchFamily="18" charset="0"/>
        </a:defRPr>
      </a:lvl6pPr>
      <a:lvl7pPr marL="914400" algn="l" defTabSz="912813" rtl="0" fontAlgn="base">
        <a:spcBef>
          <a:spcPct val="0"/>
        </a:spcBef>
        <a:spcAft>
          <a:spcPct val="0"/>
        </a:spcAft>
        <a:defRPr sz="2800" b="1">
          <a:solidFill>
            <a:schemeClr val="bg1"/>
          </a:solidFill>
          <a:latin typeface="Times New Roman" pitchFamily="18" charset="0"/>
          <a:cs typeface="Times New Roman" pitchFamily="18" charset="0"/>
        </a:defRPr>
      </a:lvl7pPr>
      <a:lvl8pPr marL="1371600" algn="l" defTabSz="912813" rtl="0" fontAlgn="base">
        <a:spcBef>
          <a:spcPct val="0"/>
        </a:spcBef>
        <a:spcAft>
          <a:spcPct val="0"/>
        </a:spcAft>
        <a:defRPr sz="2800" b="1">
          <a:solidFill>
            <a:schemeClr val="bg1"/>
          </a:solidFill>
          <a:latin typeface="Times New Roman" pitchFamily="18" charset="0"/>
          <a:cs typeface="Times New Roman" pitchFamily="18" charset="0"/>
        </a:defRPr>
      </a:lvl8pPr>
      <a:lvl9pPr marL="1828800" algn="l" defTabSz="912813" rtl="0" fontAlgn="base">
        <a:spcBef>
          <a:spcPct val="0"/>
        </a:spcBef>
        <a:spcAft>
          <a:spcPct val="0"/>
        </a:spcAft>
        <a:defRPr sz="2800" b="1">
          <a:solidFill>
            <a:schemeClr val="bg1"/>
          </a:solidFill>
          <a:latin typeface="Times New Roman" pitchFamily="18" charset="0"/>
          <a:cs typeface="Times New Roman" pitchFamily="18" charset="0"/>
        </a:defRPr>
      </a:lvl9pPr>
    </p:titleStyle>
    <p:bodyStyle>
      <a:lvl1pPr marL="341313" indent="-341313" algn="l" defTabSz="912813" rtl="0" eaLnBrk="0" fontAlgn="base" hangingPunct="0">
        <a:spcBef>
          <a:spcPct val="20000"/>
        </a:spcBef>
        <a:spcAft>
          <a:spcPct val="0"/>
        </a:spcAft>
        <a:buChar char="•"/>
        <a:defRPr sz="2400" kern="1200">
          <a:solidFill>
            <a:schemeClr val="tx1"/>
          </a:solidFill>
          <a:latin typeface="Times New Roman" pitchFamily="18" charset="0"/>
          <a:ea typeface="+mn-ea"/>
          <a:cs typeface="Times New Roman" pitchFamily="18" charset="0"/>
        </a:defRPr>
      </a:lvl1pPr>
      <a:lvl2pPr marL="741363" indent="-284163" algn="l" defTabSz="912813" rtl="0" eaLnBrk="0" fontAlgn="base" hangingPunct="0">
        <a:spcBef>
          <a:spcPct val="20000"/>
        </a:spcBef>
        <a:spcAft>
          <a:spcPct val="0"/>
        </a:spcAft>
        <a:buFont typeface="Arial" charset="0"/>
        <a:buChar char="•"/>
        <a:defRPr sz="2200" kern="1200">
          <a:solidFill>
            <a:schemeClr val="tx1"/>
          </a:solidFill>
          <a:latin typeface="Times New Roman" pitchFamily="18" charset="0"/>
          <a:ea typeface="+mn-ea"/>
          <a:cs typeface="Times New Roman" pitchFamily="18" charset="0"/>
        </a:defRPr>
      </a:lvl2pPr>
      <a:lvl3pPr marL="1141413" indent="-227013" algn="l" defTabSz="912813" rtl="0" eaLnBrk="0" fontAlgn="base" hangingPunct="0">
        <a:spcBef>
          <a:spcPct val="20000"/>
        </a:spcBef>
        <a:spcAft>
          <a:spcPct val="0"/>
        </a:spcAft>
        <a:buFont typeface="Arial" charset="0"/>
        <a:buChar char="•"/>
        <a:defRPr sz="2400" kern="1200">
          <a:solidFill>
            <a:schemeClr val="tx1"/>
          </a:solidFill>
          <a:latin typeface="+mn-lt"/>
          <a:ea typeface="+mn-ea"/>
          <a:cs typeface="Times New Roman" pitchFamily="18" charset="0"/>
        </a:defRPr>
      </a:lvl3pPr>
      <a:lvl4pPr marL="1598613" indent="-227013" algn="l" defTabSz="912813" rtl="0" eaLnBrk="0" fontAlgn="base" hangingPunct="0">
        <a:spcBef>
          <a:spcPct val="20000"/>
        </a:spcBef>
        <a:spcAft>
          <a:spcPct val="0"/>
        </a:spcAft>
        <a:buFont typeface="Arial" charset="0"/>
        <a:buChar char="–"/>
        <a:defRPr sz="2000" kern="1200">
          <a:solidFill>
            <a:schemeClr val="tx1"/>
          </a:solidFill>
          <a:latin typeface="+mn-lt"/>
          <a:ea typeface="+mn-ea"/>
          <a:cs typeface="Times New Roman" pitchFamily="18" charset="0"/>
        </a:defRPr>
      </a:lvl4pPr>
      <a:lvl5pPr marL="2055813" indent="-227013" algn="l" defTabSz="912813" rtl="0" eaLnBrk="0" fontAlgn="base" hangingPunct="0">
        <a:spcBef>
          <a:spcPct val="20000"/>
        </a:spcBef>
        <a:spcAft>
          <a:spcPct val="0"/>
        </a:spcAft>
        <a:buFont typeface="Arial" charset="0"/>
        <a:buChar char="»"/>
        <a:defRPr sz="2000" kern="1200">
          <a:solidFill>
            <a:schemeClr val="tx1"/>
          </a:solidFill>
          <a:latin typeface="+mn-lt"/>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2" descr="JU_PPT-template_option1a.jpg"/>
          <p:cNvPicPr>
            <a:picLocks noChangeAspect="1"/>
          </p:cNvPicPr>
          <p:nvPr/>
        </p:nvPicPr>
        <p:blipFill>
          <a:blip r:embed="rId3"/>
          <a:srcRect/>
          <a:stretch>
            <a:fillRect/>
          </a:stretch>
        </p:blipFill>
        <p:spPr bwMode="auto">
          <a:xfrm>
            <a:off x="0" y="0"/>
            <a:ext cx="9429750" cy="6858000"/>
          </a:xfrm>
          <a:prstGeom prst="rect">
            <a:avLst/>
          </a:prstGeom>
          <a:noFill/>
          <a:ln w="9525">
            <a:noFill/>
            <a:miter lim="800000"/>
            <a:headEnd/>
            <a:tailEnd/>
          </a:ln>
        </p:spPr>
      </p:pic>
      <p:pic>
        <p:nvPicPr>
          <p:cNvPr id="2051" name="Picture 2" descr="D:\job\jecrc\images for ppt\slide1_1.png"/>
          <p:cNvPicPr>
            <a:picLocks noChangeAspect="1" noChangeArrowheads="1"/>
          </p:cNvPicPr>
          <p:nvPr/>
        </p:nvPicPr>
        <p:blipFill>
          <a:blip r:embed="rId4"/>
          <a:srcRect/>
          <a:stretch>
            <a:fillRect/>
          </a:stretch>
        </p:blipFill>
        <p:spPr bwMode="auto">
          <a:xfrm>
            <a:off x="3124200" y="-1195388"/>
            <a:ext cx="2632075" cy="2390776"/>
          </a:xfrm>
          <a:prstGeom prst="rect">
            <a:avLst/>
          </a:prstGeom>
          <a:noFill/>
          <a:ln w="9525">
            <a:noFill/>
            <a:miter lim="800000"/>
            <a:headEnd/>
            <a:tailEnd/>
          </a:ln>
        </p:spPr>
      </p:pic>
      <p:sp>
        <p:nvSpPr>
          <p:cNvPr id="12" name="TextBox 11"/>
          <p:cNvSpPr txBox="1"/>
          <p:nvPr/>
        </p:nvSpPr>
        <p:spPr>
          <a:xfrm>
            <a:off x="0" y="5934670"/>
            <a:ext cx="6553200" cy="369332"/>
          </a:xfrm>
          <a:prstGeom prst="rect">
            <a:avLst/>
          </a:prstGeom>
          <a:noFill/>
        </p:spPr>
        <p:txBody>
          <a:bodyPr wrap="square" rtlCol="0">
            <a:spAutoFit/>
          </a:bodyPr>
          <a:lstStyle/>
          <a:p>
            <a:endParaRPr lang="en-US" dirty="0">
              <a:solidFill>
                <a:schemeClr val="bg1"/>
              </a:solidFill>
              <a:latin typeface="Times New Roman" pitchFamily="18" charset="0"/>
              <a:cs typeface="Times New Roman" pitchFamily="18" charset="0"/>
            </a:endParaRPr>
          </a:p>
        </p:txBody>
      </p:sp>
      <p:pic>
        <p:nvPicPr>
          <p:cNvPr id="13" name="Picture 3" descr="D:\job\jecrc\images for ppt\slide1.png"/>
          <p:cNvPicPr>
            <a:picLocks noChangeAspect="1" noChangeArrowheads="1"/>
          </p:cNvPicPr>
          <p:nvPr/>
        </p:nvPicPr>
        <p:blipFill>
          <a:blip r:embed="rId5"/>
          <a:srcRect/>
          <a:stretch>
            <a:fillRect/>
          </a:stretch>
        </p:blipFill>
        <p:spPr bwMode="auto">
          <a:xfrm>
            <a:off x="7315200" y="5410200"/>
            <a:ext cx="2305051" cy="1619250"/>
          </a:xfrm>
          <a:prstGeom prst="rect">
            <a:avLst/>
          </a:prstGeom>
          <a:noFill/>
          <a:ln w="9525">
            <a:noFill/>
            <a:miter lim="800000"/>
            <a:headEnd/>
            <a:tailEnd/>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AC8C4AEC-F6C9-4127-A687-450DBB879CF4}" type="slidenum">
              <a:rPr lang="en-US" smtClean="0"/>
              <a:pPr>
                <a:defRPr/>
              </a:pPr>
              <a:t>2</a:t>
            </a:fld>
            <a:endParaRPr lang="en-US" dirty="0"/>
          </a:p>
        </p:txBody>
      </p:sp>
      <p:sp>
        <p:nvSpPr>
          <p:cNvPr id="6" name="Rectangle 2"/>
          <p:cNvSpPr txBox="1">
            <a:spLocks noChangeArrowheads="1"/>
          </p:cNvSpPr>
          <p:nvPr/>
        </p:nvSpPr>
        <p:spPr bwMode="auto">
          <a:xfrm>
            <a:off x="365125" y="1652588"/>
            <a:ext cx="8304213" cy="3060700"/>
          </a:xfrm>
          <a:prstGeom prst="rect">
            <a:avLst/>
          </a:prstGeom>
          <a:noFill/>
          <a:ln w="9525">
            <a:noFill/>
            <a:miter lim="800000"/>
            <a:headEnd/>
            <a:tailEnd/>
          </a:ln>
        </p:spPr>
        <p:txBody>
          <a:bodyPr anchor="ctr">
            <a:normAutofit fontScale="92500" lnSpcReduction="10000"/>
          </a:bodyPr>
          <a:lstStyle/>
          <a:p>
            <a:pPr algn="ctr">
              <a:defRPr/>
            </a:pPr>
            <a:r>
              <a:rPr lang="en-US" altLang="en-US" sz="4400" kern="0" dirty="0">
                <a:solidFill>
                  <a:srgbClr val="FF0000"/>
                </a:solidFill>
                <a:latin typeface="+mj-lt"/>
                <a:ea typeface="+mj-ea"/>
                <a:cs typeface="+mj-cs"/>
              </a:rPr>
              <a:t>    BC0 008B Operating Systems</a:t>
            </a:r>
            <a:br>
              <a:rPr lang="en-US" altLang="en-US" sz="4400" kern="0" dirty="0">
                <a:solidFill>
                  <a:srgbClr val="FF0000"/>
                </a:solidFill>
                <a:latin typeface="+mj-lt"/>
                <a:ea typeface="+mj-ea"/>
                <a:cs typeface="+mj-cs"/>
              </a:rPr>
            </a:br>
            <a:r>
              <a:rPr lang="fr-FR" sz="4400" b="1" i="1" dirty="0">
                <a:solidFill>
                  <a:srgbClr val="FF0000"/>
                </a:solidFill>
                <a:latin typeface="Times New Roman" pitchFamily="18" charset="0"/>
                <a:cs typeface="Times New Roman" pitchFamily="18" charset="0"/>
              </a:rPr>
              <a:t> Course PPT </a:t>
            </a:r>
          </a:p>
          <a:p>
            <a:pPr algn="ctr">
              <a:defRPr/>
            </a:pPr>
            <a:r>
              <a:rPr lang="en-US" altLang="en-US" sz="4400" kern="0" dirty="0">
                <a:solidFill>
                  <a:srgbClr val="FF0000"/>
                </a:solidFill>
                <a:latin typeface="+mj-lt"/>
                <a:ea typeface="+mj-ea"/>
                <a:cs typeface="+mj-cs"/>
              </a:rPr>
              <a:t>Unit-II</a:t>
            </a:r>
          </a:p>
          <a:p>
            <a:pPr algn="ctr">
              <a:defRPr/>
            </a:pPr>
            <a:br>
              <a:rPr lang="en-US" altLang="en-US" sz="4400" kern="0" dirty="0">
                <a:solidFill>
                  <a:srgbClr val="FF0000"/>
                </a:solidFill>
                <a:latin typeface="+mj-lt"/>
                <a:ea typeface="+mj-ea"/>
                <a:cs typeface="+mj-cs"/>
              </a:rPr>
            </a:br>
            <a:endParaRPr lang="en-US" altLang="en-US" sz="4400" kern="0" dirty="0">
              <a:solidFill>
                <a:srgbClr val="FF0000"/>
              </a:solidFill>
              <a:latin typeface="+mj-lt"/>
              <a:ea typeface="+mj-ea"/>
              <a:cs typeface="+mj-cs"/>
            </a:endParaRPr>
          </a:p>
        </p:txBody>
      </p:sp>
      <p:sp>
        <p:nvSpPr>
          <p:cNvPr id="8" name="TextBox 7"/>
          <p:cNvSpPr txBox="1"/>
          <p:nvPr/>
        </p:nvSpPr>
        <p:spPr>
          <a:xfrm>
            <a:off x="6218238" y="4921250"/>
            <a:ext cx="2925762" cy="830997"/>
          </a:xfrm>
          <a:prstGeom prst="rect">
            <a:avLst/>
          </a:prstGeom>
          <a:noFill/>
        </p:spPr>
        <p:txBody>
          <a:bodyPr>
            <a:spAutoFit/>
          </a:bodyPr>
          <a:lstStyle/>
          <a:p>
            <a:pPr>
              <a:defRPr/>
            </a:pPr>
            <a:r>
              <a:rPr lang="en-US" sz="2400" b="1" dirty="0">
                <a:latin typeface="+mj-lt"/>
              </a:rPr>
              <a:t>Submitted By</a:t>
            </a:r>
          </a:p>
          <a:p>
            <a:pPr>
              <a:defRPr/>
            </a:pPr>
            <a:r>
              <a:rPr lang="en-US" sz="2400" b="1" dirty="0">
                <a:latin typeface="+mj-lt"/>
              </a:rPr>
              <a:t>Ruchi </a:t>
            </a:r>
            <a:r>
              <a:rPr lang="en-US" sz="2400" b="1" dirty="0" err="1">
                <a:latin typeface="+mj-lt"/>
              </a:rPr>
              <a:t>Kulshrestha</a:t>
            </a:r>
            <a:endParaRPr lang="en-US" sz="2400" b="1"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26367" t="15625" r="27929" b="7291"/>
          <a:stretch>
            <a:fillRect/>
          </a:stretch>
        </p:blipFill>
        <p:spPr bwMode="auto">
          <a:xfrm>
            <a:off x="0" y="214290"/>
            <a:ext cx="6858016" cy="664371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1800" b="1" i="1" dirty="0"/>
              <a:t>Text Books:</a:t>
            </a:r>
            <a:endParaRPr lang="en-US" sz="1800" dirty="0"/>
          </a:p>
          <a:p>
            <a:r>
              <a:rPr lang="en-US" sz="1800" dirty="0"/>
              <a:t>1. Operating Systems Concepts – </a:t>
            </a:r>
            <a:r>
              <a:rPr lang="en-US" sz="1800" dirty="0" err="1"/>
              <a:t>Silberschatz</a:t>
            </a:r>
            <a:r>
              <a:rPr lang="en-US" sz="1800" dirty="0"/>
              <a:t>, Galvin, Wiley Publications (2008)</a:t>
            </a:r>
          </a:p>
          <a:p>
            <a:r>
              <a:rPr lang="en-US" sz="1800" dirty="0"/>
              <a:t>2. Modern Operating Systems - Andrew S. </a:t>
            </a:r>
            <a:r>
              <a:rPr lang="en-US" sz="1800" dirty="0" err="1"/>
              <a:t>Tanenbaum</a:t>
            </a:r>
            <a:r>
              <a:rPr lang="en-US" sz="1800" dirty="0"/>
              <a:t>, Pearson Education Asia / PHI(2005)</a:t>
            </a:r>
          </a:p>
          <a:p>
            <a:pPr>
              <a:buNone/>
            </a:pPr>
            <a:r>
              <a:rPr lang="en-US" sz="1800" b="1" i="1" dirty="0"/>
              <a:t>Reference Books:</a:t>
            </a:r>
            <a:endParaRPr lang="en-US" sz="1800" dirty="0"/>
          </a:p>
          <a:p>
            <a:pPr lvl="0"/>
            <a:r>
              <a:rPr lang="en-US" sz="1800" dirty="0"/>
              <a:t>Operating Systems – William Stallings, Pearson Education Asia (2002)</a:t>
            </a:r>
          </a:p>
          <a:p>
            <a:pPr lvl="0"/>
            <a:r>
              <a:rPr lang="en-US" sz="1800" dirty="0"/>
              <a:t>UNIX System Programming Using C++, by Terrence Chan: Prentice Hall India, 1999.</a:t>
            </a:r>
          </a:p>
          <a:p>
            <a:pPr lvl="0"/>
            <a:r>
              <a:rPr lang="en-US" sz="1800" dirty="0"/>
              <a:t>Advanced Programming in UNIX Environment, by W. Richard Stevens: 2nd Ed, Pearson Education, 2005</a:t>
            </a:r>
          </a:p>
          <a:p>
            <a:r>
              <a:rPr lang="en-US" sz="1800" i="1" dirty="0"/>
              <a:t> </a:t>
            </a:r>
            <a:endParaRPr lang="en-US" sz="1800" dirty="0"/>
          </a:p>
          <a:p>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2000" b="1" i="1" dirty="0"/>
              <a:t>Course Outcome (CO):</a:t>
            </a:r>
            <a:endParaRPr lang="en-US" sz="2000" dirty="0"/>
          </a:p>
          <a:p>
            <a:pPr>
              <a:buNone/>
            </a:pPr>
            <a:r>
              <a:rPr lang="en-US" sz="2000" dirty="0"/>
              <a:t>At the ends of this course </a:t>
            </a:r>
            <a:r>
              <a:rPr lang="en-US" sz="2000" dirty="0" err="1"/>
              <a:t>studentswill</a:t>
            </a:r>
            <a:r>
              <a:rPr lang="en-US" sz="2000" dirty="0"/>
              <a:t> have:</a:t>
            </a:r>
          </a:p>
          <a:p>
            <a:r>
              <a:rPr lang="en-US" sz="2000" dirty="0"/>
              <a:t>CO1: Classify Unix Kernel mode with user mode &amp; contrast between Kernel structures. </a:t>
            </a:r>
          </a:p>
          <a:p>
            <a:r>
              <a:rPr lang="en-US" sz="2000" dirty="0"/>
              <a:t>CO2: Identify and estimate process management &amp; thread management strategies along with their different operations </a:t>
            </a:r>
          </a:p>
          <a:p>
            <a:r>
              <a:rPr lang="en-US" sz="2000" dirty="0"/>
              <a:t>CO3: Implement deadlock and different system calls for various file handling operations. </a:t>
            </a:r>
          </a:p>
          <a:p>
            <a:r>
              <a:rPr lang="en-US" sz="2000" dirty="0"/>
              <a:t>CO4: Determine Paging and Caching techniques related to Virtual Memory.</a:t>
            </a:r>
            <a:r>
              <a:rPr lang="en-US" sz="2000" b="1" dirty="0"/>
              <a:t> </a:t>
            </a:r>
            <a:endParaRPr lang="en-US" sz="2000" dirty="0"/>
          </a:p>
          <a:p>
            <a:pPr>
              <a:buNone/>
            </a:pPr>
            <a:r>
              <a:rPr lang="en-US" sz="1200" b="1" dirty="0"/>
              <a:t> </a:t>
            </a:r>
            <a:endParaRPr lang="en-US" sz="1200" dirty="0"/>
          </a:p>
          <a:p>
            <a:pPr>
              <a:buNone/>
            </a:pPr>
            <a:r>
              <a:rPr lang="en-US" sz="1200" b="1" dirty="0"/>
              <a:t> </a:t>
            </a:r>
            <a:endParaRPr lang="en-US" sz="1200" dirty="0"/>
          </a:p>
          <a:p>
            <a:pPr>
              <a:buNone/>
            </a:pPr>
            <a:r>
              <a:rPr lang="en-US" sz="1200" b="1" dirty="0"/>
              <a:t> </a:t>
            </a:r>
            <a:endParaRPr lang="en-US" sz="1200" dirty="0"/>
          </a:p>
          <a:p>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3" name="Table 2"/>
          <p:cNvGraphicFramePr>
            <a:graphicFrameLocks noGrp="1"/>
          </p:cNvGraphicFramePr>
          <p:nvPr/>
        </p:nvGraphicFramePr>
        <p:xfrm>
          <a:off x="285720" y="2428868"/>
          <a:ext cx="8715437" cy="2961095"/>
        </p:xfrm>
        <a:graphic>
          <a:graphicData uri="http://schemas.openxmlformats.org/drawingml/2006/table">
            <a:tbl>
              <a:tblPr/>
              <a:tblGrid>
                <a:gridCol w="821331">
                  <a:extLst>
                    <a:ext uri="{9D8B030D-6E8A-4147-A177-3AD203B41FA5}">
                      <a16:colId xmlns:a16="http://schemas.microsoft.com/office/drawing/2014/main" val="20000"/>
                    </a:ext>
                  </a:extLst>
                </a:gridCol>
                <a:gridCol w="517367">
                  <a:extLst>
                    <a:ext uri="{9D8B030D-6E8A-4147-A177-3AD203B41FA5}">
                      <a16:colId xmlns:a16="http://schemas.microsoft.com/office/drawing/2014/main" val="20001"/>
                    </a:ext>
                  </a:extLst>
                </a:gridCol>
                <a:gridCol w="615997">
                  <a:extLst>
                    <a:ext uri="{9D8B030D-6E8A-4147-A177-3AD203B41FA5}">
                      <a16:colId xmlns:a16="http://schemas.microsoft.com/office/drawing/2014/main" val="20002"/>
                    </a:ext>
                  </a:extLst>
                </a:gridCol>
                <a:gridCol w="517367">
                  <a:extLst>
                    <a:ext uri="{9D8B030D-6E8A-4147-A177-3AD203B41FA5}">
                      <a16:colId xmlns:a16="http://schemas.microsoft.com/office/drawing/2014/main" val="20003"/>
                    </a:ext>
                  </a:extLst>
                </a:gridCol>
                <a:gridCol w="517367">
                  <a:extLst>
                    <a:ext uri="{9D8B030D-6E8A-4147-A177-3AD203B41FA5}">
                      <a16:colId xmlns:a16="http://schemas.microsoft.com/office/drawing/2014/main" val="20004"/>
                    </a:ext>
                  </a:extLst>
                </a:gridCol>
                <a:gridCol w="517367">
                  <a:extLst>
                    <a:ext uri="{9D8B030D-6E8A-4147-A177-3AD203B41FA5}">
                      <a16:colId xmlns:a16="http://schemas.microsoft.com/office/drawing/2014/main" val="20005"/>
                    </a:ext>
                  </a:extLst>
                </a:gridCol>
                <a:gridCol w="517367">
                  <a:extLst>
                    <a:ext uri="{9D8B030D-6E8A-4147-A177-3AD203B41FA5}">
                      <a16:colId xmlns:a16="http://schemas.microsoft.com/office/drawing/2014/main" val="20006"/>
                    </a:ext>
                  </a:extLst>
                </a:gridCol>
                <a:gridCol w="517367">
                  <a:extLst>
                    <a:ext uri="{9D8B030D-6E8A-4147-A177-3AD203B41FA5}">
                      <a16:colId xmlns:a16="http://schemas.microsoft.com/office/drawing/2014/main" val="20007"/>
                    </a:ext>
                  </a:extLst>
                </a:gridCol>
                <a:gridCol w="517367">
                  <a:extLst>
                    <a:ext uri="{9D8B030D-6E8A-4147-A177-3AD203B41FA5}">
                      <a16:colId xmlns:a16="http://schemas.microsoft.com/office/drawing/2014/main" val="20008"/>
                    </a:ext>
                  </a:extLst>
                </a:gridCol>
                <a:gridCol w="517367">
                  <a:extLst>
                    <a:ext uri="{9D8B030D-6E8A-4147-A177-3AD203B41FA5}">
                      <a16:colId xmlns:a16="http://schemas.microsoft.com/office/drawing/2014/main" val="20009"/>
                    </a:ext>
                  </a:extLst>
                </a:gridCol>
                <a:gridCol w="522747">
                  <a:extLst>
                    <a:ext uri="{9D8B030D-6E8A-4147-A177-3AD203B41FA5}">
                      <a16:colId xmlns:a16="http://schemas.microsoft.com/office/drawing/2014/main" val="20010"/>
                    </a:ext>
                  </a:extLst>
                </a:gridCol>
                <a:gridCol w="522747">
                  <a:extLst>
                    <a:ext uri="{9D8B030D-6E8A-4147-A177-3AD203B41FA5}">
                      <a16:colId xmlns:a16="http://schemas.microsoft.com/office/drawing/2014/main" val="20011"/>
                    </a:ext>
                  </a:extLst>
                </a:gridCol>
                <a:gridCol w="522747">
                  <a:extLst>
                    <a:ext uri="{9D8B030D-6E8A-4147-A177-3AD203B41FA5}">
                      <a16:colId xmlns:a16="http://schemas.microsoft.com/office/drawing/2014/main" val="20012"/>
                    </a:ext>
                  </a:extLst>
                </a:gridCol>
                <a:gridCol w="523644">
                  <a:extLst>
                    <a:ext uri="{9D8B030D-6E8A-4147-A177-3AD203B41FA5}">
                      <a16:colId xmlns:a16="http://schemas.microsoft.com/office/drawing/2014/main" val="20013"/>
                    </a:ext>
                  </a:extLst>
                </a:gridCol>
                <a:gridCol w="523644">
                  <a:extLst>
                    <a:ext uri="{9D8B030D-6E8A-4147-A177-3AD203B41FA5}">
                      <a16:colId xmlns:a16="http://schemas.microsoft.com/office/drawing/2014/main" val="20014"/>
                    </a:ext>
                  </a:extLst>
                </a:gridCol>
                <a:gridCol w="523644">
                  <a:extLst>
                    <a:ext uri="{9D8B030D-6E8A-4147-A177-3AD203B41FA5}">
                      <a16:colId xmlns:a16="http://schemas.microsoft.com/office/drawing/2014/main" val="20015"/>
                    </a:ext>
                  </a:extLst>
                </a:gridCol>
              </a:tblGrid>
              <a:tr h="1300131">
                <a:tc>
                  <a:txBody>
                    <a:bodyPr/>
                    <a:lstStyle/>
                    <a:p>
                      <a:pPr algn="just">
                        <a:lnSpc>
                          <a:spcPct val="115000"/>
                        </a:lnSpc>
                        <a:spcAft>
                          <a:spcPts val="0"/>
                        </a:spcAft>
                      </a:pPr>
                      <a:r>
                        <a:rPr lang="en-US" sz="1600" b="1" i="1" dirty="0">
                          <a:solidFill>
                            <a:srgbClr val="000000"/>
                          </a:solidFill>
                          <a:latin typeface="Times New Roman"/>
                          <a:ea typeface="Times New Roman"/>
                          <a:cs typeface="Times New Roman"/>
                        </a:rPr>
                        <a:t>Course Outcome</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lgn="ctr">
                        <a:lnSpc>
                          <a:spcPct val="115000"/>
                        </a:lnSpc>
                        <a:spcAft>
                          <a:spcPts val="0"/>
                        </a:spcAft>
                      </a:pPr>
                      <a:r>
                        <a:rPr lang="en-US" sz="1600" dirty="0">
                          <a:solidFill>
                            <a:srgbClr val="000000"/>
                          </a:solidFill>
                          <a:latin typeface="Times New Roman"/>
                          <a:ea typeface="Times New Roman"/>
                          <a:cs typeface="Times New Roman"/>
                        </a:rPr>
                        <a:t>Program Outcome</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lnSpc>
                          <a:spcPct val="115000"/>
                        </a:lnSpc>
                        <a:spcAft>
                          <a:spcPts val="0"/>
                        </a:spcAft>
                      </a:pPr>
                      <a:r>
                        <a:rPr lang="en-US" sz="1600">
                          <a:solidFill>
                            <a:srgbClr val="000000"/>
                          </a:solidFill>
                          <a:latin typeface="Times New Roman"/>
                          <a:ea typeface="Times New Roman"/>
                          <a:cs typeface="Times New Roman"/>
                        </a:rPr>
                        <a:t>Program Specifice Outcome</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8037">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PO3</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PO4</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PO5</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PO6</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PO7</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PO8</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PO9</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PO10</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PSO1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PSO2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PSO3</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H</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L</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H</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CO3</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CO4</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L</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1073" name="Rectangle 1"/>
          <p:cNvSpPr>
            <a:spLocks noChangeArrowheads="1"/>
          </p:cNvSpPr>
          <p:nvPr/>
        </p:nvSpPr>
        <p:spPr bwMode="auto">
          <a:xfrm>
            <a:off x="0" y="0"/>
            <a:ext cx="5365315" cy="2062103"/>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C0504D"/>
              </a:solidFill>
              <a:effectLst/>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a:solidFill>
                <a:srgbClr val="C0504D"/>
              </a:solidFill>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C0504D"/>
              </a:solidFill>
              <a:effectLst/>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a:solidFill>
                <a:srgbClr val="C0504D"/>
              </a:solidFill>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C0504D"/>
                </a:solidFill>
                <a:effectLst/>
                <a:latin typeface="Times New Roman" pitchFamily="18" charset="0"/>
                <a:ea typeface="Times New Roman" pitchFamily="18" charset="0"/>
                <a:cs typeface="Times New Roman" pitchFamily="18" charset="0"/>
              </a:rPr>
              <a:t>Mapping of COs with Pos</a:t>
            </a: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Times New Roman" pitchFamily="18" charset="0"/>
                <a:ea typeface="Calibri" pitchFamily="34" charset="0"/>
                <a:cs typeface="Times New Roman" pitchFamily="18" charset="0"/>
              </a:rPr>
              <a:t>MAPPING COURSE OUTCOMES LEADING TO THE ACHIEVEMENT OF</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Times New Roman" pitchFamily="18" charset="0"/>
                <a:ea typeface="Calibri" pitchFamily="34" charset="0"/>
                <a:cs typeface="Times New Roman" pitchFamily="18" charset="0"/>
              </a:rPr>
              <a:t> PROGRAM OUTCOMES AND PROGRAM SPECIFIC OUTCOMES: </a:t>
            </a:r>
            <a:endParaRPr kumimoji="0" lang="en-US" sz="1200" b="0" i="0" u="none" strike="noStrike" cap="none" normalizeH="0" baseline="0" dirty="0">
              <a:ln>
                <a:noFill/>
              </a:ln>
              <a:solidFill>
                <a:schemeClr val="tx1"/>
              </a:solidFill>
              <a:effectLst/>
              <a:latin typeface="Arial" pitchFamily="34" charset="0"/>
              <a:cs typeface="Arial" pitchFamily="34" charset="0"/>
            </a:endParaRPr>
          </a:p>
        </p:txBody>
      </p:sp>
      <p:sp>
        <p:nvSpPr>
          <p:cNvPr id="5" name="Rectangle 4"/>
          <p:cNvSpPr/>
          <p:nvPr/>
        </p:nvSpPr>
        <p:spPr>
          <a:xfrm>
            <a:off x="2436126" y="5845750"/>
            <a:ext cx="4271747" cy="369332"/>
          </a:xfrm>
          <a:prstGeom prst="rect">
            <a:avLst/>
          </a:prstGeom>
        </p:spPr>
        <p:txBody>
          <a:bodyPr wrap="none">
            <a:spAutoFit/>
          </a:bodyPr>
          <a:lstStyle/>
          <a:p>
            <a:pPr lvl="0" algn="just" eaLnBrk="0" hangingPunct="0"/>
            <a:r>
              <a:rPr lang="en-US" dirty="0">
                <a:latin typeface="Times New Roman" pitchFamily="18" charset="0"/>
                <a:ea typeface="Times New Roman" pitchFamily="18" charset="0"/>
                <a:cs typeface="Times New Roman" pitchFamily="18" charset="0"/>
              </a:rPr>
              <a:t>H = Highly Related; M = Medium  L = Low</a:t>
            </a:r>
            <a:endParaRPr lang="en-US" dirty="0">
              <a:latin typeface="Arial" pitchFamily="34" charset="0"/>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05435B41-B3AC-3184-2873-9FD3337C268E}"/>
              </a:ext>
            </a:extLst>
          </p:cNvPr>
          <p:cNvSpPr>
            <a:spLocks noGrp="1"/>
          </p:cNvSpPr>
          <p:nvPr>
            <p:ph type="title"/>
          </p:nvPr>
        </p:nvSpPr>
        <p:spPr>
          <a:xfrm>
            <a:off x="982663" y="168275"/>
            <a:ext cx="7704137" cy="576263"/>
          </a:xfrm>
        </p:spPr>
        <p:txBody>
          <a:bodyPr/>
          <a:lstStyle/>
          <a:p>
            <a:r>
              <a:rPr lang="en-US" altLang="en-US" dirty="0" err="1"/>
              <a:t>Interprocess</a:t>
            </a:r>
            <a:r>
              <a:rPr lang="en-US" altLang="en-US" dirty="0"/>
              <a:t> Communication</a:t>
            </a:r>
          </a:p>
        </p:txBody>
      </p:sp>
      <p:sp>
        <p:nvSpPr>
          <p:cNvPr id="31747" name="Content Placeholder 2">
            <a:extLst>
              <a:ext uri="{FF2B5EF4-FFF2-40B4-BE49-F238E27FC236}">
                <a16:creationId xmlns:a16="http://schemas.microsoft.com/office/drawing/2014/main" id="{A241FCE0-9B0B-B4EF-9776-1886B38F5822}"/>
              </a:ext>
            </a:extLst>
          </p:cNvPr>
          <p:cNvSpPr>
            <a:spLocks noGrp="1"/>
          </p:cNvSpPr>
          <p:nvPr>
            <p:ph idx="1"/>
          </p:nvPr>
        </p:nvSpPr>
        <p:spPr>
          <a:xfrm>
            <a:off x="885825" y="1154113"/>
            <a:ext cx="7485063" cy="4530725"/>
          </a:xfrm>
        </p:spPr>
        <p:txBody>
          <a:bodyPr/>
          <a:lstStyle/>
          <a:p>
            <a:r>
              <a:rPr lang="en-US" altLang="en-US" dirty="0"/>
              <a:t>Processes within a system may be </a:t>
            </a:r>
            <a:r>
              <a:rPr lang="en-US" altLang="en-US" b="1" i="1" dirty="0"/>
              <a:t>independent</a:t>
            </a:r>
            <a:r>
              <a:rPr lang="en-US" altLang="en-US" b="1" dirty="0"/>
              <a:t> </a:t>
            </a:r>
            <a:r>
              <a:rPr lang="en-US" altLang="en-US" dirty="0"/>
              <a:t>or </a:t>
            </a:r>
            <a:r>
              <a:rPr lang="en-US" altLang="en-US" b="1" i="1" dirty="0"/>
              <a:t>cooperating</a:t>
            </a:r>
          </a:p>
          <a:p>
            <a:r>
              <a:rPr lang="en-US" altLang="en-US" dirty="0"/>
              <a:t>Cooperating process can affect or be affected by other processes, including sharing data</a:t>
            </a:r>
          </a:p>
          <a:p>
            <a:r>
              <a:rPr lang="en-US" altLang="en-US" dirty="0"/>
              <a:t>Reasons for cooperating processes:</a:t>
            </a:r>
          </a:p>
          <a:p>
            <a:pPr lvl="1"/>
            <a:r>
              <a:rPr lang="en-US" altLang="en-US" dirty="0"/>
              <a:t>Information sharing</a:t>
            </a:r>
          </a:p>
          <a:p>
            <a:pPr lvl="1"/>
            <a:r>
              <a:rPr lang="en-US" altLang="en-US" dirty="0"/>
              <a:t>Computation speedup</a:t>
            </a:r>
          </a:p>
          <a:p>
            <a:pPr lvl="1"/>
            <a:r>
              <a:rPr lang="en-US" altLang="en-US" dirty="0"/>
              <a:t>Modularity</a:t>
            </a:r>
          </a:p>
          <a:p>
            <a:pPr lvl="1"/>
            <a:r>
              <a:rPr lang="en-US" altLang="en-US" dirty="0"/>
              <a:t>Convenience	</a:t>
            </a:r>
          </a:p>
          <a:p>
            <a:r>
              <a:rPr lang="en-US" altLang="en-US" dirty="0"/>
              <a:t>Cooperating processes need </a:t>
            </a:r>
            <a:r>
              <a:rPr lang="en-US" altLang="en-US" b="1" dirty="0" err="1">
                <a:solidFill>
                  <a:srgbClr val="3366FF"/>
                </a:solidFill>
              </a:rPr>
              <a:t>interprocess</a:t>
            </a:r>
            <a:r>
              <a:rPr lang="en-US" altLang="en-US" b="1" dirty="0">
                <a:solidFill>
                  <a:srgbClr val="3366FF"/>
                </a:solidFill>
              </a:rPr>
              <a:t> communication </a:t>
            </a:r>
            <a:r>
              <a:rPr lang="en-US" altLang="en-US" dirty="0"/>
              <a:t>(</a:t>
            </a:r>
            <a:r>
              <a:rPr lang="en-US" altLang="en-US" b="1" dirty="0">
                <a:solidFill>
                  <a:srgbClr val="3366FF"/>
                </a:solidFill>
              </a:rPr>
              <a:t>IPC</a:t>
            </a:r>
            <a:r>
              <a:rPr lang="en-US" altLang="en-US" dirty="0"/>
              <a:t>)</a:t>
            </a:r>
          </a:p>
          <a:p>
            <a:r>
              <a:rPr lang="en-US" altLang="en-US" dirty="0"/>
              <a:t>Two models of IPC</a:t>
            </a:r>
          </a:p>
          <a:p>
            <a:pPr lvl="1"/>
            <a:r>
              <a:rPr lang="en-US" altLang="en-US" b="1" dirty="0">
                <a:solidFill>
                  <a:srgbClr val="3366FF"/>
                </a:solidFill>
              </a:rPr>
              <a:t>Shared memory</a:t>
            </a:r>
          </a:p>
          <a:p>
            <a:pPr lvl="1"/>
            <a:r>
              <a:rPr lang="en-US" altLang="en-US" b="1" dirty="0">
                <a:solidFill>
                  <a:srgbClr val="3366FF"/>
                </a:solidFill>
              </a:rPr>
              <a:t>Message passing</a:t>
            </a:r>
          </a:p>
          <a:p>
            <a:pPr lvl="1"/>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DADA4F3-D483-1B15-5DC3-59506B040411}"/>
              </a:ext>
            </a:extLst>
          </p:cNvPr>
          <p:cNvSpPr>
            <a:spLocks noGrp="1" noChangeArrowheads="1"/>
          </p:cNvSpPr>
          <p:nvPr>
            <p:ph type="title"/>
          </p:nvPr>
        </p:nvSpPr>
        <p:spPr>
          <a:xfrm>
            <a:off x="457200" y="182563"/>
            <a:ext cx="8229600" cy="576262"/>
          </a:xfrm>
        </p:spPr>
        <p:txBody>
          <a:bodyPr/>
          <a:lstStyle/>
          <a:p>
            <a:pPr eaLnBrk="1" hangingPunct="1"/>
            <a:r>
              <a:rPr lang="en-US" altLang="en-US"/>
              <a:t>Communications Models </a:t>
            </a:r>
          </a:p>
        </p:txBody>
      </p:sp>
      <p:pic>
        <p:nvPicPr>
          <p:cNvPr id="32771" name="Picture 1" descr="3_12.pdf">
            <a:extLst>
              <a:ext uri="{FF2B5EF4-FFF2-40B4-BE49-F238E27FC236}">
                <a16:creationId xmlns:a16="http://schemas.microsoft.com/office/drawing/2014/main" id="{7DC84086-ED52-B630-8EA2-385A73B92FD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24013" y="1725613"/>
            <a:ext cx="6100762"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Rectangle 3">
            <a:extLst>
              <a:ext uri="{FF2B5EF4-FFF2-40B4-BE49-F238E27FC236}">
                <a16:creationId xmlns:a16="http://schemas.microsoft.com/office/drawing/2014/main" id="{8EDA3DD8-BE08-C2A0-F25C-E89BD0B6B58C}"/>
              </a:ext>
            </a:extLst>
          </p:cNvPr>
          <p:cNvSpPr>
            <a:spLocks noChangeArrowheads="1"/>
          </p:cNvSpPr>
          <p:nvPr/>
        </p:nvSpPr>
        <p:spPr bwMode="auto">
          <a:xfrm>
            <a:off x="969963" y="1143000"/>
            <a:ext cx="6372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b="1">
                <a:solidFill>
                  <a:srgbClr val="000000"/>
                </a:solidFill>
                <a:latin typeface="Courier New" panose="02070309020205020404" pitchFamily="49" charset="0"/>
                <a:cs typeface="Courier New" panose="02070309020205020404" pitchFamily="49" charset="0"/>
              </a:rPr>
              <a:t>(</a:t>
            </a:r>
            <a:r>
              <a:rPr lang="en-US" altLang="en-US">
                <a:solidFill>
                  <a:srgbClr val="000000"/>
                </a:solidFill>
                <a:latin typeface="Courier New" panose="02070309020205020404" pitchFamily="49" charset="0"/>
                <a:cs typeface="Courier New" panose="02070309020205020404" pitchFamily="49" charset="0"/>
              </a:rPr>
              <a:t>a) Message passing.  (b) shared memory. </a:t>
            </a:r>
            <a:r>
              <a:rPr lang="en-US" altLang="en-US">
                <a:cs typeface="Courier New" panose="02070309020205020404" pitchFamily="49"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6DDC379-02B5-4526-D5DD-C45F36B9A412}"/>
              </a:ext>
            </a:extLst>
          </p:cNvPr>
          <p:cNvSpPr>
            <a:spLocks noGrp="1" noChangeArrowheads="1"/>
          </p:cNvSpPr>
          <p:nvPr>
            <p:ph type="title"/>
          </p:nvPr>
        </p:nvSpPr>
        <p:spPr>
          <a:xfrm>
            <a:off x="1060450" y="277813"/>
            <a:ext cx="7626350" cy="576262"/>
          </a:xfrm>
        </p:spPr>
        <p:txBody>
          <a:bodyPr/>
          <a:lstStyle/>
          <a:p>
            <a:pPr eaLnBrk="1" hangingPunct="1"/>
            <a:r>
              <a:rPr lang="en-US" altLang="en-US"/>
              <a:t>Cooperating Processes</a:t>
            </a:r>
          </a:p>
        </p:txBody>
      </p:sp>
      <p:sp>
        <p:nvSpPr>
          <p:cNvPr id="33795" name="Rectangle 3">
            <a:extLst>
              <a:ext uri="{FF2B5EF4-FFF2-40B4-BE49-F238E27FC236}">
                <a16:creationId xmlns:a16="http://schemas.microsoft.com/office/drawing/2014/main" id="{B9023BF0-8169-CA4D-5495-9C680F15A410}"/>
              </a:ext>
            </a:extLst>
          </p:cNvPr>
          <p:cNvSpPr>
            <a:spLocks noGrp="1" noChangeArrowheads="1"/>
          </p:cNvSpPr>
          <p:nvPr>
            <p:ph type="body" idx="1"/>
          </p:nvPr>
        </p:nvSpPr>
        <p:spPr>
          <a:xfrm>
            <a:off x="806450" y="1233488"/>
            <a:ext cx="7529513" cy="4530725"/>
          </a:xfrm>
        </p:spPr>
        <p:txBody>
          <a:bodyPr/>
          <a:lstStyle/>
          <a:p>
            <a:r>
              <a:rPr lang="en-US" altLang="en-US" b="1" i="1"/>
              <a:t>Independent</a:t>
            </a:r>
            <a:r>
              <a:rPr lang="en-US" altLang="en-US"/>
              <a:t> process cannot affect or be affected by the execution of another process</a:t>
            </a:r>
          </a:p>
          <a:p>
            <a:r>
              <a:rPr lang="en-US" altLang="en-US" b="1" i="1">
                <a:solidFill>
                  <a:srgbClr val="000000"/>
                </a:solidFill>
              </a:rPr>
              <a:t>Cooperating</a:t>
            </a:r>
            <a:r>
              <a:rPr lang="en-US" altLang="en-US"/>
              <a:t> process can affect or be affected by the execution of another process</a:t>
            </a:r>
          </a:p>
          <a:p>
            <a:r>
              <a:rPr lang="en-US" altLang="en-US"/>
              <a:t>Advantages of process cooperation</a:t>
            </a:r>
          </a:p>
          <a:p>
            <a:pPr lvl="1"/>
            <a:r>
              <a:rPr lang="en-US" altLang="en-US"/>
              <a:t>Information sharing </a:t>
            </a:r>
          </a:p>
          <a:p>
            <a:pPr lvl="1"/>
            <a:r>
              <a:rPr lang="en-US" altLang="en-US"/>
              <a:t>Computation speed-up</a:t>
            </a:r>
          </a:p>
          <a:p>
            <a:pPr lvl="1"/>
            <a:r>
              <a:rPr lang="en-US" altLang="en-US"/>
              <a:t>Modularity</a:t>
            </a:r>
          </a:p>
          <a:p>
            <a:pPr lvl="1"/>
            <a:r>
              <a:rPr lang="en-US" altLang="en-US"/>
              <a:t>Convenience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1C4A1B54-32E3-6476-AC09-986C71490D11}"/>
              </a:ext>
            </a:extLst>
          </p:cNvPr>
          <p:cNvSpPr>
            <a:spLocks noGrp="1" noChangeArrowheads="1"/>
          </p:cNvSpPr>
          <p:nvPr>
            <p:ph type="title"/>
          </p:nvPr>
        </p:nvSpPr>
        <p:spPr>
          <a:xfrm>
            <a:off x="749300" y="247650"/>
            <a:ext cx="7937500" cy="576263"/>
          </a:xfrm>
        </p:spPr>
        <p:txBody>
          <a:bodyPr/>
          <a:lstStyle/>
          <a:p>
            <a:pPr eaLnBrk="1" hangingPunct="1"/>
            <a:r>
              <a:rPr lang="en-US" altLang="en-US"/>
              <a:t>Producer-Consumer Problem</a:t>
            </a:r>
          </a:p>
        </p:txBody>
      </p:sp>
      <p:sp>
        <p:nvSpPr>
          <p:cNvPr id="34819" name="Rectangle 3">
            <a:extLst>
              <a:ext uri="{FF2B5EF4-FFF2-40B4-BE49-F238E27FC236}">
                <a16:creationId xmlns:a16="http://schemas.microsoft.com/office/drawing/2014/main" id="{9293AB5D-81C4-2174-2A49-DD69355FB2E5}"/>
              </a:ext>
            </a:extLst>
          </p:cNvPr>
          <p:cNvSpPr>
            <a:spLocks noGrp="1" noChangeArrowheads="1"/>
          </p:cNvSpPr>
          <p:nvPr>
            <p:ph type="body" idx="1"/>
          </p:nvPr>
        </p:nvSpPr>
        <p:spPr>
          <a:xfrm>
            <a:off x="842963" y="1185863"/>
            <a:ext cx="6667500" cy="4498975"/>
          </a:xfrm>
        </p:spPr>
        <p:txBody>
          <a:bodyPr/>
          <a:lstStyle/>
          <a:p>
            <a:r>
              <a:rPr lang="en-US" altLang="en-US"/>
              <a:t>Paradigm for cooperating processes, </a:t>
            </a:r>
            <a:r>
              <a:rPr lang="en-US" altLang="en-US" i="1"/>
              <a:t>producer</a:t>
            </a:r>
            <a:r>
              <a:rPr lang="en-US" altLang="en-US"/>
              <a:t> process produces information that is consumed by a </a:t>
            </a:r>
            <a:r>
              <a:rPr lang="en-US" altLang="en-US" i="1"/>
              <a:t>consumer</a:t>
            </a:r>
            <a:r>
              <a:rPr lang="en-US" altLang="en-US"/>
              <a:t> process</a:t>
            </a:r>
          </a:p>
          <a:p>
            <a:pPr lvl="1"/>
            <a:r>
              <a:rPr lang="en-US" altLang="en-US" b="1">
                <a:solidFill>
                  <a:srgbClr val="3366FF"/>
                </a:solidFill>
              </a:rPr>
              <a:t>unbounded-buffer </a:t>
            </a:r>
            <a:r>
              <a:rPr lang="en-US" altLang="en-US"/>
              <a:t>places no practical limit on the size of the buffer</a:t>
            </a:r>
          </a:p>
          <a:p>
            <a:pPr lvl="1"/>
            <a:r>
              <a:rPr lang="en-US" altLang="en-US" b="1">
                <a:solidFill>
                  <a:srgbClr val="3366FF"/>
                </a:solidFill>
              </a:rPr>
              <a:t>bounded-buffer </a:t>
            </a:r>
            <a:r>
              <a:rPr lang="en-US" altLang="en-US"/>
              <a:t>assumes that there is a fixed buffer size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7A97A81-9334-CBDE-6E08-E47FE087DFD9}"/>
              </a:ext>
            </a:extLst>
          </p:cNvPr>
          <p:cNvSpPr>
            <a:spLocks noGrp="1" noChangeArrowheads="1"/>
          </p:cNvSpPr>
          <p:nvPr>
            <p:ph type="title"/>
          </p:nvPr>
        </p:nvSpPr>
        <p:spPr>
          <a:xfrm>
            <a:off x="1046163" y="300038"/>
            <a:ext cx="8074025" cy="457200"/>
          </a:xfrm>
        </p:spPr>
        <p:txBody>
          <a:bodyPr/>
          <a:lstStyle/>
          <a:p>
            <a:pPr eaLnBrk="1" hangingPunct="1"/>
            <a:r>
              <a:rPr lang="en-US" altLang="en-US" sz="2800"/>
              <a:t>Bounded-Buffer – Shared-Memory Solution</a:t>
            </a:r>
          </a:p>
        </p:txBody>
      </p:sp>
      <p:sp>
        <p:nvSpPr>
          <p:cNvPr id="35843" name="Rectangle 3">
            <a:extLst>
              <a:ext uri="{FF2B5EF4-FFF2-40B4-BE49-F238E27FC236}">
                <a16:creationId xmlns:a16="http://schemas.microsoft.com/office/drawing/2014/main" id="{328E939B-06F2-1EB5-05BC-D9928837D5CF}"/>
              </a:ext>
            </a:extLst>
          </p:cNvPr>
          <p:cNvSpPr>
            <a:spLocks noGrp="1" noChangeArrowheads="1"/>
          </p:cNvSpPr>
          <p:nvPr>
            <p:ph type="body" idx="1"/>
          </p:nvPr>
        </p:nvSpPr>
        <p:spPr>
          <a:xfrm>
            <a:off x="1195388" y="1203325"/>
            <a:ext cx="7131050" cy="4700588"/>
          </a:xfrm>
        </p:spPr>
        <p:txBody>
          <a:bodyPr/>
          <a:lstStyle/>
          <a:p>
            <a:r>
              <a:rPr lang="en-US" altLang="en-US" sz="1600"/>
              <a:t>Shared data</a:t>
            </a:r>
          </a:p>
          <a:p>
            <a:pPr marL="1598613" lvl="3">
              <a:buFontTx/>
              <a:buNone/>
            </a:pPr>
            <a:r>
              <a:rPr lang="en-US" altLang="en-US" sz="1600">
                <a:latin typeface="Courier New" panose="02070309020205020404" pitchFamily="49" charset="0"/>
                <a:cs typeface="Courier New" panose="02070309020205020404" pitchFamily="49" charset="0"/>
              </a:rPr>
              <a:t>#define BUFFER_SIZE 10</a:t>
            </a:r>
          </a:p>
          <a:p>
            <a:pPr marL="1598613" lvl="3">
              <a:buFontTx/>
              <a:buNone/>
            </a:pPr>
            <a:r>
              <a:rPr lang="en-US" altLang="en-US" sz="1600">
                <a:latin typeface="Courier New" panose="02070309020205020404" pitchFamily="49" charset="0"/>
                <a:cs typeface="Courier New" panose="02070309020205020404" pitchFamily="49" charset="0"/>
              </a:rPr>
              <a:t>typedef struct {</a:t>
            </a:r>
          </a:p>
          <a:p>
            <a:pPr marL="1598613" lvl="3">
              <a:buFontTx/>
              <a:buNone/>
            </a:pPr>
            <a:r>
              <a:rPr lang="en-US" altLang="en-US" sz="1600">
                <a:latin typeface="Courier New" panose="02070309020205020404" pitchFamily="49" charset="0"/>
                <a:cs typeface="Courier New" panose="02070309020205020404" pitchFamily="49" charset="0"/>
              </a:rPr>
              <a:t>	. . .</a:t>
            </a:r>
          </a:p>
          <a:p>
            <a:pPr marL="1598613" lvl="3">
              <a:buFontTx/>
              <a:buNone/>
            </a:pPr>
            <a:r>
              <a:rPr lang="en-US" altLang="en-US" sz="1600">
                <a:latin typeface="Courier New" panose="02070309020205020404" pitchFamily="49" charset="0"/>
                <a:cs typeface="Courier New" panose="02070309020205020404" pitchFamily="49" charset="0"/>
              </a:rPr>
              <a:t>} item;</a:t>
            </a:r>
          </a:p>
          <a:p>
            <a:pPr marL="1598613" lvl="3">
              <a:buFontTx/>
              <a:buNone/>
            </a:pPr>
            <a:endParaRPr lang="en-US" altLang="en-US" sz="1600">
              <a:latin typeface="Courier New" panose="02070309020205020404" pitchFamily="49" charset="0"/>
              <a:cs typeface="Courier New" panose="02070309020205020404" pitchFamily="49" charset="0"/>
            </a:endParaRPr>
          </a:p>
          <a:p>
            <a:pPr marL="1598613" lvl="3">
              <a:buFontTx/>
              <a:buNone/>
            </a:pPr>
            <a:r>
              <a:rPr lang="en-US" altLang="en-US" sz="1600">
                <a:latin typeface="Courier New" panose="02070309020205020404" pitchFamily="49" charset="0"/>
                <a:cs typeface="Courier New" panose="02070309020205020404" pitchFamily="49" charset="0"/>
              </a:rPr>
              <a:t>item buffer[BUFFER_SIZE];</a:t>
            </a:r>
          </a:p>
          <a:p>
            <a:pPr marL="1598613" lvl="3">
              <a:buFontTx/>
              <a:buNone/>
            </a:pPr>
            <a:r>
              <a:rPr lang="en-US" altLang="en-US" sz="1600">
                <a:latin typeface="Courier New" panose="02070309020205020404" pitchFamily="49" charset="0"/>
                <a:cs typeface="Courier New" panose="02070309020205020404" pitchFamily="49" charset="0"/>
              </a:rPr>
              <a:t>int in = 0;</a:t>
            </a:r>
          </a:p>
          <a:p>
            <a:pPr marL="1598613" lvl="3">
              <a:buFontTx/>
              <a:buNone/>
            </a:pPr>
            <a:r>
              <a:rPr lang="en-US" altLang="en-US" sz="1600">
                <a:latin typeface="Courier New" panose="02070309020205020404" pitchFamily="49" charset="0"/>
                <a:cs typeface="Courier New" panose="02070309020205020404" pitchFamily="49" charset="0"/>
              </a:rPr>
              <a:t>int out = 0;</a:t>
            </a:r>
          </a:p>
          <a:p>
            <a:pPr marL="1598613" lvl="3">
              <a:buFontTx/>
              <a:buNone/>
            </a:pPr>
            <a:endParaRPr lang="en-US" altLang="en-US" sz="1600"/>
          </a:p>
          <a:p>
            <a:r>
              <a:rPr lang="en-US" altLang="en-US" sz="1600"/>
              <a:t>Solution is correct, but can only use BUFFER_SIZE-1 elements</a:t>
            </a:r>
          </a:p>
          <a:p>
            <a:pPr marL="1598613" lvl="3">
              <a:buFontTx/>
              <a:buNone/>
            </a:pPr>
            <a:endParaRPr lang="en-US" altLang="en-US" sz="20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FA1CED1-F110-2565-E951-63140BDCF1C6}"/>
              </a:ext>
            </a:extLst>
          </p:cNvPr>
          <p:cNvSpPr>
            <a:spLocks noGrp="1" noChangeArrowheads="1"/>
          </p:cNvSpPr>
          <p:nvPr>
            <p:ph type="title"/>
          </p:nvPr>
        </p:nvSpPr>
        <p:spPr>
          <a:xfrm>
            <a:off x="1117600" y="203200"/>
            <a:ext cx="7569200" cy="576263"/>
          </a:xfrm>
        </p:spPr>
        <p:txBody>
          <a:bodyPr/>
          <a:lstStyle/>
          <a:p>
            <a:pPr eaLnBrk="1" hangingPunct="1"/>
            <a:r>
              <a:rPr lang="en-US" altLang="en-US"/>
              <a:t>Bounded-Buffer – Producer</a:t>
            </a:r>
          </a:p>
        </p:txBody>
      </p:sp>
      <p:sp>
        <p:nvSpPr>
          <p:cNvPr id="33795" name="Rectangle 3">
            <a:extLst>
              <a:ext uri="{FF2B5EF4-FFF2-40B4-BE49-F238E27FC236}">
                <a16:creationId xmlns:a16="http://schemas.microsoft.com/office/drawing/2014/main" id="{1191C626-044F-0A51-F47B-7922F801D31F}"/>
              </a:ext>
            </a:extLst>
          </p:cNvPr>
          <p:cNvSpPr>
            <a:spLocks noGrp="1" noChangeArrowheads="1"/>
          </p:cNvSpPr>
          <p:nvPr>
            <p:ph type="body" idx="1"/>
          </p:nvPr>
        </p:nvSpPr>
        <p:spPr>
          <a:xfrm>
            <a:off x="1603375" y="1014413"/>
            <a:ext cx="6940550" cy="4483100"/>
          </a:xfrm>
        </p:spPr>
        <p:txBody>
          <a:bodyPr/>
          <a:lstStyle/>
          <a:p>
            <a:pPr>
              <a:buFont typeface="Monotype Sorts" charset="0"/>
              <a:buNone/>
              <a:defRPr/>
            </a:pPr>
            <a:endParaRPr lang="en-US" sz="1600" dirty="0">
              <a:latin typeface="Monaco" charset="0"/>
              <a:ea typeface="ＭＳ Ｐゴシック" charset="0"/>
              <a:cs typeface="ＭＳ Ｐゴシック" charset="0"/>
            </a:endParaRPr>
          </a:p>
          <a:p>
            <a:pPr marL="0" indent="0">
              <a:buFont typeface="Monotype Sorts" pitchFamily="-84" charset="2"/>
              <a:buNone/>
              <a:defRPr/>
            </a:pPr>
            <a:r>
              <a:rPr lang="en-US" sz="1600" dirty="0"/>
              <a:t>item </a:t>
            </a:r>
            <a:r>
              <a:rPr lang="en-US" sz="1600" dirty="0" err="1"/>
              <a:t>next_produced</a:t>
            </a:r>
            <a:r>
              <a:rPr lang="en-US" sz="1600" dirty="0"/>
              <a:t>; </a:t>
            </a:r>
          </a:p>
          <a:p>
            <a:pPr marL="0" indent="0">
              <a:buFont typeface="Monotype Sorts" pitchFamily="-84" charset="2"/>
              <a:buNone/>
              <a:defRPr/>
            </a:pPr>
            <a:r>
              <a:rPr lang="en-US" sz="1600" dirty="0"/>
              <a:t>while (true) { </a:t>
            </a:r>
          </a:p>
          <a:p>
            <a:pPr marL="0" indent="0">
              <a:buFont typeface="Monotype Sorts" pitchFamily="-84" charset="2"/>
              <a:buNone/>
              <a:defRPr/>
            </a:pPr>
            <a:r>
              <a:rPr lang="en-US" sz="1600" dirty="0"/>
              <a:t>	/* produce an item in next produced */ </a:t>
            </a:r>
          </a:p>
          <a:p>
            <a:pPr marL="0" indent="0">
              <a:buFont typeface="Monotype Sorts" pitchFamily="-84" charset="2"/>
              <a:buNone/>
              <a:defRPr/>
            </a:pPr>
            <a:r>
              <a:rPr lang="en-US" sz="1600" dirty="0"/>
              <a:t>	while (((in + 1) % BUFFER_SIZE) == out) </a:t>
            </a:r>
          </a:p>
          <a:p>
            <a:pPr marL="0" indent="0">
              <a:buFont typeface="Monotype Sorts" pitchFamily="-84" charset="2"/>
              <a:buNone/>
              <a:defRPr/>
            </a:pPr>
            <a:r>
              <a:rPr lang="en-US" sz="1600" dirty="0"/>
              <a:t>		; /* do nothing */ </a:t>
            </a:r>
          </a:p>
          <a:p>
            <a:pPr marL="0" indent="0">
              <a:buFont typeface="Monotype Sorts" pitchFamily="-84" charset="2"/>
              <a:buNone/>
              <a:defRPr/>
            </a:pPr>
            <a:r>
              <a:rPr lang="en-US" sz="1600" dirty="0"/>
              <a:t>	buffer[in] = </a:t>
            </a:r>
            <a:r>
              <a:rPr lang="en-US" sz="1600" dirty="0" err="1"/>
              <a:t>next_produced</a:t>
            </a:r>
            <a:r>
              <a:rPr lang="en-US" sz="1600" dirty="0"/>
              <a:t>; </a:t>
            </a:r>
          </a:p>
          <a:p>
            <a:pPr marL="0" indent="0">
              <a:buFont typeface="Monotype Sorts" pitchFamily="-84" charset="2"/>
              <a:buNone/>
              <a:defRPr/>
            </a:pPr>
            <a:r>
              <a:rPr lang="en-US" sz="1600" dirty="0"/>
              <a:t>	in = (in + 1) % BUFFER_SIZE; </a:t>
            </a:r>
          </a:p>
          <a:p>
            <a:pPr marL="0" indent="0">
              <a:buFont typeface="Monotype Sorts" pitchFamily="-84" charset="2"/>
              <a:buNone/>
              <a:defRPr/>
            </a:pPr>
            <a:r>
              <a:rPr lang="en-US" sz="1600" dirty="0"/>
              <a:t>} </a:t>
            </a:r>
          </a:p>
          <a:p>
            <a:pPr>
              <a:buFont typeface="Monotype Sorts" charset="0"/>
              <a:buNone/>
              <a:defRPr/>
            </a:pPr>
            <a:endParaRPr lang="en-US" sz="2000" dirty="0">
              <a:latin typeface="Monaco" charset="0"/>
              <a:ea typeface="ＭＳ Ｐゴシック" charset="0"/>
              <a:cs typeface="ＭＳ Ｐゴシック" charset="0"/>
            </a:endParaRPr>
          </a:p>
          <a:p>
            <a:pPr>
              <a:buFont typeface="Monotype Sorts" charset="0"/>
              <a:buNone/>
              <a:defRPr/>
            </a:pPr>
            <a:endParaRPr lang="en-US" sz="2000" dirty="0">
              <a:ea typeface="ＭＳ Ｐゴシック" charset="0"/>
              <a:cs typeface="ＭＳ Ｐゴシック" charset="0"/>
            </a:endParaRPr>
          </a:p>
          <a:p>
            <a:pPr>
              <a:buFont typeface="Monotype Sorts" charset="0"/>
              <a:buNone/>
              <a:defRPr/>
            </a:pPr>
            <a:r>
              <a:rPr lang="en-US" sz="1400" dirty="0">
                <a:ea typeface="ＭＳ Ｐゴシック" charset="0"/>
                <a:cs typeface="ＭＳ Ｐゴシック" charset="0"/>
              </a:rPr>
              <a:t>	</a:t>
            </a:r>
          </a:p>
          <a:p>
            <a:pPr marL="7168674" lvl="4">
              <a:buFontTx/>
              <a:buNone/>
              <a:defRPr/>
            </a:pPr>
            <a:endParaRPr lang="en-US" sz="1100" dirty="0">
              <a:ea typeface="ＭＳ Ｐゴシック"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39CD07F-5861-44B2-30B8-09AD715E8FB4}"/>
              </a:ext>
            </a:extLst>
          </p:cNvPr>
          <p:cNvSpPr>
            <a:spLocks noGrp="1" noChangeArrowheads="1"/>
          </p:cNvSpPr>
          <p:nvPr>
            <p:ph type="title"/>
          </p:nvPr>
        </p:nvSpPr>
        <p:spPr>
          <a:xfrm>
            <a:off x="457200" y="203200"/>
            <a:ext cx="8229600" cy="576263"/>
          </a:xfrm>
        </p:spPr>
        <p:txBody>
          <a:bodyPr/>
          <a:lstStyle/>
          <a:p>
            <a:pPr eaLnBrk="1" hangingPunct="1"/>
            <a:r>
              <a:rPr lang="en-US" altLang="en-US"/>
              <a:t>Bounded Buffer – Consumer</a:t>
            </a:r>
          </a:p>
        </p:txBody>
      </p:sp>
      <p:sp>
        <p:nvSpPr>
          <p:cNvPr id="37891" name="Rectangle 3">
            <a:extLst>
              <a:ext uri="{FF2B5EF4-FFF2-40B4-BE49-F238E27FC236}">
                <a16:creationId xmlns:a16="http://schemas.microsoft.com/office/drawing/2014/main" id="{11857EFA-DC05-1B12-5911-57289B762B63}"/>
              </a:ext>
            </a:extLst>
          </p:cNvPr>
          <p:cNvSpPr>
            <a:spLocks noGrp="1" noChangeArrowheads="1"/>
          </p:cNvSpPr>
          <p:nvPr>
            <p:ph type="body" idx="1"/>
          </p:nvPr>
        </p:nvSpPr>
        <p:spPr>
          <a:xfrm>
            <a:off x="1649413" y="1219200"/>
            <a:ext cx="6894512" cy="4411663"/>
          </a:xfrm>
        </p:spPr>
        <p:txBody>
          <a:bodyPr/>
          <a:lstStyle/>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item next_consumed;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while (true) {</a:t>
            </a:r>
            <a:br>
              <a:rPr lang="en-US" altLang="en-US" sz="1600">
                <a:latin typeface="Courier New" panose="02070309020205020404" pitchFamily="49" charset="0"/>
                <a:cs typeface="Courier New" panose="02070309020205020404" pitchFamily="49" charset="0"/>
              </a:rPr>
            </a:br>
            <a:r>
              <a:rPr lang="en-US" altLang="en-US" sz="1600">
                <a:latin typeface="Courier New" panose="02070309020205020404" pitchFamily="49" charset="0"/>
                <a:cs typeface="Courier New" panose="02070309020205020404" pitchFamily="49" charset="0"/>
              </a:rPr>
              <a:t>	while (in == out)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 /* do nothing */</a:t>
            </a:r>
            <a:br>
              <a:rPr lang="en-US" altLang="en-US" sz="1600">
                <a:latin typeface="Courier New" panose="02070309020205020404" pitchFamily="49" charset="0"/>
                <a:cs typeface="Courier New" panose="02070309020205020404" pitchFamily="49" charset="0"/>
              </a:rPr>
            </a:br>
            <a:r>
              <a:rPr lang="en-US" altLang="en-US" sz="1600">
                <a:latin typeface="Courier New" panose="02070309020205020404" pitchFamily="49" charset="0"/>
                <a:cs typeface="Courier New" panose="02070309020205020404" pitchFamily="49" charset="0"/>
              </a:rPr>
              <a:t>	next_consumed = buffer[out];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out = (out + 1) % BUFFER_SIZE;</a:t>
            </a:r>
            <a:br>
              <a:rPr lang="en-US" altLang="en-US" sz="1600">
                <a:latin typeface="Courier New" panose="02070309020205020404" pitchFamily="49" charset="0"/>
                <a:cs typeface="Courier New" panose="02070309020205020404" pitchFamily="49" charset="0"/>
              </a:rPr>
            </a:br>
            <a:endParaRPr lang="en-US" altLang="en-US" sz="1600">
              <a:latin typeface="Courier New" panose="02070309020205020404" pitchFamily="49" charset="0"/>
              <a:cs typeface="Courier New" panose="02070309020205020404" pitchFamily="49" charset="0"/>
            </a:endParaRP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 consume the item in next consumed */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FE1C5EE-F07C-D024-E500-05CD65B79FFA}"/>
              </a:ext>
            </a:extLst>
          </p:cNvPr>
          <p:cNvSpPr>
            <a:spLocks noGrp="1" noChangeArrowheads="1"/>
          </p:cNvSpPr>
          <p:nvPr>
            <p:ph type="title"/>
          </p:nvPr>
        </p:nvSpPr>
        <p:spPr>
          <a:xfrm>
            <a:off x="1057275" y="95250"/>
            <a:ext cx="8229600" cy="576263"/>
          </a:xfrm>
        </p:spPr>
        <p:txBody>
          <a:bodyPr/>
          <a:lstStyle/>
          <a:p>
            <a:pPr eaLnBrk="1" hangingPunct="1"/>
            <a:r>
              <a:rPr lang="en-US" altLang="en-US" sz="2500"/>
              <a:t>Interprocess Communication –  Shared Memory</a:t>
            </a:r>
          </a:p>
        </p:txBody>
      </p:sp>
      <p:sp>
        <p:nvSpPr>
          <p:cNvPr id="38915" name="Rectangle 3">
            <a:extLst>
              <a:ext uri="{FF2B5EF4-FFF2-40B4-BE49-F238E27FC236}">
                <a16:creationId xmlns:a16="http://schemas.microsoft.com/office/drawing/2014/main" id="{9B050F91-5DD1-4AA9-918F-CBF95E720C4F}"/>
              </a:ext>
            </a:extLst>
          </p:cNvPr>
          <p:cNvSpPr>
            <a:spLocks noGrp="1" noChangeArrowheads="1"/>
          </p:cNvSpPr>
          <p:nvPr>
            <p:ph type="body" idx="1"/>
          </p:nvPr>
        </p:nvSpPr>
        <p:spPr>
          <a:xfrm>
            <a:off x="898525" y="1233488"/>
            <a:ext cx="6621463" cy="4530725"/>
          </a:xfrm>
        </p:spPr>
        <p:txBody>
          <a:bodyPr/>
          <a:lstStyle/>
          <a:p>
            <a:pPr>
              <a:lnSpc>
                <a:spcPct val="90000"/>
              </a:lnSpc>
            </a:pPr>
            <a:r>
              <a:rPr lang="en-US" altLang="en-US"/>
              <a:t>An area of memory shared among the processes that wish to communicate</a:t>
            </a:r>
          </a:p>
          <a:p>
            <a:pPr>
              <a:lnSpc>
                <a:spcPct val="90000"/>
              </a:lnSpc>
            </a:pPr>
            <a:r>
              <a:rPr lang="en-US" altLang="en-US"/>
              <a:t>The communication is under the control of the users processes not the operating system.</a:t>
            </a:r>
          </a:p>
          <a:p>
            <a:pPr>
              <a:lnSpc>
                <a:spcPct val="90000"/>
              </a:lnSpc>
            </a:pPr>
            <a:r>
              <a:rPr lang="en-US" altLang="en-US"/>
              <a:t>Major issues is to provide mechanism that will allow the user processes to synchronize their actions when they access shared memory. </a:t>
            </a:r>
          </a:p>
          <a:p>
            <a:pPr>
              <a:lnSpc>
                <a:spcPct val="90000"/>
              </a:lnSpc>
            </a:pPr>
            <a:r>
              <a:rPr lang="en-US" altLang="en-US"/>
              <a:t>Synchronization is discussed in great details in Chapter 5.</a:t>
            </a:r>
          </a:p>
          <a:p>
            <a:pPr>
              <a:lnSpc>
                <a:spcPct val="90000"/>
              </a:lnSpc>
            </a:pPr>
            <a:endParaRPr lang="en-US" altLang="en-US"/>
          </a:p>
          <a:p>
            <a:pPr>
              <a:lnSpc>
                <a:spcPct val="90000"/>
              </a:lnSpc>
            </a:pPr>
            <a:endParaRPr lang="en-US" altLang="en-US"/>
          </a:p>
          <a:p>
            <a:pPr lvl="1">
              <a:lnSpc>
                <a:spcPct val="90000"/>
              </a:lnSpc>
              <a:buFont typeface="Monotype Sorts" pitchFamily="-84" charset="2"/>
              <a:buNone/>
            </a:pP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C99F0A1-0AE0-7AD2-15B2-A28F8214B2D7}"/>
              </a:ext>
            </a:extLst>
          </p:cNvPr>
          <p:cNvSpPr>
            <a:spLocks noGrp="1" noChangeArrowheads="1"/>
          </p:cNvSpPr>
          <p:nvPr>
            <p:ph type="title"/>
          </p:nvPr>
        </p:nvSpPr>
        <p:spPr>
          <a:xfrm>
            <a:off x="1057275" y="127000"/>
            <a:ext cx="8229600" cy="576263"/>
          </a:xfrm>
        </p:spPr>
        <p:txBody>
          <a:bodyPr/>
          <a:lstStyle/>
          <a:p>
            <a:pPr eaLnBrk="1" hangingPunct="1"/>
            <a:r>
              <a:rPr lang="en-US" altLang="en-US" sz="2500"/>
              <a:t>Interprocess Communication – Message Passing</a:t>
            </a:r>
          </a:p>
        </p:txBody>
      </p:sp>
      <p:sp>
        <p:nvSpPr>
          <p:cNvPr id="39939" name="Rectangle 3">
            <a:extLst>
              <a:ext uri="{FF2B5EF4-FFF2-40B4-BE49-F238E27FC236}">
                <a16:creationId xmlns:a16="http://schemas.microsoft.com/office/drawing/2014/main" id="{EF389954-4EDA-BEDF-A32C-A78CCF3106A2}"/>
              </a:ext>
            </a:extLst>
          </p:cNvPr>
          <p:cNvSpPr>
            <a:spLocks noGrp="1" noChangeArrowheads="1"/>
          </p:cNvSpPr>
          <p:nvPr>
            <p:ph type="body" idx="1"/>
          </p:nvPr>
        </p:nvSpPr>
        <p:spPr>
          <a:xfrm>
            <a:off x="885825" y="1201738"/>
            <a:ext cx="6934200" cy="4530725"/>
          </a:xfrm>
        </p:spPr>
        <p:txBody>
          <a:bodyPr/>
          <a:lstStyle/>
          <a:p>
            <a:pPr>
              <a:lnSpc>
                <a:spcPct val="90000"/>
              </a:lnSpc>
            </a:pPr>
            <a:r>
              <a:rPr lang="en-US" altLang="en-US"/>
              <a:t>Mechanism for processes to communicate and to synchronize their actions</a:t>
            </a:r>
          </a:p>
          <a:p>
            <a:pPr>
              <a:lnSpc>
                <a:spcPct val="90000"/>
              </a:lnSpc>
            </a:pPr>
            <a:endParaRPr lang="en-US" altLang="en-US" sz="800"/>
          </a:p>
          <a:p>
            <a:pPr>
              <a:lnSpc>
                <a:spcPct val="90000"/>
              </a:lnSpc>
            </a:pPr>
            <a:r>
              <a:rPr lang="en-US" altLang="en-US"/>
              <a:t>Message system – processes communicate with each other without resorting to shared variables</a:t>
            </a:r>
          </a:p>
          <a:p>
            <a:pPr>
              <a:lnSpc>
                <a:spcPct val="90000"/>
              </a:lnSpc>
            </a:pPr>
            <a:endParaRPr lang="en-US" altLang="en-US" sz="800"/>
          </a:p>
          <a:p>
            <a:pPr>
              <a:lnSpc>
                <a:spcPct val="90000"/>
              </a:lnSpc>
            </a:pPr>
            <a:r>
              <a:rPr lang="en-US" altLang="en-US"/>
              <a:t>IPC facility provides two operations:</a:t>
            </a:r>
          </a:p>
          <a:p>
            <a:pPr lvl="1">
              <a:lnSpc>
                <a:spcPct val="90000"/>
              </a:lnSpc>
            </a:pPr>
            <a:r>
              <a:rPr lang="en-US" altLang="en-US" b="1">
                <a:latin typeface="Courier New" panose="02070309020205020404" pitchFamily="49" charset="0"/>
                <a:cs typeface="Courier New" panose="02070309020205020404" pitchFamily="49" charset="0"/>
              </a:rPr>
              <a:t>send</a:t>
            </a:r>
            <a:r>
              <a:rPr lang="en-US" altLang="en-US"/>
              <a:t>(</a:t>
            </a:r>
            <a:r>
              <a:rPr lang="en-US" altLang="en-US" i="1"/>
              <a:t>message</a:t>
            </a:r>
            <a:r>
              <a:rPr lang="en-US" altLang="en-US"/>
              <a:t>)</a:t>
            </a:r>
          </a:p>
          <a:p>
            <a:pPr lvl="1">
              <a:lnSpc>
                <a:spcPct val="90000"/>
              </a:lnSpc>
            </a:pPr>
            <a:r>
              <a:rPr lang="en-US" altLang="en-US" b="1">
                <a:latin typeface="Courier New" panose="02070309020205020404" pitchFamily="49" charset="0"/>
                <a:cs typeface="Courier New" panose="02070309020205020404" pitchFamily="49" charset="0"/>
              </a:rPr>
              <a:t>receive</a:t>
            </a:r>
            <a:r>
              <a:rPr lang="en-US" altLang="en-US"/>
              <a:t>(</a:t>
            </a:r>
            <a:r>
              <a:rPr lang="en-US" altLang="en-US" i="1"/>
              <a:t>message</a:t>
            </a:r>
            <a:r>
              <a:rPr lang="en-US" altLang="en-US"/>
              <a:t>)</a:t>
            </a:r>
          </a:p>
          <a:p>
            <a:pPr lvl="1">
              <a:lnSpc>
                <a:spcPct val="90000"/>
              </a:lnSpc>
              <a:buFont typeface="Monotype Sorts" pitchFamily="-84" charset="2"/>
              <a:buNone/>
            </a:pPr>
            <a:endParaRPr lang="en-US" altLang="en-US" sz="800"/>
          </a:p>
          <a:p>
            <a:pPr>
              <a:lnSpc>
                <a:spcPct val="90000"/>
              </a:lnSpc>
            </a:pPr>
            <a:r>
              <a:rPr lang="en-US" altLang="en-US"/>
              <a:t>The</a:t>
            </a:r>
            <a:r>
              <a:rPr lang="en-US" altLang="en-US" i="1"/>
              <a:t> message</a:t>
            </a:r>
            <a:r>
              <a:rPr lang="en-US" altLang="en-US"/>
              <a:t> size is either fixed or variable</a:t>
            </a:r>
          </a:p>
          <a:p>
            <a:pPr lvl="1">
              <a:lnSpc>
                <a:spcPct val="90000"/>
              </a:lnSpc>
              <a:buFont typeface="Monotype Sorts" pitchFamily="-84" charset="2"/>
              <a:buNone/>
            </a:pP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EDB2430-E6B5-114D-C6EA-8322EC641487}"/>
              </a:ext>
            </a:extLst>
          </p:cNvPr>
          <p:cNvSpPr>
            <a:spLocks noGrp="1" noChangeArrowheads="1"/>
          </p:cNvSpPr>
          <p:nvPr>
            <p:ph type="title"/>
          </p:nvPr>
        </p:nvSpPr>
        <p:spPr>
          <a:xfrm>
            <a:off x="996950" y="107950"/>
            <a:ext cx="8229600" cy="576263"/>
          </a:xfrm>
        </p:spPr>
        <p:txBody>
          <a:bodyPr/>
          <a:lstStyle/>
          <a:p>
            <a:pPr eaLnBrk="1" hangingPunct="1"/>
            <a:r>
              <a:rPr lang="en-US" altLang="en-US" sz="2500"/>
              <a:t>Message Passing (Cont.)</a:t>
            </a:r>
          </a:p>
        </p:txBody>
      </p:sp>
      <p:sp>
        <p:nvSpPr>
          <p:cNvPr id="40963" name="Rectangle 3">
            <a:extLst>
              <a:ext uri="{FF2B5EF4-FFF2-40B4-BE49-F238E27FC236}">
                <a16:creationId xmlns:a16="http://schemas.microsoft.com/office/drawing/2014/main" id="{C1258019-D456-7639-1738-B0DCC42FBB04}"/>
              </a:ext>
            </a:extLst>
          </p:cNvPr>
          <p:cNvSpPr>
            <a:spLocks noGrp="1" noChangeArrowheads="1"/>
          </p:cNvSpPr>
          <p:nvPr>
            <p:ph type="body" idx="1"/>
          </p:nvPr>
        </p:nvSpPr>
        <p:spPr>
          <a:xfrm>
            <a:off x="901700" y="1016000"/>
            <a:ext cx="7694613" cy="4530725"/>
          </a:xfrm>
        </p:spPr>
        <p:txBody>
          <a:bodyPr/>
          <a:lstStyle/>
          <a:p>
            <a:pPr lvl="1">
              <a:lnSpc>
                <a:spcPct val="90000"/>
              </a:lnSpc>
            </a:pPr>
            <a:endParaRPr lang="en-US" altLang="en-US" sz="800"/>
          </a:p>
          <a:p>
            <a:pPr>
              <a:lnSpc>
                <a:spcPct val="90000"/>
              </a:lnSpc>
            </a:pPr>
            <a:r>
              <a:rPr lang="en-US" altLang="en-US"/>
              <a:t>If processes </a:t>
            </a:r>
            <a:r>
              <a:rPr lang="en-US" altLang="en-US" i="1"/>
              <a:t>P</a:t>
            </a:r>
            <a:r>
              <a:rPr lang="en-US" altLang="en-US"/>
              <a:t> and </a:t>
            </a:r>
            <a:r>
              <a:rPr lang="en-US" altLang="en-US" i="1"/>
              <a:t>Q</a:t>
            </a:r>
            <a:r>
              <a:rPr lang="en-US" altLang="en-US"/>
              <a:t> wish to communicate, they need to:</a:t>
            </a:r>
          </a:p>
          <a:p>
            <a:pPr lvl="1">
              <a:lnSpc>
                <a:spcPct val="90000"/>
              </a:lnSpc>
            </a:pPr>
            <a:r>
              <a:rPr lang="en-US" altLang="en-US"/>
              <a:t>Establish a </a:t>
            </a:r>
            <a:r>
              <a:rPr lang="en-US" altLang="en-US" b="1" i="1"/>
              <a:t>communication</a:t>
            </a:r>
            <a:r>
              <a:rPr lang="en-US" altLang="en-US" b="1"/>
              <a:t> </a:t>
            </a:r>
            <a:r>
              <a:rPr lang="en-US" altLang="en-US" b="1" i="1"/>
              <a:t>link</a:t>
            </a:r>
            <a:r>
              <a:rPr lang="en-US" altLang="en-US" b="1"/>
              <a:t> </a:t>
            </a:r>
            <a:r>
              <a:rPr lang="en-US" altLang="en-US"/>
              <a:t>between them</a:t>
            </a:r>
          </a:p>
          <a:p>
            <a:pPr lvl="1">
              <a:lnSpc>
                <a:spcPct val="90000"/>
              </a:lnSpc>
            </a:pPr>
            <a:r>
              <a:rPr lang="en-US" altLang="en-US"/>
              <a:t>Exchange messages via send/receive</a:t>
            </a:r>
          </a:p>
          <a:p>
            <a:pPr>
              <a:lnSpc>
                <a:spcPct val="90000"/>
              </a:lnSpc>
            </a:pPr>
            <a:r>
              <a:rPr lang="en-US" altLang="en-US"/>
              <a:t>Implementation issues:</a:t>
            </a:r>
          </a:p>
          <a:p>
            <a:pPr lvl="1"/>
            <a:r>
              <a:rPr lang="en-US" altLang="en-US"/>
              <a:t>How are links established?</a:t>
            </a:r>
          </a:p>
          <a:p>
            <a:pPr lvl="1"/>
            <a:r>
              <a:rPr lang="en-US" altLang="en-US"/>
              <a:t>Can a link be associated with more than two processes?</a:t>
            </a:r>
          </a:p>
          <a:p>
            <a:pPr lvl="1"/>
            <a:r>
              <a:rPr lang="en-US" altLang="en-US"/>
              <a:t>How many links can there be between every pair of communicating processes?</a:t>
            </a:r>
          </a:p>
          <a:p>
            <a:pPr lvl="1"/>
            <a:r>
              <a:rPr lang="en-US" altLang="en-US"/>
              <a:t>What is the capacity of a link?</a:t>
            </a:r>
          </a:p>
          <a:p>
            <a:pPr lvl="1"/>
            <a:r>
              <a:rPr lang="en-US" altLang="en-US"/>
              <a:t>Is the size of a message that the link can accommodate fixed or variable?</a:t>
            </a:r>
          </a:p>
          <a:p>
            <a:pPr lvl="1"/>
            <a:r>
              <a:rPr lang="en-US" altLang="en-US"/>
              <a:t>Is a link unidirectional or bi-directional?</a:t>
            </a:r>
          </a:p>
          <a:p>
            <a:pPr>
              <a:lnSpc>
                <a:spcPct val="90000"/>
              </a:lnSpc>
              <a:buFont typeface="Monotype Sorts" pitchFamily="-84" charset="2"/>
              <a:buNone/>
            </a:pP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4194A76-D9A3-9187-81A4-31C338E19670}"/>
              </a:ext>
            </a:extLst>
          </p:cNvPr>
          <p:cNvSpPr>
            <a:spLocks noGrp="1" noChangeArrowheads="1"/>
          </p:cNvSpPr>
          <p:nvPr>
            <p:ph type="title"/>
          </p:nvPr>
        </p:nvSpPr>
        <p:spPr>
          <a:xfrm>
            <a:off x="933450" y="123825"/>
            <a:ext cx="8229600" cy="576263"/>
          </a:xfrm>
        </p:spPr>
        <p:txBody>
          <a:bodyPr/>
          <a:lstStyle/>
          <a:p>
            <a:pPr eaLnBrk="1" hangingPunct="1"/>
            <a:r>
              <a:rPr lang="en-US" altLang="en-US" sz="2500"/>
              <a:t>Message Passing (Cont.)</a:t>
            </a:r>
          </a:p>
        </p:txBody>
      </p:sp>
      <p:sp>
        <p:nvSpPr>
          <p:cNvPr id="41987" name="Rectangle 3">
            <a:extLst>
              <a:ext uri="{FF2B5EF4-FFF2-40B4-BE49-F238E27FC236}">
                <a16:creationId xmlns:a16="http://schemas.microsoft.com/office/drawing/2014/main" id="{3CC0DE8B-8CD1-E002-9A78-7894E28D66BB}"/>
              </a:ext>
            </a:extLst>
          </p:cNvPr>
          <p:cNvSpPr>
            <a:spLocks noGrp="1" noChangeArrowheads="1"/>
          </p:cNvSpPr>
          <p:nvPr>
            <p:ph type="body" idx="1"/>
          </p:nvPr>
        </p:nvSpPr>
        <p:spPr>
          <a:xfrm>
            <a:off x="901700" y="785813"/>
            <a:ext cx="7694613" cy="4530725"/>
          </a:xfrm>
        </p:spPr>
        <p:txBody>
          <a:bodyPr/>
          <a:lstStyle/>
          <a:p>
            <a:pPr lvl="1">
              <a:lnSpc>
                <a:spcPct val="90000"/>
              </a:lnSpc>
            </a:pPr>
            <a:endParaRPr lang="en-US" altLang="en-US" sz="800"/>
          </a:p>
          <a:p>
            <a:pPr lvl="1">
              <a:lnSpc>
                <a:spcPct val="90000"/>
              </a:lnSpc>
              <a:buFont typeface="Monotype Sorts" pitchFamily="-84" charset="2"/>
              <a:buNone/>
            </a:pPr>
            <a:endParaRPr lang="en-US" altLang="en-US" sz="800"/>
          </a:p>
          <a:p>
            <a:pPr>
              <a:lnSpc>
                <a:spcPct val="90000"/>
              </a:lnSpc>
            </a:pPr>
            <a:r>
              <a:rPr lang="en-US" altLang="en-US"/>
              <a:t>Implementation of communication link</a:t>
            </a:r>
          </a:p>
          <a:p>
            <a:pPr lvl="1">
              <a:lnSpc>
                <a:spcPct val="90000"/>
              </a:lnSpc>
            </a:pPr>
            <a:r>
              <a:rPr lang="en-US" altLang="en-US"/>
              <a:t>Physical:</a:t>
            </a:r>
          </a:p>
          <a:p>
            <a:pPr lvl="2">
              <a:lnSpc>
                <a:spcPct val="90000"/>
              </a:lnSpc>
            </a:pPr>
            <a:r>
              <a:rPr lang="en-US" altLang="en-US"/>
              <a:t>Shared memory</a:t>
            </a:r>
          </a:p>
          <a:p>
            <a:pPr lvl="2">
              <a:lnSpc>
                <a:spcPct val="90000"/>
              </a:lnSpc>
            </a:pPr>
            <a:r>
              <a:rPr lang="en-US" altLang="en-US"/>
              <a:t>Hardware bus</a:t>
            </a:r>
          </a:p>
          <a:p>
            <a:pPr lvl="2">
              <a:lnSpc>
                <a:spcPct val="90000"/>
              </a:lnSpc>
            </a:pPr>
            <a:r>
              <a:rPr lang="en-US" altLang="en-US"/>
              <a:t>Network</a:t>
            </a:r>
          </a:p>
          <a:p>
            <a:pPr lvl="1">
              <a:lnSpc>
                <a:spcPct val="90000"/>
              </a:lnSpc>
            </a:pPr>
            <a:r>
              <a:rPr lang="en-US" altLang="en-US"/>
              <a:t>Logical:</a:t>
            </a:r>
          </a:p>
          <a:p>
            <a:pPr lvl="2">
              <a:lnSpc>
                <a:spcPct val="90000"/>
              </a:lnSpc>
            </a:pPr>
            <a:r>
              <a:rPr lang="en-US" altLang="en-US"/>
              <a:t> Direct or indirect</a:t>
            </a:r>
          </a:p>
          <a:p>
            <a:pPr lvl="2">
              <a:lnSpc>
                <a:spcPct val="90000"/>
              </a:lnSpc>
            </a:pPr>
            <a:r>
              <a:rPr lang="en-US" altLang="en-US"/>
              <a:t> Synchronous or asynchronous</a:t>
            </a:r>
          </a:p>
          <a:p>
            <a:pPr lvl="2">
              <a:lnSpc>
                <a:spcPct val="90000"/>
              </a:lnSpc>
            </a:pPr>
            <a:r>
              <a:rPr lang="en-US" altLang="en-US"/>
              <a:t> Automatic or explicit buffering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E6420C8-19F6-92D9-9E30-2ADE079D2F6A}"/>
              </a:ext>
            </a:extLst>
          </p:cNvPr>
          <p:cNvSpPr>
            <a:spLocks noGrp="1" noChangeArrowheads="1"/>
          </p:cNvSpPr>
          <p:nvPr>
            <p:ph type="title"/>
          </p:nvPr>
        </p:nvSpPr>
        <p:spPr>
          <a:xfrm>
            <a:off x="457200" y="177800"/>
            <a:ext cx="8229600" cy="576263"/>
          </a:xfrm>
        </p:spPr>
        <p:txBody>
          <a:bodyPr/>
          <a:lstStyle/>
          <a:p>
            <a:pPr eaLnBrk="1" hangingPunct="1"/>
            <a:r>
              <a:rPr lang="en-US" altLang="en-US"/>
              <a:t>Direct Communication</a:t>
            </a:r>
          </a:p>
        </p:txBody>
      </p:sp>
      <p:sp>
        <p:nvSpPr>
          <p:cNvPr id="43011" name="Rectangle 3">
            <a:extLst>
              <a:ext uri="{FF2B5EF4-FFF2-40B4-BE49-F238E27FC236}">
                <a16:creationId xmlns:a16="http://schemas.microsoft.com/office/drawing/2014/main" id="{65FD97C3-2272-999D-4DE7-BDC1DEA41161}"/>
              </a:ext>
            </a:extLst>
          </p:cNvPr>
          <p:cNvSpPr>
            <a:spLocks noGrp="1" noChangeArrowheads="1"/>
          </p:cNvSpPr>
          <p:nvPr>
            <p:ph type="body" idx="1"/>
          </p:nvPr>
        </p:nvSpPr>
        <p:spPr>
          <a:xfrm>
            <a:off x="885825" y="1138238"/>
            <a:ext cx="7635875" cy="4530725"/>
          </a:xfrm>
        </p:spPr>
        <p:txBody>
          <a:bodyPr/>
          <a:lstStyle/>
          <a:p>
            <a:r>
              <a:rPr lang="en-US" altLang="en-US"/>
              <a:t>Processes must name each other explicitly:</a:t>
            </a:r>
          </a:p>
          <a:p>
            <a:pPr lvl="1"/>
            <a:r>
              <a:rPr lang="en-US" altLang="en-US" b="1">
                <a:latin typeface="Courier New" panose="02070309020205020404" pitchFamily="49" charset="0"/>
                <a:cs typeface="Courier New" panose="02070309020205020404" pitchFamily="49" charset="0"/>
              </a:rPr>
              <a:t>send</a:t>
            </a:r>
            <a:r>
              <a:rPr lang="en-US" altLang="en-US"/>
              <a:t> (</a:t>
            </a:r>
            <a:r>
              <a:rPr lang="en-US" altLang="en-US" i="1"/>
              <a:t>P, message</a:t>
            </a:r>
            <a:r>
              <a:rPr lang="en-US" altLang="en-US"/>
              <a:t>) – send a message to process P</a:t>
            </a:r>
          </a:p>
          <a:p>
            <a:pPr lvl="1"/>
            <a:r>
              <a:rPr lang="en-US" altLang="en-US" b="1">
                <a:latin typeface="Courier New" panose="02070309020205020404" pitchFamily="49" charset="0"/>
                <a:cs typeface="Courier New" panose="02070309020205020404" pitchFamily="49" charset="0"/>
              </a:rPr>
              <a:t>receive</a:t>
            </a:r>
            <a:r>
              <a:rPr lang="en-US" altLang="en-US"/>
              <a:t>(</a:t>
            </a:r>
            <a:r>
              <a:rPr lang="en-US" altLang="en-US" i="1"/>
              <a:t>Q, message</a:t>
            </a:r>
            <a:r>
              <a:rPr lang="en-US" altLang="en-US"/>
              <a:t>) – receive a message from process Q</a:t>
            </a:r>
          </a:p>
          <a:p>
            <a:r>
              <a:rPr lang="en-US" altLang="en-US"/>
              <a:t>Properties of communication link</a:t>
            </a:r>
          </a:p>
          <a:p>
            <a:pPr lvl="1"/>
            <a:r>
              <a:rPr lang="en-US" altLang="en-US"/>
              <a:t>Links are established automatically</a:t>
            </a:r>
          </a:p>
          <a:p>
            <a:pPr lvl="1"/>
            <a:r>
              <a:rPr lang="en-US" altLang="en-US"/>
              <a:t>A link is associated with exactly one pair of communicating processes</a:t>
            </a:r>
          </a:p>
          <a:p>
            <a:pPr lvl="1"/>
            <a:r>
              <a:rPr lang="en-US" altLang="en-US"/>
              <a:t>Between each pair there exists exactly one link</a:t>
            </a:r>
          </a:p>
          <a:p>
            <a:pPr lvl="1"/>
            <a:r>
              <a:rPr lang="en-US" altLang="en-US"/>
              <a:t>The link may be unidirectional, but is usually bi-directional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F20B8C1-C519-34C5-CDE7-1C4E8BC9A487}"/>
              </a:ext>
            </a:extLst>
          </p:cNvPr>
          <p:cNvSpPr>
            <a:spLocks noGrp="1" noChangeArrowheads="1"/>
          </p:cNvSpPr>
          <p:nvPr>
            <p:ph type="title"/>
          </p:nvPr>
        </p:nvSpPr>
        <p:spPr>
          <a:xfrm>
            <a:off x="457200" y="152400"/>
            <a:ext cx="8229600" cy="576263"/>
          </a:xfrm>
        </p:spPr>
        <p:txBody>
          <a:bodyPr/>
          <a:lstStyle/>
          <a:p>
            <a:pPr eaLnBrk="1" hangingPunct="1"/>
            <a:r>
              <a:rPr lang="en-US" altLang="en-US"/>
              <a:t>Indirect Communication</a:t>
            </a:r>
          </a:p>
        </p:txBody>
      </p:sp>
      <p:sp>
        <p:nvSpPr>
          <p:cNvPr id="44035" name="Rectangle 3">
            <a:extLst>
              <a:ext uri="{FF2B5EF4-FFF2-40B4-BE49-F238E27FC236}">
                <a16:creationId xmlns:a16="http://schemas.microsoft.com/office/drawing/2014/main" id="{C9F612C2-247F-ACD6-9E01-098170C5351D}"/>
              </a:ext>
            </a:extLst>
          </p:cNvPr>
          <p:cNvSpPr>
            <a:spLocks noGrp="1" noChangeArrowheads="1"/>
          </p:cNvSpPr>
          <p:nvPr>
            <p:ph type="body" idx="1"/>
          </p:nvPr>
        </p:nvSpPr>
        <p:spPr>
          <a:xfrm>
            <a:off x="854075" y="1166813"/>
            <a:ext cx="7391400" cy="4159250"/>
          </a:xfrm>
        </p:spPr>
        <p:txBody>
          <a:bodyPr/>
          <a:lstStyle/>
          <a:p>
            <a:r>
              <a:rPr lang="en-US" altLang="en-US"/>
              <a:t>Messages are directed and received from mailboxes (also referred to as ports)</a:t>
            </a:r>
          </a:p>
          <a:p>
            <a:pPr lvl="1"/>
            <a:r>
              <a:rPr lang="en-US" altLang="en-US"/>
              <a:t>Each mailbox has a unique id</a:t>
            </a:r>
          </a:p>
          <a:p>
            <a:pPr lvl="1"/>
            <a:r>
              <a:rPr lang="en-US" altLang="en-US"/>
              <a:t>Processes can communicate only if they share a mailbox</a:t>
            </a:r>
          </a:p>
          <a:p>
            <a:r>
              <a:rPr lang="en-US" altLang="en-US"/>
              <a:t>Properties of communication link</a:t>
            </a:r>
          </a:p>
          <a:p>
            <a:pPr lvl="1"/>
            <a:r>
              <a:rPr lang="en-US" altLang="en-US"/>
              <a:t>Link established only if processes share a common mailbox</a:t>
            </a:r>
          </a:p>
          <a:p>
            <a:pPr lvl="1"/>
            <a:r>
              <a:rPr lang="en-US" altLang="en-US"/>
              <a:t>A link may be associated with many processes</a:t>
            </a:r>
          </a:p>
          <a:p>
            <a:pPr lvl="1"/>
            <a:r>
              <a:rPr lang="en-US" altLang="en-US"/>
              <a:t>Each pair of processes may share several communication links</a:t>
            </a:r>
          </a:p>
          <a:p>
            <a:pPr lvl="1"/>
            <a:r>
              <a:rPr lang="en-US" altLang="en-US"/>
              <a:t>Link may be unidirectional or bi-directional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47EE551-EFE5-2A89-AD47-412D7FAD00E3}"/>
              </a:ext>
            </a:extLst>
          </p:cNvPr>
          <p:cNvSpPr>
            <a:spLocks noGrp="1" noChangeArrowheads="1"/>
          </p:cNvSpPr>
          <p:nvPr>
            <p:ph type="title"/>
          </p:nvPr>
        </p:nvSpPr>
        <p:spPr>
          <a:xfrm>
            <a:off x="882650" y="182563"/>
            <a:ext cx="8229600" cy="576262"/>
          </a:xfrm>
        </p:spPr>
        <p:txBody>
          <a:bodyPr/>
          <a:lstStyle/>
          <a:p>
            <a:pPr eaLnBrk="1" hangingPunct="1"/>
            <a:r>
              <a:rPr lang="en-US" altLang="en-US"/>
              <a:t>Indirect Communication</a:t>
            </a:r>
          </a:p>
        </p:txBody>
      </p:sp>
      <p:sp>
        <p:nvSpPr>
          <p:cNvPr id="45059" name="Rectangle 3">
            <a:extLst>
              <a:ext uri="{FF2B5EF4-FFF2-40B4-BE49-F238E27FC236}">
                <a16:creationId xmlns:a16="http://schemas.microsoft.com/office/drawing/2014/main" id="{C367590E-D75E-84E3-FF1E-26176045813D}"/>
              </a:ext>
            </a:extLst>
          </p:cNvPr>
          <p:cNvSpPr>
            <a:spLocks noGrp="1" noChangeArrowheads="1"/>
          </p:cNvSpPr>
          <p:nvPr>
            <p:ph type="body" idx="1"/>
          </p:nvPr>
        </p:nvSpPr>
        <p:spPr>
          <a:xfrm>
            <a:off x="838200" y="1135063"/>
            <a:ext cx="7580313" cy="3821112"/>
          </a:xfrm>
        </p:spPr>
        <p:txBody>
          <a:bodyPr/>
          <a:lstStyle/>
          <a:p>
            <a:r>
              <a:rPr lang="en-US" altLang="en-US"/>
              <a:t>Operations</a:t>
            </a:r>
          </a:p>
          <a:p>
            <a:pPr lvl="1"/>
            <a:r>
              <a:rPr lang="en-US" altLang="en-US"/>
              <a:t>create a new mailbox (port)</a:t>
            </a:r>
          </a:p>
          <a:p>
            <a:pPr lvl="1"/>
            <a:r>
              <a:rPr lang="en-US" altLang="en-US"/>
              <a:t>send and receive messages through mailbox</a:t>
            </a:r>
          </a:p>
          <a:p>
            <a:pPr lvl="1"/>
            <a:r>
              <a:rPr lang="en-US" altLang="en-US"/>
              <a:t>destroy a mailbox</a:t>
            </a:r>
          </a:p>
          <a:p>
            <a:r>
              <a:rPr lang="en-US" altLang="en-US"/>
              <a:t>Primitives are defined as:</a:t>
            </a:r>
          </a:p>
          <a:p>
            <a:pPr>
              <a:buFont typeface="Monotype Sorts" pitchFamily="-84" charset="2"/>
              <a:buNone/>
            </a:pPr>
            <a:r>
              <a:rPr lang="en-US" altLang="en-US"/>
              <a:t>	</a:t>
            </a:r>
            <a:r>
              <a:rPr lang="en-US" altLang="en-US" b="1">
                <a:latin typeface="Courier New" panose="02070309020205020404" pitchFamily="49" charset="0"/>
                <a:cs typeface="Courier New" panose="02070309020205020404" pitchFamily="49" charset="0"/>
              </a:rPr>
              <a:t>send</a:t>
            </a:r>
            <a:r>
              <a:rPr lang="en-US" altLang="en-US"/>
              <a:t>(</a:t>
            </a:r>
            <a:r>
              <a:rPr lang="en-US" altLang="en-US" i="1"/>
              <a:t>A, message</a:t>
            </a:r>
            <a:r>
              <a:rPr lang="en-US" altLang="en-US"/>
              <a:t>) – send a message to mailbox A</a:t>
            </a:r>
          </a:p>
          <a:p>
            <a:pPr>
              <a:buFont typeface="Monotype Sorts" pitchFamily="-84" charset="2"/>
              <a:buNone/>
            </a:pPr>
            <a:r>
              <a:rPr lang="en-US" altLang="en-US"/>
              <a:t>	</a:t>
            </a:r>
            <a:r>
              <a:rPr lang="en-US" altLang="en-US" b="1">
                <a:latin typeface="Courier New" panose="02070309020205020404" pitchFamily="49" charset="0"/>
                <a:cs typeface="Courier New" panose="02070309020205020404" pitchFamily="49" charset="0"/>
              </a:rPr>
              <a:t>receive</a:t>
            </a:r>
            <a:r>
              <a:rPr lang="en-US" altLang="en-US"/>
              <a:t>(</a:t>
            </a:r>
            <a:r>
              <a:rPr lang="en-US" altLang="en-US" i="1"/>
              <a:t>A, message</a:t>
            </a:r>
            <a:r>
              <a:rPr lang="en-US" altLang="en-US"/>
              <a:t>) – receive a message from mailbox 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81AC975-70DC-E17C-0682-5491A69B871F}"/>
              </a:ext>
            </a:extLst>
          </p:cNvPr>
          <p:cNvSpPr>
            <a:spLocks noGrp="1" noChangeArrowheads="1"/>
          </p:cNvSpPr>
          <p:nvPr>
            <p:ph type="title"/>
          </p:nvPr>
        </p:nvSpPr>
        <p:spPr>
          <a:xfrm>
            <a:off x="876300" y="182563"/>
            <a:ext cx="7810500" cy="576262"/>
          </a:xfrm>
        </p:spPr>
        <p:txBody>
          <a:bodyPr/>
          <a:lstStyle/>
          <a:p>
            <a:pPr eaLnBrk="1" hangingPunct="1"/>
            <a:r>
              <a:rPr lang="en-US" altLang="en-US"/>
              <a:t>Indirect Communication</a:t>
            </a:r>
          </a:p>
        </p:txBody>
      </p:sp>
      <p:sp>
        <p:nvSpPr>
          <p:cNvPr id="46083" name="Rectangle 3">
            <a:extLst>
              <a:ext uri="{FF2B5EF4-FFF2-40B4-BE49-F238E27FC236}">
                <a16:creationId xmlns:a16="http://schemas.microsoft.com/office/drawing/2014/main" id="{47B866EA-2FAB-3A00-F791-EFB767F27F59}"/>
              </a:ext>
            </a:extLst>
          </p:cNvPr>
          <p:cNvSpPr>
            <a:spLocks noGrp="1" noChangeArrowheads="1"/>
          </p:cNvSpPr>
          <p:nvPr>
            <p:ph type="body" idx="1"/>
          </p:nvPr>
        </p:nvSpPr>
        <p:spPr>
          <a:xfrm>
            <a:off x="882650" y="1127125"/>
            <a:ext cx="6637338" cy="4530725"/>
          </a:xfrm>
        </p:spPr>
        <p:txBody>
          <a:bodyPr/>
          <a:lstStyle/>
          <a:p>
            <a:r>
              <a:rPr lang="en-US" altLang="en-US"/>
              <a:t>Mailbox sharing</a:t>
            </a:r>
          </a:p>
          <a:p>
            <a:pPr lvl="1"/>
            <a:r>
              <a:rPr lang="en-US" altLang="en-US" i="1"/>
              <a:t>P</a:t>
            </a:r>
            <a:r>
              <a:rPr lang="en-US" altLang="en-US" i="1" baseline="-25000"/>
              <a:t>1</a:t>
            </a:r>
            <a:r>
              <a:rPr lang="en-US" altLang="en-US" i="1"/>
              <a:t>, P</a:t>
            </a:r>
            <a:r>
              <a:rPr lang="en-US" altLang="en-US" i="1" baseline="-25000"/>
              <a:t>2</a:t>
            </a:r>
            <a:r>
              <a:rPr lang="en-US" altLang="en-US" i="1"/>
              <a:t>,</a:t>
            </a:r>
            <a:r>
              <a:rPr lang="en-US" altLang="en-US"/>
              <a:t> and</a:t>
            </a:r>
            <a:r>
              <a:rPr lang="en-US" altLang="en-US" i="1"/>
              <a:t> P</a:t>
            </a:r>
            <a:r>
              <a:rPr lang="en-US" altLang="en-US" i="1" baseline="-25000"/>
              <a:t>3</a:t>
            </a:r>
            <a:r>
              <a:rPr lang="en-US" altLang="en-US"/>
              <a:t> share mailbox A</a:t>
            </a:r>
          </a:p>
          <a:p>
            <a:pPr lvl="1"/>
            <a:r>
              <a:rPr lang="en-US" altLang="en-US" i="1"/>
              <a:t>P</a:t>
            </a:r>
            <a:r>
              <a:rPr lang="en-US" altLang="en-US" i="1" baseline="-25000"/>
              <a:t>1</a:t>
            </a:r>
            <a:r>
              <a:rPr lang="en-US" altLang="en-US"/>
              <a:t>, sends; </a:t>
            </a:r>
            <a:r>
              <a:rPr lang="en-US" altLang="en-US" i="1"/>
              <a:t>P</a:t>
            </a:r>
            <a:r>
              <a:rPr lang="en-US" altLang="en-US" i="1" baseline="-25000"/>
              <a:t>2</a:t>
            </a:r>
            <a:r>
              <a:rPr lang="en-US" altLang="en-US" i="1"/>
              <a:t> </a:t>
            </a:r>
            <a:r>
              <a:rPr lang="en-US" altLang="en-US"/>
              <a:t>and</a:t>
            </a:r>
            <a:r>
              <a:rPr lang="en-US" altLang="en-US" i="1"/>
              <a:t> P</a:t>
            </a:r>
            <a:r>
              <a:rPr lang="en-US" altLang="en-US" i="1" baseline="-25000"/>
              <a:t>3</a:t>
            </a:r>
            <a:r>
              <a:rPr lang="en-US" altLang="en-US"/>
              <a:t> receive</a:t>
            </a:r>
          </a:p>
          <a:p>
            <a:pPr lvl="1"/>
            <a:r>
              <a:rPr lang="en-US" altLang="en-US"/>
              <a:t>Who gets the message?</a:t>
            </a:r>
          </a:p>
          <a:p>
            <a:r>
              <a:rPr lang="en-US" altLang="en-US"/>
              <a:t>Solutions</a:t>
            </a:r>
          </a:p>
          <a:p>
            <a:pPr lvl="1"/>
            <a:r>
              <a:rPr lang="en-US" altLang="en-US"/>
              <a:t>Allow a link to be associated with at most two processes</a:t>
            </a:r>
          </a:p>
          <a:p>
            <a:pPr lvl="1"/>
            <a:r>
              <a:rPr lang="en-US" altLang="en-US"/>
              <a:t>Allow only one process at a time to execute a receive operation</a:t>
            </a:r>
          </a:p>
          <a:p>
            <a:pPr lvl="1"/>
            <a:r>
              <a:rPr lang="en-US" altLang="en-US"/>
              <a:t>Allow the system to select arbitrarily the receiver.  Sender is notified who the receiver was.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28289F3-7B24-D44E-C31D-742E68A69CC5}"/>
              </a:ext>
            </a:extLst>
          </p:cNvPr>
          <p:cNvSpPr>
            <a:spLocks noGrp="1" noChangeArrowheads="1"/>
          </p:cNvSpPr>
          <p:nvPr>
            <p:ph type="title"/>
          </p:nvPr>
        </p:nvSpPr>
        <p:spPr>
          <a:xfrm>
            <a:off x="457200" y="168275"/>
            <a:ext cx="8229600" cy="576263"/>
          </a:xfrm>
        </p:spPr>
        <p:txBody>
          <a:bodyPr/>
          <a:lstStyle/>
          <a:p>
            <a:pPr eaLnBrk="1" hangingPunct="1"/>
            <a:r>
              <a:rPr lang="en-US" altLang="en-US"/>
              <a:t>Synchronization</a:t>
            </a:r>
          </a:p>
        </p:txBody>
      </p:sp>
      <p:sp>
        <p:nvSpPr>
          <p:cNvPr id="44035" name="Rectangle 3">
            <a:extLst>
              <a:ext uri="{FF2B5EF4-FFF2-40B4-BE49-F238E27FC236}">
                <a16:creationId xmlns:a16="http://schemas.microsoft.com/office/drawing/2014/main" id="{3EBFCEE3-B3C8-6384-DA3E-140DC25F56E5}"/>
              </a:ext>
            </a:extLst>
          </p:cNvPr>
          <p:cNvSpPr>
            <a:spLocks noGrp="1" noChangeArrowheads="1"/>
          </p:cNvSpPr>
          <p:nvPr>
            <p:ph type="body" idx="1"/>
          </p:nvPr>
        </p:nvSpPr>
        <p:spPr>
          <a:xfrm>
            <a:off x="931863" y="1050925"/>
            <a:ext cx="7267575" cy="4984750"/>
          </a:xfrm>
        </p:spPr>
        <p:txBody>
          <a:bodyPr/>
          <a:lstStyle/>
          <a:p>
            <a:pPr marL="379413" indent="-379413">
              <a:defRPr/>
            </a:pPr>
            <a:r>
              <a:rPr lang="en-US" dirty="0"/>
              <a:t>Message passing may be either blocking or non-blocking</a:t>
            </a:r>
          </a:p>
          <a:p>
            <a:pPr marL="379413" indent="-379413">
              <a:defRPr/>
            </a:pPr>
            <a:r>
              <a:rPr lang="en-US" b="1" dirty="0">
                <a:solidFill>
                  <a:srgbClr val="3366FF"/>
                </a:solidFill>
              </a:rPr>
              <a:t>Blocking</a:t>
            </a:r>
            <a:r>
              <a:rPr lang="en-US" dirty="0"/>
              <a:t> is considered </a:t>
            </a:r>
            <a:r>
              <a:rPr lang="en-US" b="1" dirty="0">
                <a:solidFill>
                  <a:srgbClr val="3366FF"/>
                </a:solidFill>
              </a:rPr>
              <a:t>synchronous</a:t>
            </a:r>
          </a:p>
          <a:p>
            <a:pPr marL="798513" lvl="1" indent="-341313">
              <a:defRPr/>
            </a:pPr>
            <a:r>
              <a:rPr lang="en-US" b="1" dirty="0"/>
              <a:t>Blocking send </a:t>
            </a:r>
            <a:r>
              <a:rPr lang="en-US" dirty="0"/>
              <a:t>--</a:t>
            </a:r>
            <a:r>
              <a:rPr lang="en-US" b="1" dirty="0"/>
              <a:t> </a:t>
            </a:r>
            <a:r>
              <a:rPr lang="en-US" dirty="0"/>
              <a:t>the sender is blocked until the message is received</a:t>
            </a:r>
          </a:p>
          <a:p>
            <a:pPr marL="798513" lvl="1" indent="-341313">
              <a:defRPr/>
            </a:pPr>
            <a:r>
              <a:rPr lang="en-US" b="1" dirty="0"/>
              <a:t>Blocking receive </a:t>
            </a:r>
            <a:r>
              <a:rPr lang="en-US" dirty="0"/>
              <a:t>--</a:t>
            </a:r>
            <a:r>
              <a:rPr lang="en-US" b="1" dirty="0"/>
              <a:t> </a:t>
            </a:r>
            <a:r>
              <a:rPr lang="en-US" dirty="0"/>
              <a:t>the receiver is  blocked until a message is available</a:t>
            </a:r>
          </a:p>
          <a:p>
            <a:pPr marL="379413" indent="-379413">
              <a:defRPr/>
            </a:pPr>
            <a:r>
              <a:rPr lang="en-US" b="1" dirty="0">
                <a:solidFill>
                  <a:srgbClr val="3366FF"/>
                </a:solidFill>
              </a:rPr>
              <a:t>Non-blocking</a:t>
            </a:r>
            <a:r>
              <a:rPr lang="en-US" dirty="0"/>
              <a:t> is considered </a:t>
            </a:r>
            <a:r>
              <a:rPr lang="en-US" b="1" dirty="0">
                <a:solidFill>
                  <a:srgbClr val="3366FF"/>
                </a:solidFill>
              </a:rPr>
              <a:t>asynchronous</a:t>
            </a:r>
          </a:p>
          <a:p>
            <a:pPr marL="798513" lvl="1" indent="-341313">
              <a:defRPr/>
            </a:pPr>
            <a:r>
              <a:rPr lang="en-US" b="1" dirty="0"/>
              <a:t>Non-blocking send</a:t>
            </a:r>
            <a:r>
              <a:rPr lang="en-US" dirty="0"/>
              <a:t> -- the sender sends the message and continue</a:t>
            </a:r>
          </a:p>
          <a:p>
            <a:pPr marL="798513" lvl="1" indent="-341313">
              <a:defRPr/>
            </a:pPr>
            <a:r>
              <a:rPr lang="en-US" b="1" dirty="0"/>
              <a:t>Non-blocking receive</a:t>
            </a:r>
            <a:r>
              <a:rPr lang="en-US" dirty="0"/>
              <a:t> -- the receiver receives:</a:t>
            </a:r>
          </a:p>
          <a:p>
            <a:pPr marL="1141413" lvl="2" indent="-341313">
              <a:buFont typeface="Monotype Sorts" pitchFamily="-84" charset="2"/>
              <a:buChar char="l"/>
              <a:defRPr/>
            </a:pPr>
            <a:r>
              <a:rPr lang="en-US" dirty="0"/>
              <a:t> A valid message,  or </a:t>
            </a:r>
          </a:p>
          <a:p>
            <a:pPr marL="1141413" lvl="2" indent="-341313">
              <a:buFont typeface="Monotype Sorts" pitchFamily="-84" charset="2"/>
              <a:buChar char="l"/>
              <a:defRPr/>
            </a:pPr>
            <a:r>
              <a:rPr lang="en-US" dirty="0"/>
              <a:t> Null message</a:t>
            </a:r>
          </a:p>
          <a:p>
            <a:pPr marL="398939">
              <a:buFont typeface="Monotype Sorts" charset="0"/>
              <a:buChar char="n"/>
              <a:defRPr/>
            </a:pPr>
            <a:r>
              <a:rPr lang="en-US" dirty="0">
                <a:ea typeface="ＭＳ Ｐゴシック" charset="0"/>
              </a:rPr>
              <a:t>Different combinations possible</a:t>
            </a:r>
          </a:p>
          <a:p>
            <a:pPr marL="798989" lvl="1">
              <a:buFont typeface="Monotype Sorts" charset="0"/>
              <a:buChar char="l"/>
              <a:defRPr/>
            </a:pPr>
            <a:r>
              <a:rPr lang="en-US" dirty="0">
                <a:ea typeface="ＭＳ Ｐゴシック" charset="0"/>
              </a:rPr>
              <a:t>If both send and receive are blocking, we have a </a:t>
            </a:r>
            <a:r>
              <a:rPr lang="en-US" b="1" dirty="0">
                <a:solidFill>
                  <a:srgbClr val="3366FF"/>
                </a:solidFill>
                <a:ea typeface="ＭＳ Ｐゴシック" charset="0"/>
                <a:cs typeface="ＭＳ Ｐゴシック" charset="0"/>
              </a:rPr>
              <a:t>rendezvous</a:t>
            </a:r>
          </a:p>
          <a:p>
            <a:pPr marL="398463" indent="-341313">
              <a:defRPr/>
            </a:pPr>
            <a:endParaRPr lang="en-US" dirty="0"/>
          </a:p>
          <a:p>
            <a:pPr marL="1141413" lvl="2" indent="-341313">
              <a:buFont typeface="Monotype Sorts" pitchFamily="-84" charset="2"/>
              <a:buChar char="l"/>
              <a:defRPr/>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001D552-8488-C6B0-E47F-B1FC0BFF9421}"/>
              </a:ext>
            </a:extLst>
          </p:cNvPr>
          <p:cNvSpPr>
            <a:spLocks noGrp="1" noChangeArrowheads="1"/>
          </p:cNvSpPr>
          <p:nvPr>
            <p:ph type="title"/>
          </p:nvPr>
        </p:nvSpPr>
        <p:spPr>
          <a:xfrm>
            <a:off x="457200" y="203200"/>
            <a:ext cx="8229600" cy="576263"/>
          </a:xfrm>
        </p:spPr>
        <p:txBody>
          <a:bodyPr/>
          <a:lstStyle/>
          <a:p>
            <a:pPr eaLnBrk="1" hangingPunct="1"/>
            <a:r>
              <a:rPr lang="en-US" altLang="en-US"/>
              <a:t>Synchronization (Cont.)</a:t>
            </a:r>
          </a:p>
        </p:txBody>
      </p:sp>
      <p:sp>
        <p:nvSpPr>
          <p:cNvPr id="41987" name="Rectangle 3">
            <a:extLst>
              <a:ext uri="{FF2B5EF4-FFF2-40B4-BE49-F238E27FC236}">
                <a16:creationId xmlns:a16="http://schemas.microsoft.com/office/drawing/2014/main" id="{E4126742-B4E5-2A1D-D7DA-3409755B72DA}"/>
              </a:ext>
            </a:extLst>
          </p:cNvPr>
          <p:cNvSpPr>
            <a:spLocks noGrp="1" noChangeArrowheads="1"/>
          </p:cNvSpPr>
          <p:nvPr>
            <p:ph type="body" idx="1"/>
          </p:nvPr>
        </p:nvSpPr>
        <p:spPr>
          <a:xfrm>
            <a:off x="881063" y="1203325"/>
            <a:ext cx="6599237" cy="534988"/>
          </a:xfrm>
        </p:spPr>
        <p:txBody>
          <a:bodyPr/>
          <a:lstStyle/>
          <a:p>
            <a:pPr>
              <a:buFont typeface="Monotype Sorts" charset="0"/>
              <a:buChar char="n"/>
              <a:defRPr/>
            </a:pPr>
            <a:r>
              <a:rPr lang="en-US" dirty="0">
                <a:ea typeface="ＭＳ Ｐゴシック" charset="0"/>
              </a:rPr>
              <a:t>Producer-consumer becomes trivial</a:t>
            </a:r>
            <a:br>
              <a:rPr lang="en-US" dirty="0">
                <a:ea typeface="ＭＳ Ｐゴシック" charset="0"/>
              </a:rPr>
            </a:br>
            <a:endParaRPr lang="en-US" dirty="0">
              <a:ea typeface="ＭＳ Ｐゴシック" charset="0"/>
            </a:endParaRPr>
          </a:p>
          <a:p>
            <a:pPr marL="0" indent="0">
              <a:buFont typeface="Monotype Sorts" pitchFamily="-84" charset="2"/>
              <a:buNone/>
              <a:defRPr/>
            </a:pPr>
            <a:r>
              <a:rPr lang="en-US" sz="1600" dirty="0">
                <a:latin typeface="Courier New"/>
                <a:ea typeface="ＭＳ Ｐゴシック" charset="-128"/>
                <a:cs typeface="Courier New"/>
              </a:rPr>
              <a:t>       message </a:t>
            </a:r>
            <a:r>
              <a:rPr lang="en-US" sz="1600" dirty="0" err="1">
                <a:latin typeface="Courier New"/>
                <a:ea typeface="ＭＳ Ｐゴシック" charset="-128"/>
                <a:cs typeface="Courier New"/>
              </a:rPr>
              <a:t>next_produced</a:t>
            </a:r>
            <a:r>
              <a:rPr lang="en-US" sz="1600" dirty="0">
                <a:latin typeface="Courier New"/>
                <a:ea typeface="ＭＳ Ｐゴシック" charset="-128"/>
                <a:cs typeface="Courier New"/>
              </a:rPr>
              <a:t>; </a:t>
            </a:r>
          </a:p>
          <a:p>
            <a:pPr marL="0" indent="0">
              <a:buFont typeface="Monotype Sorts" pitchFamily="-84" charset="2"/>
              <a:buNone/>
              <a:defRPr/>
            </a:pPr>
            <a:r>
              <a:rPr lang="en-US" sz="1600" dirty="0">
                <a:latin typeface="Courier New"/>
                <a:ea typeface="ＭＳ Ｐゴシック" charset="-128"/>
                <a:cs typeface="Courier New"/>
              </a:rPr>
              <a:t>       while (true) {</a:t>
            </a:r>
            <a:br>
              <a:rPr lang="en-US" sz="1600" dirty="0">
                <a:latin typeface="Courier New"/>
                <a:ea typeface="ＭＳ Ｐゴシック" charset="-128"/>
                <a:cs typeface="Courier New"/>
              </a:rPr>
            </a:br>
            <a:r>
              <a:rPr lang="en-US" sz="1600" dirty="0">
                <a:latin typeface="Courier New"/>
                <a:ea typeface="ＭＳ Ｐゴシック" charset="-128"/>
                <a:cs typeface="Courier New"/>
              </a:rPr>
              <a:t>           /* produce an item in next produced */ </a:t>
            </a:r>
          </a:p>
          <a:p>
            <a:pPr marL="0" indent="0">
              <a:buFont typeface="Monotype Sorts" pitchFamily="-84" charset="2"/>
              <a:buNone/>
              <a:defRPr/>
            </a:pPr>
            <a:r>
              <a:rPr lang="en-US" sz="1600" dirty="0">
                <a:latin typeface="Courier New"/>
                <a:ea typeface="ＭＳ Ｐゴシック" charset="-128"/>
                <a:cs typeface="Courier New"/>
              </a:rPr>
              <a:t>       send(</a:t>
            </a:r>
            <a:r>
              <a:rPr lang="en-US" sz="1600" dirty="0" err="1">
                <a:latin typeface="Courier New"/>
                <a:ea typeface="ＭＳ Ｐゴシック" charset="-128"/>
                <a:cs typeface="Courier New"/>
              </a:rPr>
              <a:t>next_produced</a:t>
            </a:r>
            <a:r>
              <a:rPr lang="en-US" sz="1600" dirty="0">
                <a:latin typeface="Courier New"/>
                <a:ea typeface="ＭＳ Ｐゴシック" charset="-128"/>
                <a:cs typeface="Courier New"/>
              </a:rPr>
              <a:t>); </a:t>
            </a:r>
          </a:p>
          <a:p>
            <a:pPr marL="0" indent="0">
              <a:buFont typeface="Monotype Sorts" pitchFamily="-84" charset="2"/>
              <a:buNone/>
              <a:defRPr/>
            </a:pPr>
            <a:r>
              <a:rPr lang="en-US" sz="1600" dirty="0">
                <a:latin typeface="Courier New"/>
                <a:ea typeface="ＭＳ Ｐゴシック" charset="-128"/>
                <a:cs typeface="Courier New"/>
              </a:rPr>
              <a:t>       } </a:t>
            </a:r>
          </a:p>
        </p:txBody>
      </p:sp>
      <p:sp>
        <p:nvSpPr>
          <p:cNvPr id="48132" name="TextBox 1">
            <a:extLst>
              <a:ext uri="{FF2B5EF4-FFF2-40B4-BE49-F238E27FC236}">
                <a16:creationId xmlns:a16="http://schemas.microsoft.com/office/drawing/2014/main" id="{BBD57055-D3BB-79CF-FAD1-8F41ECC89B03}"/>
              </a:ext>
            </a:extLst>
          </p:cNvPr>
          <p:cNvSpPr txBox="1">
            <a:spLocks noChangeArrowheads="1"/>
          </p:cNvSpPr>
          <p:nvPr/>
        </p:nvSpPr>
        <p:spPr bwMode="auto">
          <a:xfrm>
            <a:off x="1558925" y="3598863"/>
            <a:ext cx="6370638"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kumimoji="1" lang="en-US" altLang="en-US" sz="1700">
                <a:latin typeface="Courier New" panose="02070309020205020404" pitchFamily="49" charset="0"/>
                <a:cs typeface="Courier New" panose="02070309020205020404" pitchFamily="49" charset="0"/>
              </a:rPr>
              <a:t>m</a:t>
            </a:r>
            <a:r>
              <a:rPr kumimoji="1" lang="en-US" altLang="en-US" sz="1600">
                <a:latin typeface="Courier New" panose="02070309020205020404" pitchFamily="49" charset="0"/>
                <a:cs typeface="Courier New" panose="02070309020205020404" pitchFamily="49" charset="0"/>
              </a:rPr>
              <a:t>essage next_consumed;</a:t>
            </a:r>
          </a:p>
          <a:p>
            <a:r>
              <a:rPr kumimoji="1" lang="en-US" altLang="en-US" sz="1600">
                <a:latin typeface="Courier New" panose="02070309020205020404" pitchFamily="49" charset="0"/>
                <a:cs typeface="Courier New" panose="02070309020205020404" pitchFamily="49" charset="0"/>
              </a:rPr>
              <a:t>while (true) {</a:t>
            </a:r>
          </a:p>
          <a:p>
            <a:r>
              <a:rPr kumimoji="1" lang="en-US" altLang="en-US" sz="1600">
                <a:latin typeface="Courier New" panose="02070309020205020404" pitchFamily="49" charset="0"/>
                <a:cs typeface="Courier New" panose="02070309020205020404" pitchFamily="49" charset="0"/>
              </a:rPr>
              <a:t>   receive(next_consumed);</a:t>
            </a:r>
          </a:p>
          <a:p>
            <a:r>
              <a:rPr kumimoji="1" lang="en-US" altLang="en-US" sz="1600">
                <a:latin typeface="Courier New" panose="02070309020205020404" pitchFamily="49" charset="0"/>
                <a:cs typeface="Courier New" panose="02070309020205020404" pitchFamily="49" charset="0"/>
              </a:rPr>
              <a:t>   </a:t>
            </a:r>
          </a:p>
          <a:p>
            <a:r>
              <a:rPr kumimoji="1" lang="en-US" altLang="en-US" sz="1600">
                <a:latin typeface="Courier New" panose="02070309020205020404" pitchFamily="49" charset="0"/>
                <a:cs typeface="Courier New" panose="02070309020205020404" pitchFamily="49" charset="0"/>
              </a:rPr>
              <a:t>   /* consume the item in next consumed */</a:t>
            </a:r>
          </a:p>
          <a:p>
            <a:r>
              <a:rPr kumimoji="1" lang="en-US" altLang="en-US" sz="1700">
                <a:latin typeface="Courier New" panose="02070309020205020404" pitchFamily="49" charset="0"/>
                <a:cs typeface="Courier New" panose="02070309020205020404" pitchFamily="49"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8C66065-D657-5E79-8321-60C06E5D9B3B}"/>
              </a:ext>
            </a:extLst>
          </p:cNvPr>
          <p:cNvSpPr>
            <a:spLocks noGrp="1" noChangeArrowheads="1"/>
          </p:cNvSpPr>
          <p:nvPr>
            <p:ph type="title"/>
          </p:nvPr>
        </p:nvSpPr>
        <p:spPr>
          <a:xfrm>
            <a:off x="457200" y="136525"/>
            <a:ext cx="8229600" cy="576263"/>
          </a:xfrm>
        </p:spPr>
        <p:txBody>
          <a:bodyPr/>
          <a:lstStyle/>
          <a:p>
            <a:pPr eaLnBrk="1" hangingPunct="1"/>
            <a:r>
              <a:rPr lang="en-US" altLang="en-US"/>
              <a:t>Buffering</a:t>
            </a:r>
          </a:p>
        </p:txBody>
      </p:sp>
      <p:sp>
        <p:nvSpPr>
          <p:cNvPr id="49155" name="Rectangle 3">
            <a:extLst>
              <a:ext uri="{FF2B5EF4-FFF2-40B4-BE49-F238E27FC236}">
                <a16:creationId xmlns:a16="http://schemas.microsoft.com/office/drawing/2014/main" id="{50020CB3-92FF-0262-598F-13120DD7E68C}"/>
              </a:ext>
            </a:extLst>
          </p:cNvPr>
          <p:cNvSpPr>
            <a:spLocks noGrp="1" noChangeArrowheads="1"/>
          </p:cNvSpPr>
          <p:nvPr>
            <p:ph type="body" idx="1"/>
          </p:nvPr>
        </p:nvSpPr>
        <p:spPr>
          <a:xfrm>
            <a:off x="889000" y="1233488"/>
            <a:ext cx="7121525" cy="4530725"/>
          </a:xfrm>
        </p:spPr>
        <p:txBody>
          <a:bodyPr/>
          <a:lstStyle/>
          <a:p>
            <a:r>
              <a:rPr lang="en-US" altLang="en-US"/>
              <a:t>Queue of messages attached to the link.</a:t>
            </a:r>
          </a:p>
          <a:p>
            <a:r>
              <a:rPr lang="en-US" altLang="en-US"/>
              <a:t>implemented in one of three ways</a:t>
            </a:r>
          </a:p>
          <a:p>
            <a:pPr lvl="1">
              <a:buFont typeface="Monotype Sorts" pitchFamily="-84" charset="2"/>
              <a:buNone/>
            </a:pPr>
            <a:r>
              <a:rPr lang="en-US" altLang="en-US">
                <a:solidFill>
                  <a:srgbClr val="CC6600"/>
                </a:solidFill>
              </a:rPr>
              <a:t>1.</a:t>
            </a:r>
            <a:r>
              <a:rPr lang="en-US" altLang="en-US"/>
              <a:t>	Zero capacity – no messages are queued on a link.</a:t>
            </a:r>
            <a:br>
              <a:rPr lang="en-US" altLang="en-US"/>
            </a:br>
            <a:r>
              <a:rPr lang="en-US" altLang="en-US"/>
              <a:t>Sender must wait for receiver (rendezvous)</a:t>
            </a:r>
          </a:p>
          <a:p>
            <a:pPr lvl="1">
              <a:buFont typeface="Monotype Sorts" pitchFamily="-84" charset="2"/>
              <a:buNone/>
            </a:pPr>
            <a:r>
              <a:rPr lang="en-US" altLang="en-US">
                <a:solidFill>
                  <a:srgbClr val="CC6600"/>
                </a:solidFill>
              </a:rPr>
              <a:t>2.</a:t>
            </a:r>
            <a:r>
              <a:rPr lang="en-US" altLang="en-US"/>
              <a:t>	Bounded capacity – finite length of </a:t>
            </a:r>
            <a:r>
              <a:rPr lang="en-US" altLang="en-US" i="1"/>
              <a:t>n</a:t>
            </a:r>
            <a:r>
              <a:rPr lang="en-US" altLang="en-US"/>
              <a:t> messages</a:t>
            </a:r>
            <a:br>
              <a:rPr lang="en-US" altLang="en-US"/>
            </a:br>
            <a:r>
              <a:rPr lang="en-US" altLang="en-US"/>
              <a:t>Sender must wait if link full</a:t>
            </a:r>
          </a:p>
          <a:p>
            <a:pPr lvl="1">
              <a:buFont typeface="Monotype Sorts" pitchFamily="-84" charset="2"/>
              <a:buNone/>
            </a:pPr>
            <a:r>
              <a:rPr lang="en-US" altLang="en-US">
                <a:solidFill>
                  <a:srgbClr val="CC6600"/>
                </a:solidFill>
              </a:rPr>
              <a:t>3.</a:t>
            </a:r>
            <a:r>
              <a:rPr lang="en-US" altLang="en-US"/>
              <a:t>	Unbounded capacity – infinite length </a:t>
            </a:r>
            <a:br>
              <a:rPr lang="en-US" altLang="en-US"/>
            </a:br>
            <a:r>
              <a:rPr lang="en-US" altLang="en-US"/>
              <a:t>Sender never waits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D7A5DB10-9529-D5D1-9400-7ABAD3902CFE}"/>
              </a:ext>
            </a:extLst>
          </p:cNvPr>
          <p:cNvSpPr>
            <a:spLocks noGrp="1"/>
          </p:cNvSpPr>
          <p:nvPr>
            <p:ph type="title"/>
          </p:nvPr>
        </p:nvSpPr>
        <p:spPr>
          <a:xfrm>
            <a:off x="966788" y="187325"/>
            <a:ext cx="7850187" cy="576263"/>
          </a:xfrm>
        </p:spPr>
        <p:txBody>
          <a:bodyPr/>
          <a:lstStyle/>
          <a:p>
            <a:r>
              <a:rPr lang="en-US" altLang="en-US"/>
              <a:t>Examples of IPC Systems - POSIX</a:t>
            </a:r>
          </a:p>
        </p:txBody>
      </p:sp>
      <p:sp>
        <p:nvSpPr>
          <p:cNvPr id="44035" name="Content Placeholder 2">
            <a:extLst>
              <a:ext uri="{FF2B5EF4-FFF2-40B4-BE49-F238E27FC236}">
                <a16:creationId xmlns:a16="http://schemas.microsoft.com/office/drawing/2014/main" id="{8F1447EA-76F3-12A4-2888-B4944C3BAD81}"/>
              </a:ext>
            </a:extLst>
          </p:cNvPr>
          <p:cNvSpPr>
            <a:spLocks noGrp="1"/>
          </p:cNvSpPr>
          <p:nvPr>
            <p:ph idx="1"/>
          </p:nvPr>
        </p:nvSpPr>
        <p:spPr>
          <a:xfrm>
            <a:off x="911225" y="1233488"/>
            <a:ext cx="7577138" cy="4530725"/>
          </a:xfrm>
        </p:spPr>
        <p:txBody>
          <a:bodyPr/>
          <a:lstStyle/>
          <a:p>
            <a:pPr>
              <a:buFont typeface="Monotype Sorts" charset="0"/>
              <a:buChar char="n"/>
              <a:defRPr/>
            </a:pPr>
            <a:r>
              <a:rPr lang="en-US" dirty="0">
                <a:ea typeface="ＭＳ Ｐゴシック" charset="0"/>
                <a:cs typeface="ＭＳ Ｐゴシック" charset="0"/>
              </a:rPr>
              <a:t>POSIX Shared Memory</a:t>
            </a:r>
          </a:p>
          <a:p>
            <a:pPr lvl="1">
              <a:buFont typeface="Monotype Sorts" charset="0"/>
              <a:buChar char="l"/>
              <a:defRPr/>
            </a:pPr>
            <a:r>
              <a:rPr lang="en-US" dirty="0">
                <a:ea typeface="ＭＳ Ｐゴシック" charset="0"/>
              </a:rPr>
              <a:t>Process first creates shared memory segment</a:t>
            </a:r>
            <a:br>
              <a:rPr lang="en-US" dirty="0">
                <a:ea typeface="ＭＳ Ｐゴシック" charset="0"/>
              </a:rPr>
            </a:br>
            <a:r>
              <a:rPr lang="en-US" b="1" dirty="0" err="1">
                <a:latin typeface="Courier New" charset="0"/>
                <a:ea typeface="ＭＳ Ｐゴシック" charset="0"/>
                <a:cs typeface="Courier New" charset="0"/>
              </a:rPr>
              <a:t>shm_fd</a:t>
            </a:r>
            <a:r>
              <a:rPr lang="en-US" b="1" dirty="0">
                <a:latin typeface="Courier New" charset="0"/>
                <a:ea typeface="ＭＳ Ｐゴシック" charset="0"/>
                <a:cs typeface="Courier New" charset="0"/>
              </a:rPr>
              <a:t> = </a:t>
            </a:r>
            <a:r>
              <a:rPr lang="en-US" b="1" dirty="0" err="1">
                <a:latin typeface="Courier New" charset="0"/>
                <a:ea typeface="ＭＳ Ｐゴシック" charset="0"/>
                <a:cs typeface="Courier New" charset="0"/>
              </a:rPr>
              <a:t>shm_open</a:t>
            </a:r>
            <a:r>
              <a:rPr lang="en-US" b="1" dirty="0">
                <a:latin typeface="Courier New" charset="0"/>
                <a:ea typeface="ＭＳ Ｐゴシック" charset="0"/>
                <a:cs typeface="Courier New" charset="0"/>
              </a:rPr>
              <a:t>(name, O CREAT | O RDWR, 0666);</a:t>
            </a:r>
          </a:p>
          <a:p>
            <a:pPr lvl="1">
              <a:buFont typeface="Monotype Sorts" charset="0"/>
              <a:buChar char="l"/>
              <a:defRPr/>
            </a:pPr>
            <a:r>
              <a:rPr lang="en-US" dirty="0">
                <a:ea typeface="ＭＳ Ｐゴシック" charset="0"/>
              </a:rPr>
              <a:t>Also used to open an existing segment to share it </a:t>
            </a:r>
          </a:p>
          <a:p>
            <a:pPr lvl="1">
              <a:buFont typeface="Monotype Sorts" charset="0"/>
              <a:buChar char="l"/>
              <a:defRPr/>
            </a:pPr>
            <a:r>
              <a:rPr lang="en-US" dirty="0">
                <a:ea typeface="ＭＳ Ｐゴシック" charset="0"/>
              </a:rPr>
              <a:t>Set the size of the object</a:t>
            </a:r>
          </a:p>
          <a:p>
            <a:pPr marL="0" indent="0">
              <a:buFont typeface="Monotype Sorts" pitchFamily="-84" charset="2"/>
              <a:buNone/>
              <a:defRPr/>
            </a:pPr>
            <a:r>
              <a:rPr lang="en-US" dirty="0">
                <a:ea typeface="ＭＳ Ｐゴシック" charset="-128"/>
              </a:rPr>
              <a:t>	</a:t>
            </a:r>
            <a:r>
              <a:rPr lang="en-US" b="1" dirty="0" err="1">
                <a:latin typeface="Courier New" charset="0"/>
                <a:ea typeface="ＭＳ Ｐゴシック" charset="0"/>
                <a:cs typeface="Courier New" charset="0"/>
              </a:rPr>
              <a:t>ftruncate</a:t>
            </a:r>
            <a:r>
              <a:rPr lang="en-US" b="1" dirty="0">
                <a:latin typeface="Courier New" charset="0"/>
                <a:ea typeface="ＭＳ Ｐゴシック" charset="0"/>
                <a:cs typeface="Courier New" charset="0"/>
              </a:rPr>
              <a:t>(</a:t>
            </a:r>
            <a:r>
              <a:rPr lang="en-US" b="1" dirty="0" err="1">
                <a:latin typeface="Courier New" charset="0"/>
                <a:ea typeface="ＭＳ Ｐゴシック" charset="0"/>
                <a:cs typeface="Courier New" charset="0"/>
              </a:rPr>
              <a:t>shm</a:t>
            </a:r>
            <a:r>
              <a:rPr lang="en-US" b="1" dirty="0">
                <a:latin typeface="Courier New" charset="0"/>
                <a:ea typeface="ＭＳ Ｐゴシック" charset="0"/>
                <a:cs typeface="Courier New" charset="0"/>
              </a:rPr>
              <a:t> </a:t>
            </a:r>
            <a:r>
              <a:rPr lang="en-US" b="1" dirty="0" err="1">
                <a:latin typeface="Courier New" charset="0"/>
                <a:ea typeface="ＭＳ Ｐゴシック" charset="0"/>
                <a:cs typeface="Courier New" charset="0"/>
              </a:rPr>
              <a:t>fd</a:t>
            </a:r>
            <a:r>
              <a:rPr lang="en-US" b="1" dirty="0">
                <a:latin typeface="Courier New" charset="0"/>
                <a:ea typeface="ＭＳ Ｐゴシック" charset="0"/>
                <a:cs typeface="Courier New" charset="0"/>
              </a:rPr>
              <a:t>, 4096); </a:t>
            </a:r>
          </a:p>
          <a:p>
            <a:pPr lvl="1">
              <a:buFont typeface="Monotype Sorts" charset="0"/>
              <a:buChar char="l"/>
              <a:defRPr/>
            </a:pPr>
            <a:r>
              <a:rPr lang="en-US" dirty="0">
                <a:ea typeface="ＭＳ Ｐゴシック" charset="0"/>
              </a:rPr>
              <a:t>Now the process could write to the shared memory</a:t>
            </a:r>
          </a:p>
          <a:p>
            <a:pPr lvl="1">
              <a:buFont typeface="Monotype Sorts" charset="0"/>
              <a:buNone/>
              <a:defRPr/>
            </a:pPr>
            <a:r>
              <a:rPr lang="en-US" b="1" dirty="0">
                <a:latin typeface="Courier New" charset="0"/>
                <a:ea typeface="ＭＳ Ｐゴシック" charset="0"/>
                <a:cs typeface="Courier New" charset="0"/>
              </a:rPr>
              <a:t>	</a:t>
            </a:r>
            <a:r>
              <a:rPr lang="en-US" b="1" dirty="0" err="1">
                <a:latin typeface="Courier New" charset="0"/>
                <a:ea typeface="ＭＳ Ｐゴシック" charset="0"/>
                <a:cs typeface="Courier New" charset="0"/>
              </a:rPr>
              <a:t>sprintf</a:t>
            </a:r>
            <a:r>
              <a:rPr lang="en-US" b="1" dirty="0">
                <a:latin typeface="Courier New" charset="0"/>
                <a:ea typeface="ＭＳ Ｐゴシック" charset="0"/>
                <a:cs typeface="Courier New" charset="0"/>
              </a:rPr>
              <a:t>(shared memory, "Writing to shared memory");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BDFBA31F-D056-5E3F-71B2-E53890CA5F13}"/>
              </a:ext>
            </a:extLst>
          </p:cNvPr>
          <p:cNvSpPr>
            <a:spLocks noGrp="1"/>
          </p:cNvSpPr>
          <p:nvPr>
            <p:ph type="title"/>
          </p:nvPr>
        </p:nvSpPr>
        <p:spPr>
          <a:xfrm>
            <a:off x="936625" y="173038"/>
            <a:ext cx="7850188" cy="576262"/>
          </a:xfrm>
        </p:spPr>
        <p:txBody>
          <a:bodyPr/>
          <a:lstStyle/>
          <a:p>
            <a:r>
              <a:rPr lang="en-US" altLang="en-US"/>
              <a:t>IPC POSIX Producer</a:t>
            </a:r>
          </a:p>
        </p:txBody>
      </p:sp>
      <p:pic>
        <p:nvPicPr>
          <p:cNvPr id="51203" name="Picture 1" descr="Screen Shot 2013-03-14 at 6.46.57 PM.png">
            <a:extLst>
              <a:ext uri="{FF2B5EF4-FFF2-40B4-BE49-F238E27FC236}">
                <a16:creationId xmlns:a16="http://schemas.microsoft.com/office/drawing/2014/main" id="{F1B167F7-0505-2EDA-1B2C-02247A4439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81263" y="903288"/>
            <a:ext cx="3754437"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DC4CF3AD-440D-513A-C212-60C46B9A4864}"/>
              </a:ext>
            </a:extLst>
          </p:cNvPr>
          <p:cNvSpPr>
            <a:spLocks noGrp="1"/>
          </p:cNvSpPr>
          <p:nvPr>
            <p:ph type="title"/>
          </p:nvPr>
        </p:nvSpPr>
        <p:spPr>
          <a:xfrm>
            <a:off x="936625" y="187325"/>
            <a:ext cx="7850188" cy="576263"/>
          </a:xfrm>
        </p:spPr>
        <p:txBody>
          <a:bodyPr/>
          <a:lstStyle/>
          <a:p>
            <a:r>
              <a:rPr lang="en-US" altLang="en-US"/>
              <a:t>IPC POSIX Consumer</a:t>
            </a:r>
          </a:p>
        </p:txBody>
      </p:sp>
      <p:pic>
        <p:nvPicPr>
          <p:cNvPr id="52227" name="Picture 1" descr="Screen Shot 2013-03-12 at 1.38.41 PM.png">
            <a:extLst>
              <a:ext uri="{FF2B5EF4-FFF2-40B4-BE49-F238E27FC236}">
                <a16:creationId xmlns:a16="http://schemas.microsoft.com/office/drawing/2014/main" id="{6E512786-A401-B413-7C59-526AB224E8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6625" y="892175"/>
            <a:ext cx="4521200" cy="566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94FC4798-DADE-F647-A23A-D3B341D362BB}"/>
              </a:ext>
            </a:extLst>
          </p:cNvPr>
          <p:cNvSpPr>
            <a:spLocks noGrp="1"/>
          </p:cNvSpPr>
          <p:nvPr>
            <p:ph type="title"/>
          </p:nvPr>
        </p:nvSpPr>
        <p:spPr>
          <a:xfrm>
            <a:off x="1138238" y="155575"/>
            <a:ext cx="7548562" cy="576263"/>
          </a:xfrm>
        </p:spPr>
        <p:txBody>
          <a:bodyPr/>
          <a:lstStyle/>
          <a:p>
            <a:r>
              <a:rPr lang="en-US" altLang="en-US"/>
              <a:t>Examples of IPC Systems - Mach</a:t>
            </a:r>
          </a:p>
        </p:txBody>
      </p:sp>
      <p:sp>
        <p:nvSpPr>
          <p:cNvPr id="53251" name="Content Placeholder 2">
            <a:extLst>
              <a:ext uri="{FF2B5EF4-FFF2-40B4-BE49-F238E27FC236}">
                <a16:creationId xmlns:a16="http://schemas.microsoft.com/office/drawing/2014/main" id="{CFB0B0E9-DF5C-D035-0E48-A4E7F2E3FC26}"/>
              </a:ext>
            </a:extLst>
          </p:cNvPr>
          <p:cNvSpPr>
            <a:spLocks noGrp="1"/>
          </p:cNvSpPr>
          <p:nvPr>
            <p:ph idx="1"/>
          </p:nvPr>
        </p:nvSpPr>
        <p:spPr>
          <a:xfrm>
            <a:off x="854075" y="1076325"/>
            <a:ext cx="8229600" cy="4530725"/>
          </a:xfrm>
        </p:spPr>
        <p:txBody>
          <a:bodyPr/>
          <a:lstStyle/>
          <a:p>
            <a:r>
              <a:rPr lang="en-US" altLang="en-US"/>
              <a:t>Mach communication is message based</a:t>
            </a:r>
          </a:p>
          <a:p>
            <a:pPr lvl="1"/>
            <a:r>
              <a:rPr lang="en-US" altLang="en-US"/>
              <a:t>Even system calls are messages</a:t>
            </a:r>
          </a:p>
          <a:p>
            <a:pPr lvl="1"/>
            <a:r>
              <a:rPr lang="en-US" altLang="en-US"/>
              <a:t>Each task gets two mailboxes at creation- Kernel and Notify</a:t>
            </a:r>
          </a:p>
          <a:p>
            <a:pPr lvl="1"/>
            <a:r>
              <a:rPr lang="en-US" altLang="en-US"/>
              <a:t>Only three system calls needed for message transfer</a:t>
            </a:r>
          </a:p>
          <a:p>
            <a:pPr lvl="1">
              <a:buFont typeface="Monotype Sorts" pitchFamily="-84" charset="2"/>
              <a:buNone/>
            </a:pPr>
            <a:r>
              <a:rPr lang="en-US" altLang="en-US" b="1">
                <a:latin typeface="Courier New" panose="02070309020205020404" pitchFamily="49" charset="0"/>
                <a:cs typeface="Courier New" panose="02070309020205020404" pitchFamily="49" charset="0"/>
              </a:rPr>
              <a:t>	msg_send(), msg_receive(), msg_rpc()</a:t>
            </a:r>
          </a:p>
          <a:p>
            <a:pPr lvl="1"/>
            <a:r>
              <a:rPr lang="en-US" altLang="en-US"/>
              <a:t>Mailboxes needed for commuication, created via</a:t>
            </a:r>
          </a:p>
          <a:p>
            <a:pPr lvl="1">
              <a:buFont typeface="Monotype Sorts" pitchFamily="-84" charset="2"/>
              <a:buNone/>
            </a:pPr>
            <a:r>
              <a:rPr lang="en-US" altLang="en-US" b="1">
                <a:latin typeface="Courier New" panose="02070309020205020404" pitchFamily="49" charset="0"/>
                <a:cs typeface="Courier New" panose="02070309020205020404" pitchFamily="49" charset="0"/>
              </a:rPr>
              <a:t>	port_allocate()</a:t>
            </a:r>
          </a:p>
          <a:p>
            <a:pPr lvl="1"/>
            <a:r>
              <a:rPr lang="en-US" altLang="en-US"/>
              <a:t>Send and receive are flexible, for example four options if mailbox full:</a:t>
            </a:r>
          </a:p>
          <a:p>
            <a:pPr lvl="2"/>
            <a:r>
              <a:rPr lang="en-US" altLang="en-US"/>
              <a:t>Wait indefinitely</a:t>
            </a:r>
          </a:p>
          <a:p>
            <a:pPr lvl="2"/>
            <a:r>
              <a:rPr lang="en-US" altLang="en-US"/>
              <a:t>Wait at most n milliseconds</a:t>
            </a:r>
          </a:p>
          <a:p>
            <a:pPr lvl="2"/>
            <a:r>
              <a:rPr lang="en-US" altLang="en-US"/>
              <a:t>Return immediately</a:t>
            </a:r>
          </a:p>
          <a:p>
            <a:pPr lvl="2"/>
            <a:r>
              <a:rPr lang="en-US" altLang="en-US"/>
              <a:t>Temporarily cache a message</a:t>
            </a:r>
          </a:p>
          <a:p>
            <a:pPr lvl="1"/>
            <a:endParaRPr lang="en-US" altLang="en-US" b="1">
              <a:latin typeface="Courier New" panose="02070309020205020404" pitchFamily="49" charset="0"/>
              <a:cs typeface="Courier New" panose="020703090202050204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568CCAE-33B3-4E15-28BC-83C707B556EB}"/>
              </a:ext>
            </a:extLst>
          </p:cNvPr>
          <p:cNvSpPr>
            <a:spLocks noGrp="1"/>
          </p:cNvSpPr>
          <p:nvPr>
            <p:ph type="title"/>
          </p:nvPr>
        </p:nvSpPr>
        <p:spPr>
          <a:xfrm>
            <a:off x="757238" y="182563"/>
            <a:ext cx="8229600" cy="576262"/>
          </a:xfrm>
        </p:spPr>
        <p:txBody>
          <a:bodyPr/>
          <a:lstStyle/>
          <a:p>
            <a:r>
              <a:rPr lang="en-US" altLang="en-US" sz="2800"/>
              <a:t>Examples of IPC Systems – Windows</a:t>
            </a:r>
          </a:p>
        </p:txBody>
      </p:sp>
      <p:sp>
        <p:nvSpPr>
          <p:cNvPr id="54275" name="Content Placeholder 2">
            <a:extLst>
              <a:ext uri="{FF2B5EF4-FFF2-40B4-BE49-F238E27FC236}">
                <a16:creationId xmlns:a16="http://schemas.microsoft.com/office/drawing/2014/main" id="{B49794CB-B35E-3501-316E-27D3A80EE5CB}"/>
              </a:ext>
            </a:extLst>
          </p:cNvPr>
          <p:cNvSpPr>
            <a:spLocks noGrp="1"/>
          </p:cNvSpPr>
          <p:nvPr>
            <p:ph idx="1"/>
          </p:nvPr>
        </p:nvSpPr>
        <p:spPr>
          <a:xfrm>
            <a:off x="869950" y="1154113"/>
            <a:ext cx="6950075" cy="4530725"/>
          </a:xfrm>
        </p:spPr>
        <p:txBody>
          <a:bodyPr/>
          <a:lstStyle/>
          <a:p>
            <a:r>
              <a:rPr lang="en-US" altLang="en-US"/>
              <a:t>Message-passing centric via </a:t>
            </a:r>
            <a:r>
              <a:rPr lang="en-US" altLang="en-US" b="1">
                <a:solidFill>
                  <a:srgbClr val="0000FF"/>
                </a:solidFill>
              </a:rPr>
              <a:t>advanced local procedure call </a:t>
            </a:r>
            <a:r>
              <a:rPr lang="en-US" altLang="en-US" b="1">
                <a:solidFill>
                  <a:srgbClr val="000000"/>
                </a:solidFill>
              </a:rPr>
              <a:t>(</a:t>
            </a:r>
            <a:r>
              <a:rPr lang="en-US" altLang="en-US" b="1">
                <a:solidFill>
                  <a:srgbClr val="0000FF"/>
                </a:solidFill>
              </a:rPr>
              <a:t>LPC</a:t>
            </a:r>
            <a:r>
              <a:rPr lang="en-US" altLang="en-US" b="1">
                <a:solidFill>
                  <a:srgbClr val="000000"/>
                </a:solidFill>
              </a:rPr>
              <a:t>)</a:t>
            </a:r>
            <a:r>
              <a:rPr lang="en-US" altLang="en-US"/>
              <a:t> facility</a:t>
            </a:r>
          </a:p>
          <a:p>
            <a:pPr lvl="1"/>
            <a:r>
              <a:rPr lang="en-US" altLang="en-US"/>
              <a:t>Only works between processes on the same system</a:t>
            </a:r>
          </a:p>
          <a:p>
            <a:pPr lvl="1"/>
            <a:r>
              <a:rPr lang="en-US" altLang="en-US"/>
              <a:t>Uses ports (like mailboxes) to establish and maintain communication channels</a:t>
            </a:r>
          </a:p>
          <a:p>
            <a:pPr lvl="1"/>
            <a:r>
              <a:rPr lang="en-US" altLang="en-US"/>
              <a:t>Communication works as follows:</a:t>
            </a:r>
          </a:p>
          <a:p>
            <a:pPr lvl="2"/>
            <a:r>
              <a:rPr lang="en-US" altLang="en-US"/>
              <a:t>The client opens a handle to the subsystem’</a:t>
            </a:r>
            <a:r>
              <a:rPr lang="en-US" altLang="ja-JP"/>
              <a:t>s </a:t>
            </a:r>
            <a:r>
              <a:rPr lang="en-US" altLang="ja-JP" b="1">
                <a:solidFill>
                  <a:srgbClr val="0000FF"/>
                </a:solidFill>
              </a:rPr>
              <a:t>connection port</a:t>
            </a:r>
            <a:r>
              <a:rPr lang="en-US" altLang="ja-JP"/>
              <a:t> object.</a:t>
            </a:r>
          </a:p>
          <a:p>
            <a:pPr lvl="2"/>
            <a:r>
              <a:rPr lang="en-US" altLang="en-US"/>
              <a:t>The client sends a connection request.</a:t>
            </a:r>
          </a:p>
          <a:p>
            <a:pPr lvl="2"/>
            <a:r>
              <a:rPr lang="en-US" altLang="en-US"/>
              <a:t>The server creates two private </a:t>
            </a:r>
            <a:r>
              <a:rPr lang="en-US" altLang="en-US" b="1">
                <a:solidFill>
                  <a:srgbClr val="0000FF"/>
                </a:solidFill>
              </a:rPr>
              <a:t>communication ports </a:t>
            </a:r>
            <a:r>
              <a:rPr lang="en-US" altLang="en-US"/>
              <a:t>and returns the handle to one of them to the client.</a:t>
            </a:r>
          </a:p>
          <a:p>
            <a:pPr lvl="2"/>
            <a:r>
              <a:rPr lang="en-US" altLang="en-US"/>
              <a:t>The client and server use the corresponding port handle to send messages or callbacks and to listen for replies.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3B8D4CAB-7E57-4D17-381D-C41FC3951A58}"/>
              </a:ext>
            </a:extLst>
          </p:cNvPr>
          <p:cNvSpPr>
            <a:spLocks noGrp="1"/>
          </p:cNvSpPr>
          <p:nvPr>
            <p:ph type="title"/>
          </p:nvPr>
        </p:nvSpPr>
        <p:spPr>
          <a:xfrm>
            <a:off x="1025525" y="182563"/>
            <a:ext cx="8229600" cy="576262"/>
          </a:xfrm>
        </p:spPr>
        <p:txBody>
          <a:bodyPr/>
          <a:lstStyle/>
          <a:p>
            <a:r>
              <a:rPr lang="en-US" altLang="en-US"/>
              <a:t>Local Procedure Calls in Windows</a:t>
            </a:r>
          </a:p>
        </p:txBody>
      </p:sp>
      <p:pic>
        <p:nvPicPr>
          <p:cNvPr id="55299" name="Picture 4" descr="3">
            <a:extLst>
              <a:ext uri="{FF2B5EF4-FFF2-40B4-BE49-F238E27FC236}">
                <a16:creationId xmlns:a16="http://schemas.microsoft.com/office/drawing/2014/main" id="{435AB55C-88C4-1F07-779D-DA1017014A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9538" y="1830388"/>
            <a:ext cx="6567487"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30C4CEB-8691-BC06-8082-448BA03A10F9}"/>
              </a:ext>
            </a:extLst>
          </p:cNvPr>
          <p:cNvSpPr>
            <a:spLocks noGrp="1" noChangeArrowheads="1"/>
          </p:cNvSpPr>
          <p:nvPr>
            <p:ph type="title"/>
          </p:nvPr>
        </p:nvSpPr>
        <p:spPr>
          <a:xfrm>
            <a:off x="1028700" y="123825"/>
            <a:ext cx="8229600" cy="576263"/>
          </a:xfrm>
        </p:spPr>
        <p:txBody>
          <a:bodyPr/>
          <a:lstStyle/>
          <a:p>
            <a:pPr eaLnBrk="1" hangingPunct="1"/>
            <a:r>
              <a:rPr lang="en-US" altLang="en-US" sz="2800"/>
              <a:t>Communications in Client-Server Systems</a:t>
            </a:r>
          </a:p>
        </p:txBody>
      </p:sp>
      <p:sp>
        <p:nvSpPr>
          <p:cNvPr id="56323" name="Rectangle 3">
            <a:extLst>
              <a:ext uri="{FF2B5EF4-FFF2-40B4-BE49-F238E27FC236}">
                <a16:creationId xmlns:a16="http://schemas.microsoft.com/office/drawing/2014/main" id="{6F998C9C-0AEA-9C8F-30BA-DA00D5097958}"/>
              </a:ext>
            </a:extLst>
          </p:cNvPr>
          <p:cNvSpPr>
            <a:spLocks noGrp="1" noChangeArrowheads="1"/>
          </p:cNvSpPr>
          <p:nvPr>
            <p:ph type="body" idx="1"/>
          </p:nvPr>
        </p:nvSpPr>
        <p:spPr>
          <a:xfrm>
            <a:off x="889000" y="1233488"/>
            <a:ext cx="6794500" cy="4530725"/>
          </a:xfrm>
        </p:spPr>
        <p:txBody>
          <a:bodyPr/>
          <a:lstStyle/>
          <a:p>
            <a:r>
              <a:rPr lang="en-US" altLang="en-US"/>
              <a:t>Sockets</a:t>
            </a:r>
          </a:p>
          <a:p>
            <a:r>
              <a:rPr lang="en-US" altLang="en-US"/>
              <a:t>Remote Procedure Calls</a:t>
            </a:r>
          </a:p>
          <a:p>
            <a:r>
              <a:rPr lang="en-US" altLang="en-US"/>
              <a:t>Pipes</a:t>
            </a:r>
          </a:p>
          <a:p>
            <a:r>
              <a:rPr lang="en-US" altLang="en-US"/>
              <a:t>Remote Method Invocation (Java)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deadlock?</a:t>
            </a:r>
          </a:p>
        </p:txBody>
      </p:sp>
      <p:sp>
        <p:nvSpPr>
          <p:cNvPr id="3" name="Content Placeholder 2"/>
          <p:cNvSpPr>
            <a:spLocks noGrp="1"/>
          </p:cNvSpPr>
          <p:nvPr>
            <p:ph idx="1"/>
          </p:nvPr>
        </p:nvSpPr>
        <p:spPr/>
        <p:txBody>
          <a:bodyPr>
            <a:normAutofit/>
          </a:bodyPr>
          <a:lstStyle/>
          <a:p>
            <a:pPr algn="just">
              <a:buNone/>
            </a:pPr>
            <a:r>
              <a:rPr lang="en-US" sz="1900" dirty="0"/>
              <a:t>    	In an operating system a deadlock is a situation which occurs when a process or thread enters a waiting state because a resource requested is being held by another waiting process, which in turn is waiting for another resource held by another waiting process. If a process is unable to change its state indefinitely because the resources requested by it are being used by another waiting process, then the system is said to be in a deadlock.</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Necessary conditions</a:t>
            </a:r>
          </a:p>
        </p:txBody>
      </p:sp>
      <p:sp>
        <p:nvSpPr>
          <p:cNvPr id="5" name="Rectangle 3"/>
          <p:cNvSpPr>
            <a:spLocks noGrp="1" noChangeArrowheads="1"/>
          </p:cNvSpPr>
          <p:nvPr>
            <p:ph idx="1"/>
          </p:nvPr>
        </p:nvSpPr>
        <p:spPr>
          <a:xfrm>
            <a:off x="457200" y="1219200"/>
            <a:ext cx="8229600" cy="5105400"/>
          </a:xfrm>
        </p:spPr>
        <p:txBody>
          <a:bodyPr>
            <a:normAutofit/>
          </a:bodyPr>
          <a:lstStyle/>
          <a:p>
            <a:pPr marL="0" indent="0" algn="just" eaLnBrk="1" hangingPunct="1">
              <a:lnSpc>
                <a:spcPct val="90000"/>
              </a:lnSpc>
              <a:buFontTx/>
              <a:buNone/>
            </a:pPr>
            <a:endParaRPr lang="en-US" altLang="en-US" sz="1800" dirty="0">
              <a:cs typeface="Times New Roman" pitchFamily="18" charset="0"/>
            </a:endParaRPr>
          </a:p>
          <a:p>
            <a:pPr marL="0" indent="0" algn="just" eaLnBrk="1" hangingPunct="1">
              <a:lnSpc>
                <a:spcPct val="90000"/>
              </a:lnSpc>
              <a:buFontTx/>
              <a:buNone/>
            </a:pPr>
            <a:r>
              <a:rPr lang="en-US" altLang="en-US" sz="1800" b="1" dirty="0">
                <a:cs typeface="Times New Roman" pitchFamily="18" charset="0"/>
              </a:rPr>
              <a:t>ALL</a:t>
            </a:r>
            <a:r>
              <a:rPr lang="en-US" altLang="en-US" sz="1800" dirty="0">
                <a:cs typeface="Times New Roman" pitchFamily="18" charset="0"/>
              </a:rPr>
              <a:t> of these four </a:t>
            </a:r>
            <a:r>
              <a:rPr lang="en-US" altLang="en-US" sz="1800" b="1" dirty="0">
                <a:cs typeface="Times New Roman" pitchFamily="18" charset="0"/>
              </a:rPr>
              <a:t>must</a:t>
            </a:r>
            <a:r>
              <a:rPr lang="en-US" altLang="en-US" sz="1800" dirty="0">
                <a:cs typeface="Times New Roman" pitchFamily="18" charset="0"/>
              </a:rPr>
              <a:t> happen simultaneously for a deadlock to occur:</a:t>
            </a:r>
          </a:p>
          <a:p>
            <a:pPr marL="0" indent="0" algn="just" eaLnBrk="1" hangingPunct="1">
              <a:lnSpc>
                <a:spcPct val="90000"/>
              </a:lnSpc>
              <a:buFontTx/>
              <a:buNone/>
            </a:pPr>
            <a:endParaRPr lang="en-US" altLang="en-US" sz="1800" dirty="0"/>
          </a:p>
          <a:p>
            <a:pPr algn="just">
              <a:lnSpc>
                <a:spcPct val="90000"/>
              </a:lnSpc>
            </a:pPr>
            <a:r>
              <a:rPr lang="en-US" altLang="en-US" sz="1800" b="1" dirty="0">
                <a:cs typeface="Times New Roman" pitchFamily="18" charset="0"/>
              </a:rPr>
              <a:t>Mutual exclusion</a:t>
            </a:r>
          </a:p>
          <a:p>
            <a:pPr algn="just">
              <a:lnSpc>
                <a:spcPct val="90000"/>
              </a:lnSpc>
              <a:buNone/>
            </a:pPr>
            <a:r>
              <a:rPr lang="en-US" altLang="en-US" sz="1800" b="1" dirty="0">
                <a:cs typeface="Times New Roman" pitchFamily="18" charset="0"/>
              </a:rPr>
              <a:t>      </a:t>
            </a:r>
            <a:r>
              <a:rPr lang="en-US" altLang="en-US" sz="1800" dirty="0">
                <a:cs typeface="Times New Roman" pitchFamily="18" charset="0"/>
              </a:rPr>
              <a:t>At least one must be held by a process in a non-sharable (exclusive) mode.</a:t>
            </a:r>
          </a:p>
          <a:p>
            <a:pPr algn="just">
              <a:lnSpc>
                <a:spcPct val="90000"/>
              </a:lnSpc>
              <a:buNone/>
            </a:pPr>
            <a:endParaRPr lang="en-US" altLang="en-US" sz="1800" dirty="0">
              <a:cs typeface="Times New Roman" pitchFamily="18" charset="0"/>
            </a:endParaRPr>
          </a:p>
          <a:p>
            <a:pPr algn="just">
              <a:lnSpc>
                <a:spcPct val="90000"/>
              </a:lnSpc>
            </a:pPr>
            <a:r>
              <a:rPr lang="en-US" altLang="en-US" sz="1800" b="1" dirty="0">
                <a:cs typeface="Times New Roman" pitchFamily="18" charset="0"/>
              </a:rPr>
              <a:t>Hold and Wait</a:t>
            </a:r>
            <a:endParaRPr lang="en-US" altLang="en-US" sz="1800" dirty="0">
              <a:cs typeface="Times New Roman" pitchFamily="18" charset="0"/>
            </a:endParaRPr>
          </a:p>
          <a:p>
            <a:pPr algn="just">
              <a:lnSpc>
                <a:spcPct val="90000"/>
              </a:lnSpc>
              <a:buNone/>
            </a:pPr>
            <a:r>
              <a:rPr lang="en-US" altLang="en-US" sz="1800" dirty="0">
                <a:cs typeface="Times New Roman" pitchFamily="18" charset="0"/>
              </a:rPr>
              <a:t>	A process holds a resource while waiting for another resource.</a:t>
            </a:r>
          </a:p>
          <a:p>
            <a:pPr algn="just">
              <a:lnSpc>
                <a:spcPct val="90000"/>
              </a:lnSpc>
              <a:buNone/>
            </a:pPr>
            <a:endParaRPr lang="en-US" altLang="en-US" sz="1800" dirty="0">
              <a:cs typeface="Times New Roman" pitchFamily="18" charset="0"/>
            </a:endParaRPr>
          </a:p>
          <a:p>
            <a:pPr algn="just">
              <a:lnSpc>
                <a:spcPct val="90000"/>
              </a:lnSpc>
            </a:pPr>
            <a:r>
              <a:rPr lang="en-US" altLang="en-US" sz="1800" b="1" dirty="0">
                <a:cs typeface="Times New Roman" pitchFamily="18" charset="0"/>
              </a:rPr>
              <a:t>No Preemption</a:t>
            </a:r>
            <a:endParaRPr lang="en-US" altLang="en-US" sz="1800" dirty="0">
              <a:cs typeface="Times New Roman" pitchFamily="18" charset="0"/>
            </a:endParaRPr>
          </a:p>
          <a:p>
            <a:pPr algn="just">
              <a:lnSpc>
                <a:spcPct val="90000"/>
              </a:lnSpc>
              <a:buNone/>
            </a:pPr>
            <a:r>
              <a:rPr lang="en-US" altLang="en-US" sz="1800" dirty="0">
                <a:cs typeface="Times New Roman" pitchFamily="18" charset="0"/>
              </a:rPr>
              <a:t>	A process can release the resource held by it only when it complete its task.</a:t>
            </a:r>
          </a:p>
          <a:p>
            <a:pPr algn="just">
              <a:lnSpc>
                <a:spcPct val="90000"/>
              </a:lnSpc>
              <a:buNone/>
            </a:pPr>
            <a:r>
              <a:rPr lang="en-US" altLang="en-US" sz="1800" dirty="0">
                <a:cs typeface="Times New Roman" pitchFamily="18" charset="0"/>
              </a:rPr>
              <a:t> </a:t>
            </a:r>
          </a:p>
          <a:p>
            <a:pPr algn="just">
              <a:lnSpc>
                <a:spcPct val="90000"/>
              </a:lnSpc>
            </a:pPr>
            <a:r>
              <a:rPr lang="en-US" altLang="en-US" sz="1800" b="1" dirty="0">
                <a:cs typeface="Times New Roman" pitchFamily="18" charset="0"/>
              </a:rPr>
              <a:t>Circular Wait</a:t>
            </a:r>
            <a:endParaRPr lang="en-US" altLang="en-US" sz="1800" dirty="0">
              <a:cs typeface="Times New Roman" pitchFamily="18" charset="0"/>
            </a:endParaRPr>
          </a:p>
          <a:p>
            <a:pPr algn="just">
              <a:lnSpc>
                <a:spcPct val="90000"/>
              </a:lnSpc>
              <a:buNone/>
            </a:pPr>
            <a:r>
              <a:rPr lang="en-US" altLang="en-US" sz="1800" dirty="0">
                <a:cs typeface="Times New Roman" pitchFamily="18" charset="0"/>
              </a:rPr>
              <a:t>	A set of waiting processes { P0, P1, P2 ………</a:t>
            </a:r>
            <a:r>
              <a:rPr lang="en-US" altLang="en-US" sz="1800" dirty="0" err="1">
                <a:cs typeface="Times New Roman" pitchFamily="18" charset="0"/>
              </a:rPr>
              <a:t>Pn</a:t>
            </a:r>
            <a:r>
              <a:rPr lang="en-US" altLang="en-US" sz="1800" dirty="0">
                <a:cs typeface="Times New Roman" pitchFamily="18" charset="0"/>
              </a:rPr>
              <a:t>} must exist such that process P0 is waiting for resource held by P1, P1 is waiting for resource held by P2, P2 is waiting for resource held by P3 and so on and the process </a:t>
            </a:r>
            <a:r>
              <a:rPr lang="en-US" altLang="en-US" sz="1800" dirty="0" err="1">
                <a:cs typeface="Times New Roman" pitchFamily="18" charset="0"/>
              </a:rPr>
              <a:t>Pn</a:t>
            </a:r>
            <a:r>
              <a:rPr lang="en-US" altLang="en-US" sz="1800" dirty="0">
                <a:cs typeface="Times New Roman" pitchFamily="18" charset="0"/>
              </a:rPr>
              <a:t> is waiting for resource held by P0.</a:t>
            </a:r>
            <a:endParaRPr lang="en-US" alt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 Allocation Graph</a:t>
            </a:r>
          </a:p>
        </p:txBody>
      </p:sp>
      <p:sp>
        <p:nvSpPr>
          <p:cNvPr id="3" name="Content Placeholder 2"/>
          <p:cNvSpPr>
            <a:spLocks noGrp="1"/>
          </p:cNvSpPr>
          <p:nvPr>
            <p:ph idx="1"/>
          </p:nvPr>
        </p:nvSpPr>
        <p:spPr>
          <a:xfrm>
            <a:off x="457200" y="1600200"/>
            <a:ext cx="8229600" cy="5257800"/>
          </a:xfrm>
        </p:spPr>
        <p:txBody>
          <a:bodyPr/>
          <a:lstStyle/>
          <a:p>
            <a:pPr marL="0" indent="0" algn="just">
              <a:lnSpc>
                <a:spcPct val="90000"/>
              </a:lnSpc>
              <a:buNone/>
            </a:pPr>
            <a:r>
              <a:rPr lang="en-US" altLang="en-US" sz="1800" dirty="0">
                <a:cs typeface="Times New Roman" pitchFamily="18" charset="0"/>
              </a:rPr>
              <a:t>This is a visual ( mathematical ) way to determine if a deadlock has, or may occur.</a:t>
            </a:r>
          </a:p>
          <a:p>
            <a:pPr marL="0" indent="0" algn="just">
              <a:lnSpc>
                <a:spcPct val="90000"/>
              </a:lnSpc>
              <a:buNone/>
            </a:pPr>
            <a:r>
              <a:rPr lang="en-US" altLang="en-US" sz="1800" dirty="0">
                <a:cs typeface="Times New Roman" pitchFamily="18" charset="0"/>
              </a:rPr>
              <a:t> </a:t>
            </a:r>
          </a:p>
          <a:p>
            <a:pPr lvl="1" algn="just">
              <a:lnSpc>
                <a:spcPct val="90000"/>
              </a:lnSpc>
              <a:buNone/>
            </a:pPr>
            <a:r>
              <a:rPr lang="en-US" altLang="en-US" sz="1800" dirty="0">
                <a:cs typeface="Times New Roman" pitchFamily="18" charset="0"/>
              </a:rPr>
              <a:t>The graph contains nodes and edges in the form G=(V, E).</a:t>
            </a:r>
          </a:p>
          <a:p>
            <a:pPr lvl="1" algn="just">
              <a:lnSpc>
                <a:spcPct val="90000"/>
              </a:lnSpc>
              <a:buNone/>
            </a:pPr>
            <a:r>
              <a:rPr lang="en-US" altLang="en-US" sz="1800" dirty="0">
                <a:cs typeface="Times New Roman" pitchFamily="18" charset="0"/>
              </a:rPr>
              <a:t> </a:t>
            </a:r>
          </a:p>
          <a:p>
            <a:pPr lvl="1" algn="just">
              <a:lnSpc>
                <a:spcPct val="90000"/>
              </a:lnSpc>
              <a:buNone/>
            </a:pPr>
            <a:r>
              <a:rPr lang="en-US" altLang="en-US" sz="1800" b="1" dirty="0">
                <a:cs typeface="Times New Roman" pitchFamily="18" charset="0"/>
              </a:rPr>
              <a:t>V</a:t>
            </a:r>
            <a:r>
              <a:rPr lang="en-US" altLang="en-US" sz="1800" dirty="0">
                <a:cs typeface="Times New Roman" pitchFamily="18" charset="0"/>
              </a:rPr>
              <a:t> 		Nodes consist of processes = { P1, P2, P3, ...} and resource types </a:t>
            </a:r>
          </a:p>
          <a:p>
            <a:pPr lvl="1" algn="just">
              <a:lnSpc>
                <a:spcPct val="90000"/>
              </a:lnSpc>
              <a:buNone/>
            </a:pPr>
            <a:r>
              <a:rPr lang="en-US" altLang="en-US" sz="1800" dirty="0">
                <a:cs typeface="Times New Roman" pitchFamily="18" charset="0"/>
              </a:rPr>
              <a:t>		{ R1, R2, ...}</a:t>
            </a:r>
          </a:p>
          <a:p>
            <a:pPr lvl="1" algn="just">
              <a:lnSpc>
                <a:spcPct val="90000"/>
              </a:lnSpc>
              <a:buNone/>
            </a:pPr>
            <a:r>
              <a:rPr lang="en-US" altLang="en-US" sz="1800" dirty="0">
                <a:cs typeface="Times New Roman" pitchFamily="18" charset="0"/>
              </a:rPr>
              <a:t> </a:t>
            </a:r>
          </a:p>
          <a:p>
            <a:pPr lvl="1" algn="just">
              <a:lnSpc>
                <a:spcPct val="90000"/>
              </a:lnSpc>
              <a:buNone/>
            </a:pPr>
            <a:r>
              <a:rPr lang="en-US" altLang="en-US" sz="1800" b="1" dirty="0">
                <a:cs typeface="Times New Roman" pitchFamily="18" charset="0"/>
              </a:rPr>
              <a:t>E</a:t>
            </a:r>
            <a:r>
              <a:rPr lang="en-US" altLang="en-US" sz="1800" dirty="0">
                <a:cs typeface="Times New Roman" pitchFamily="18" charset="0"/>
              </a:rPr>
              <a:t> 		Edges are ( Pi, </a:t>
            </a:r>
            <a:r>
              <a:rPr lang="en-US" altLang="en-US" sz="1800" dirty="0" err="1">
                <a:cs typeface="Times New Roman" pitchFamily="18" charset="0"/>
              </a:rPr>
              <a:t>Rj</a:t>
            </a:r>
            <a:r>
              <a:rPr lang="en-US" altLang="en-US" sz="1800" dirty="0">
                <a:cs typeface="Times New Roman" pitchFamily="18" charset="0"/>
              </a:rPr>
              <a:t> ) or ( </a:t>
            </a:r>
            <a:r>
              <a:rPr lang="en-US" altLang="en-US" sz="1800" dirty="0" err="1">
                <a:cs typeface="Times New Roman" pitchFamily="18" charset="0"/>
              </a:rPr>
              <a:t>Ri</a:t>
            </a:r>
            <a:r>
              <a:rPr lang="en-US" altLang="en-US" sz="1800" dirty="0">
                <a:cs typeface="Times New Roman" pitchFamily="18" charset="0"/>
              </a:rPr>
              <a:t>, </a:t>
            </a:r>
            <a:r>
              <a:rPr lang="en-US" altLang="en-US" sz="1800" dirty="0" err="1">
                <a:cs typeface="Times New Roman" pitchFamily="18" charset="0"/>
              </a:rPr>
              <a:t>Pj</a:t>
            </a:r>
            <a:r>
              <a:rPr lang="en-US" altLang="en-US" sz="1800" dirty="0">
                <a:cs typeface="Times New Roman" pitchFamily="18" charset="0"/>
              </a:rPr>
              <a:t> )</a:t>
            </a:r>
          </a:p>
          <a:p>
            <a:pPr marL="0" indent="0" algn="just">
              <a:lnSpc>
                <a:spcPct val="90000"/>
              </a:lnSpc>
              <a:buNone/>
            </a:pPr>
            <a:r>
              <a:rPr lang="en-US" altLang="en-US" sz="1800" dirty="0">
                <a:cs typeface="Times New Roman" pitchFamily="18" charset="0"/>
              </a:rPr>
              <a:t> </a:t>
            </a:r>
          </a:p>
          <a:p>
            <a:pPr marL="0" indent="0" algn="just">
              <a:lnSpc>
                <a:spcPct val="90000"/>
              </a:lnSpc>
              <a:buNone/>
            </a:pPr>
            <a:r>
              <a:rPr lang="en-US" altLang="en-US" sz="1800" dirty="0">
                <a:cs typeface="Times New Roman" pitchFamily="18" charset="0"/>
              </a:rPr>
              <a:t>An arrow from the </a:t>
            </a:r>
            <a:r>
              <a:rPr lang="en-US" altLang="en-US" sz="1800" b="1" dirty="0">
                <a:cs typeface="Times New Roman" pitchFamily="18" charset="0"/>
              </a:rPr>
              <a:t>process</a:t>
            </a:r>
            <a:r>
              <a:rPr lang="en-US" altLang="en-US" sz="1800" dirty="0">
                <a:cs typeface="Times New Roman" pitchFamily="18" charset="0"/>
              </a:rPr>
              <a:t> to </a:t>
            </a:r>
            <a:r>
              <a:rPr lang="en-US" altLang="en-US" sz="1800" b="1" dirty="0">
                <a:cs typeface="Times New Roman" pitchFamily="18" charset="0"/>
              </a:rPr>
              <a:t>resource</a:t>
            </a:r>
            <a:r>
              <a:rPr lang="en-US" altLang="en-US" sz="1800" dirty="0">
                <a:cs typeface="Times New Roman" pitchFamily="18" charset="0"/>
              </a:rPr>
              <a:t> indicates the process is </a:t>
            </a:r>
            <a:r>
              <a:rPr lang="en-US" altLang="en-US" sz="1800" b="1" dirty="0">
                <a:cs typeface="Times New Roman" pitchFamily="18" charset="0"/>
              </a:rPr>
              <a:t>requesting</a:t>
            </a:r>
            <a:r>
              <a:rPr lang="en-US" altLang="en-US" sz="1800" dirty="0">
                <a:cs typeface="Times New Roman" pitchFamily="18" charset="0"/>
              </a:rPr>
              <a:t> the resource.  An arrow from </a:t>
            </a:r>
            <a:r>
              <a:rPr lang="en-US" altLang="en-US" sz="1800" b="1" dirty="0">
                <a:cs typeface="Times New Roman" pitchFamily="18" charset="0"/>
              </a:rPr>
              <a:t>resource</a:t>
            </a:r>
            <a:r>
              <a:rPr lang="en-US" altLang="en-US" sz="1800" dirty="0">
                <a:cs typeface="Times New Roman" pitchFamily="18" charset="0"/>
              </a:rPr>
              <a:t> to </a:t>
            </a:r>
            <a:r>
              <a:rPr lang="en-US" altLang="en-US" sz="1800" b="1" dirty="0">
                <a:cs typeface="Times New Roman" pitchFamily="18" charset="0"/>
              </a:rPr>
              <a:t>process</a:t>
            </a:r>
            <a:r>
              <a:rPr lang="en-US" altLang="en-US" sz="1800" dirty="0">
                <a:cs typeface="Times New Roman" pitchFamily="18" charset="0"/>
              </a:rPr>
              <a:t> shows an instance of the resource has been </a:t>
            </a:r>
            <a:r>
              <a:rPr lang="en-US" altLang="en-US" sz="1800" b="1" dirty="0">
                <a:cs typeface="Times New Roman" pitchFamily="18" charset="0"/>
              </a:rPr>
              <a:t>allocated</a:t>
            </a:r>
            <a:r>
              <a:rPr lang="en-US" altLang="en-US" sz="1800" dirty="0">
                <a:cs typeface="Times New Roman" pitchFamily="18" charset="0"/>
              </a:rPr>
              <a:t> to the process.</a:t>
            </a:r>
          </a:p>
          <a:p>
            <a:pPr marL="0" indent="0" algn="just">
              <a:lnSpc>
                <a:spcPct val="90000"/>
              </a:lnSpc>
              <a:buNone/>
            </a:pPr>
            <a:r>
              <a:rPr lang="en-US" altLang="en-US" sz="1800" dirty="0">
                <a:cs typeface="Times New Roman" pitchFamily="18" charset="0"/>
              </a:rPr>
              <a:t> </a:t>
            </a:r>
          </a:p>
          <a:p>
            <a:pPr marL="0" indent="0" algn="just">
              <a:lnSpc>
                <a:spcPct val="90000"/>
              </a:lnSpc>
              <a:buNone/>
            </a:pPr>
            <a:r>
              <a:rPr lang="en-US" altLang="en-US" sz="1800" dirty="0">
                <a:cs typeface="Times New Roman" pitchFamily="18" charset="0"/>
              </a:rPr>
              <a:t>Process is a circle, resource type is square; dots represent number of instances of resource in type. Request points to square, assignment comes from dot.</a:t>
            </a:r>
          </a:p>
          <a:p>
            <a:pPr marL="0" indent="0" algn="just">
              <a:lnSpc>
                <a:spcPct val="90000"/>
              </a:lnSpc>
              <a:buNone/>
            </a:pPr>
            <a:r>
              <a:rPr lang="en-US" altLang="en-US" sz="1800" dirty="0">
                <a:cs typeface="Times New Roman" pitchFamily="18" charset="0"/>
              </a:rPr>
              <a:t>																				</a:t>
            </a:r>
          </a:p>
          <a:p>
            <a:pPr marL="0" indent="0" algn="just">
              <a:lnSpc>
                <a:spcPct val="90000"/>
              </a:lnSpc>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	</a:t>
            </a:r>
            <a:r>
              <a:rPr lang="en-US" sz="1800" dirty="0"/>
              <a:t>If graph doesn’t have any cycle then deadlock is not occurred. But if there is any cycle then deadlock may occur</a:t>
            </a:r>
            <a:r>
              <a:rPr lang="en-US" dirty="0"/>
              <a:t>.</a:t>
            </a:r>
          </a:p>
          <a:p>
            <a:pPr>
              <a:buNone/>
            </a:pPr>
            <a:endParaRPr lang="en-US" dirty="0"/>
          </a:p>
        </p:txBody>
      </p:sp>
      <p:pic>
        <p:nvPicPr>
          <p:cNvPr id="5" name="Picture 8"/>
          <p:cNvPicPr>
            <a:picLocks noChangeAspect="1" noChangeArrowheads="1"/>
          </p:cNvPicPr>
          <p:nvPr/>
        </p:nvPicPr>
        <p:blipFill>
          <a:blip r:embed="rId2"/>
          <a:srcRect l="23024" t="871" r="23206" b="1060"/>
          <a:stretch>
            <a:fillRect/>
          </a:stretch>
        </p:blipFill>
        <p:spPr bwMode="auto">
          <a:xfrm>
            <a:off x="4419600" y="2590800"/>
            <a:ext cx="2343150" cy="3419475"/>
          </a:xfrm>
          <a:prstGeom prst="rect">
            <a:avLst/>
          </a:prstGeom>
          <a:noFill/>
          <a:ln w="9525">
            <a:noFill/>
            <a:miter lim="800000"/>
            <a:headEnd/>
            <a:tailEnd/>
          </a:ln>
        </p:spPr>
      </p:pic>
      <p:sp>
        <p:nvSpPr>
          <p:cNvPr id="6" name="Text Box 13"/>
          <p:cNvSpPr txBox="1">
            <a:spLocks noChangeArrowheads="1"/>
          </p:cNvSpPr>
          <p:nvPr/>
        </p:nvSpPr>
        <p:spPr bwMode="auto">
          <a:xfrm>
            <a:off x="7177087" y="2667000"/>
            <a:ext cx="1662113" cy="646331"/>
          </a:xfrm>
          <a:prstGeom prst="rect">
            <a:avLst/>
          </a:prstGeom>
          <a:noFill/>
          <a:ln w="9525">
            <a:noFill/>
            <a:miter lim="800000"/>
            <a:headEnd/>
            <a:tailEnd/>
          </a:ln>
        </p:spPr>
        <p:txBody>
          <a:bodyPr wrap="square">
            <a:spAutoFit/>
          </a:bodyPr>
          <a:lstStyle/>
          <a:p>
            <a:r>
              <a:rPr lang="en-US" altLang="en-US" b="1" dirty="0">
                <a:solidFill>
                  <a:schemeClr val="accent2"/>
                </a:solidFill>
              </a:rPr>
              <a:t>R3 Assigned to P3</a:t>
            </a:r>
          </a:p>
        </p:txBody>
      </p:sp>
      <p:sp>
        <p:nvSpPr>
          <p:cNvPr id="7" name="Text Box 12"/>
          <p:cNvSpPr txBox="1">
            <a:spLocks noChangeArrowheads="1"/>
          </p:cNvSpPr>
          <p:nvPr/>
        </p:nvSpPr>
        <p:spPr bwMode="auto">
          <a:xfrm>
            <a:off x="7010400" y="4648200"/>
            <a:ext cx="1642244" cy="369332"/>
          </a:xfrm>
          <a:prstGeom prst="rect">
            <a:avLst/>
          </a:prstGeom>
          <a:noFill/>
          <a:ln w="9525">
            <a:noFill/>
            <a:miter lim="800000"/>
            <a:headEnd/>
            <a:tailEnd/>
          </a:ln>
        </p:spPr>
        <p:txBody>
          <a:bodyPr wrap="none">
            <a:spAutoFit/>
          </a:bodyPr>
          <a:lstStyle/>
          <a:p>
            <a:r>
              <a:rPr lang="en-US" altLang="en-US" b="1" dirty="0">
                <a:solidFill>
                  <a:schemeClr val="accent2"/>
                </a:solidFill>
              </a:rPr>
              <a:t>P2 Requests R3</a:t>
            </a:r>
          </a:p>
        </p:txBody>
      </p:sp>
      <p:sp>
        <p:nvSpPr>
          <p:cNvPr id="8" name="Line 16"/>
          <p:cNvSpPr>
            <a:spLocks noChangeShapeType="1"/>
          </p:cNvSpPr>
          <p:nvPr/>
        </p:nvSpPr>
        <p:spPr bwMode="auto">
          <a:xfrm flipH="1">
            <a:off x="6477000" y="2971800"/>
            <a:ext cx="762000" cy="457200"/>
          </a:xfrm>
          <a:prstGeom prst="line">
            <a:avLst/>
          </a:prstGeom>
          <a:noFill/>
          <a:ln w="38100">
            <a:solidFill>
              <a:schemeClr val="accent2"/>
            </a:solidFill>
            <a:round/>
            <a:headEnd/>
            <a:tailEnd type="triangle" w="med" len="med"/>
          </a:ln>
        </p:spPr>
        <p:txBody>
          <a:bodyPr wrap="none" anchor="ctr"/>
          <a:lstStyle/>
          <a:p>
            <a:endParaRPr lang="en-US"/>
          </a:p>
        </p:txBody>
      </p:sp>
      <p:sp>
        <p:nvSpPr>
          <p:cNvPr id="9" name="Line 16"/>
          <p:cNvSpPr>
            <a:spLocks noChangeShapeType="1"/>
          </p:cNvSpPr>
          <p:nvPr/>
        </p:nvSpPr>
        <p:spPr bwMode="auto">
          <a:xfrm flipH="1" flipV="1">
            <a:off x="5791200" y="3657600"/>
            <a:ext cx="1295400" cy="1066800"/>
          </a:xfrm>
          <a:prstGeom prst="line">
            <a:avLst/>
          </a:prstGeom>
          <a:noFill/>
          <a:ln w="38100">
            <a:solidFill>
              <a:schemeClr val="accent2"/>
            </a:solidFill>
            <a:round/>
            <a:headEnd/>
            <a:tailEnd type="triangle" w="med" len="med"/>
          </a:ln>
        </p:spPr>
        <p:txBody>
          <a:bodyPr wrap="none" anchor="ct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38200"/>
            <a:ext cx="8229600" cy="1143000"/>
          </a:xfrm>
        </p:spPr>
        <p:txBody>
          <a:bodyPr>
            <a:normAutofit/>
          </a:bodyPr>
          <a:lstStyle/>
          <a:p>
            <a:pPr algn="l"/>
            <a:r>
              <a:rPr lang="en-US" sz="1400" dirty="0"/>
              <a:t>Resource Allocation Graph with deadlock		Resource Allocation Graph with a cycle 					but no deadlock</a:t>
            </a:r>
          </a:p>
        </p:txBody>
      </p:sp>
      <p:pic>
        <p:nvPicPr>
          <p:cNvPr id="5" name="Picture 6"/>
          <p:cNvPicPr>
            <a:picLocks noGrp="1" noChangeAspect="1" noChangeArrowheads="1"/>
          </p:cNvPicPr>
          <p:nvPr>
            <p:ph idx="1"/>
          </p:nvPr>
        </p:nvPicPr>
        <p:blipFill>
          <a:blip r:embed="rId2"/>
          <a:srcRect l="23473" t="919" r="23195" b="1358"/>
          <a:stretch>
            <a:fillRect/>
          </a:stretch>
        </p:blipFill>
        <p:spPr bwMode="auto">
          <a:xfrm>
            <a:off x="533400" y="2552704"/>
            <a:ext cx="2438400" cy="3573459"/>
          </a:xfrm>
          <a:prstGeom prst="rect">
            <a:avLst/>
          </a:prstGeom>
          <a:noFill/>
          <a:ln w="9525">
            <a:noFill/>
            <a:miter lim="800000"/>
            <a:headEnd/>
            <a:tailEnd/>
          </a:ln>
        </p:spPr>
      </p:pic>
      <p:pic>
        <p:nvPicPr>
          <p:cNvPr id="6" name="Picture 10"/>
          <p:cNvPicPr>
            <a:picLocks noChangeAspect="1" noChangeArrowheads="1"/>
          </p:cNvPicPr>
          <p:nvPr/>
        </p:nvPicPr>
        <p:blipFill>
          <a:blip r:embed="rId3"/>
          <a:srcRect l="19093" t="700" r="19093" b="700"/>
          <a:stretch>
            <a:fillRect/>
          </a:stretch>
        </p:blipFill>
        <p:spPr bwMode="auto">
          <a:xfrm>
            <a:off x="5181600" y="2895600"/>
            <a:ext cx="2609850" cy="333057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How to handle deadlock</a:t>
            </a:r>
          </a:p>
        </p:txBody>
      </p:sp>
      <p:sp>
        <p:nvSpPr>
          <p:cNvPr id="3" name="Content Placeholder 2"/>
          <p:cNvSpPr>
            <a:spLocks noGrp="1"/>
          </p:cNvSpPr>
          <p:nvPr>
            <p:ph idx="1"/>
          </p:nvPr>
        </p:nvSpPr>
        <p:spPr/>
        <p:txBody>
          <a:bodyPr>
            <a:normAutofit/>
          </a:bodyPr>
          <a:lstStyle/>
          <a:p>
            <a:pPr>
              <a:buNone/>
            </a:pPr>
            <a:r>
              <a:rPr lang="en-US" sz="1800" dirty="0"/>
              <a:t>There are three kind of strategies:-</a:t>
            </a:r>
          </a:p>
          <a:p>
            <a:pPr>
              <a:buNone/>
            </a:pPr>
            <a:endParaRPr lang="en-US" sz="1800" dirty="0"/>
          </a:p>
          <a:p>
            <a:pPr>
              <a:buAutoNum type="arabicPeriod"/>
            </a:pPr>
            <a:r>
              <a:rPr lang="en-US" sz="1800" dirty="0"/>
              <a:t>Pretend that deadlock will never happen.</a:t>
            </a:r>
          </a:p>
          <a:p>
            <a:pPr>
              <a:buAutoNum type="arabicPeriod"/>
            </a:pPr>
            <a:r>
              <a:rPr lang="en-US" sz="1800" dirty="0"/>
              <a:t>Deadlock Prevention and Avoidance.</a:t>
            </a:r>
          </a:p>
          <a:p>
            <a:pPr>
              <a:buAutoNum type="arabicPeriod"/>
            </a:pPr>
            <a:r>
              <a:rPr lang="en-US" sz="1800" dirty="0"/>
              <a:t>Deadlock detection and recovery.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Prevention</a:t>
            </a:r>
          </a:p>
        </p:txBody>
      </p:sp>
      <p:sp>
        <p:nvSpPr>
          <p:cNvPr id="3" name="Content Placeholder 2"/>
          <p:cNvSpPr>
            <a:spLocks noGrp="1"/>
          </p:cNvSpPr>
          <p:nvPr>
            <p:ph idx="1"/>
          </p:nvPr>
        </p:nvSpPr>
        <p:spPr/>
        <p:txBody>
          <a:bodyPr>
            <a:normAutofit/>
          </a:bodyPr>
          <a:lstStyle/>
          <a:p>
            <a:pPr>
              <a:buNone/>
            </a:pPr>
            <a:r>
              <a:rPr lang="en-US" sz="1800" dirty="0"/>
              <a:t>Ensure that one of the four necessary condition of deadlock will never happen.</a:t>
            </a:r>
          </a:p>
          <a:p>
            <a:pPr>
              <a:buNone/>
            </a:pPr>
            <a:endParaRPr lang="en-US" sz="1800" dirty="0"/>
          </a:p>
          <a:p>
            <a:pPr>
              <a:buNone/>
            </a:pPr>
            <a:r>
              <a:rPr lang="en-US" sz="1800" b="1" dirty="0"/>
              <a:t>Mutual Exclusion:-</a:t>
            </a:r>
            <a:endParaRPr lang="en-US" altLang="en-US" sz="1800" dirty="0">
              <a:cs typeface="Times New Roman" pitchFamily="18" charset="0"/>
            </a:endParaRPr>
          </a:p>
          <a:p>
            <a:pPr marL="857250" lvl="1" indent="-400050" algn="just">
              <a:lnSpc>
                <a:spcPct val="90000"/>
              </a:lnSpc>
              <a:buNone/>
            </a:pPr>
            <a:r>
              <a:rPr lang="en-US" altLang="en-US" sz="1800" dirty="0">
                <a:cs typeface="Times New Roman" pitchFamily="18" charset="0"/>
              </a:rPr>
              <a:t>a)   This  holds for printers and other non sharable.</a:t>
            </a:r>
          </a:p>
          <a:p>
            <a:pPr marL="857250" lvl="1" indent="-400050" algn="just">
              <a:lnSpc>
                <a:spcPct val="90000"/>
              </a:lnSpc>
              <a:buNone/>
            </a:pPr>
            <a:r>
              <a:rPr lang="en-US" altLang="en-US" sz="1800" dirty="0">
                <a:cs typeface="Times New Roman" pitchFamily="18" charset="0"/>
              </a:rPr>
              <a:t>b</a:t>
            </a:r>
            <a:r>
              <a:rPr lang="en-US" altLang="en-US" sz="1800">
                <a:cs typeface="Times New Roman" pitchFamily="18" charset="0"/>
              </a:rPr>
              <a:t>) Shared </a:t>
            </a:r>
            <a:r>
              <a:rPr lang="en-US" altLang="en-US" sz="1800" dirty="0">
                <a:cs typeface="Times New Roman" pitchFamily="18" charset="0"/>
              </a:rPr>
              <a:t>entities (read only files) don't need mutual exclusion (and aren’t susceptible to deadlock.)</a:t>
            </a:r>
          </a:p>
          <a:p>
            <a:pPr marL="857250" lvl="1" indent="-400050" algn="just">
              <a:lnSpc>
                <a:spcPct val="90000"/>
              </a:lnSpc>
              <a:buAutoNum type="alphaLcParenR" startAt="3"/>
            </a:pPr>
            <a:r>
              <a:rPr lang="en-US" altLang="en-US" sz="1800" dirty="0">
                <a:cs typeface="Times New Roman" pitchFamily="18" charset="0"/>
              </a:rPr>
              <a:t>Prevention not possible, since some devices are intrinsically non-sharable.</a:t>
            </a:r>
          </a:p>
          <a:p>
            <a:pPr marL="0" indent="0" algn="just">
              <a:lnSpc>
                <a:spcPct val="90000"/>
              </a:lnSpc>
              <a:buNone/>
            </a:pPr>
            <a:r>
              <a:rPr lang="en-US" altLang="en-US" sz="1800" b="1" dirty="0">
                <a:cs typeface="Times New Roman" pitchFamily="18" charset="0"/>
              </a:rPr>
              <a:t>Hold and wait:</a:t>
            </a:r>
            <a:endParaRPr lang="en-US" altLang="en-US" sz="1800" dirty="0">
              <a:cs typeface="Times New Roman" pitchFamily="18" charset="0"/>
            </a:endParaRPr>
          </a:p>
          <a:p>
            <a:pPr marL="857250" lvl="1" indent="-400050" algn="just">
              <a:lnSpc>
                <a:spcPct val="90000"/>
              </a:lnSpc>
              <a:buNone/>
            </a:pPr>
            <a:r>
              <a:rPr lang="en-US" altLang="en-US" sz="1800" dirty="0">
                <a:cs typeface="Times New Roman" pitchFamily="18" charset="0"/>
              </a:rPr>
              <a:t>a)   Allocate all resources before execution.</a:t>
            </a:r>
          </a:p>
          <a:p>
            <a:pPr marL="857250" lvl="1" indent="-400050" algn="just">
              <a:lnSpc>
                <a:spcPct val="90000"/>
              </a:lnSpc>
              <a:buNone/>
            </a:pPr>
            <a:r>
              <a:rPr lang="en-US" altLang="en-US" sz="1800" dirty="0">
                <a:cs typeface="Times New Roman" pitchFamily="18" charset="0"/>
              </a:rPr>
              <a:t>b)   A particular resource can only be requested when no others are being held.</a:t>
            </a:r>
          </a:p>
          <a:p>
            <a:pPr marL="857250" lvl="1" indent="-400050" algn="just">
              <a:lnSpc>
                <a:spcPct val="90000"/>
              </a:lnSpc>
              <a:buNone/>
            </a:pPr>
            <a:r>
              <a:rPr lang="en-US" altLang="en-US" sz="1800" dirty="0">
                <a:cs typeface="Times New Roman" pitchFamily="18" charset="0"/>
              </a:rPr>
              <a:t>c)   Resource utilization is low, starvation possible.</a:t>
            </a:r>
          </a:p>
          <a:p>
            <a:pPr marL="857250" lvl="1" indent="-400050" algn="just">
              <a:lnSpc>
                <a:spcPct val="90000"/>
              </a:lnSpc>
              <a:buNone/>
            </a:pPr>
            <a:endParaRPr lang="en-US" altLang="en-US" sz="1800" dirty="0">
              <a:cs typeface="Times New Roman" pitchFamily="18" charset="0"/>
            </a:endParaRPr>
          </a:p>
          <a:p>
            <a:pPr>
              <a:buNone/>
            </a:pPr>
            <a:endParaRPr lang="en-US" sz="18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229600" cy="5334000"/>
          </a:xfrm>
        </p:spPr>
        <p:txBody>
          <a:bodyPr/>
          <a:lstStyle/>
          <a:p>
            <a:pPr marL="0" indent="0" algn="just">
              <a:lnSpc>
                <a:spcPct val="90000"/>
              </a:lnSpc>
              <a:buNone/>
              <a:defRPr/>
            </a:pPr>
            <a:r>
              <a:rPr lang="en-US" sz="1800" b="1" dirty="0">
                <a:cs typeface="Times New Roman" pitchFamily="18" charset="0"/>
              </a:rPr>
              <a:t>No preemption:</a:t>
            </a:r>
            <a:endParaRPr lang="en-US" sz="1800" dirty="0">
              <a:cs typeface="Times New Roman" pitchFamily="18" charset="0"/>
            </a:endParaRPr>
          </a:p>
          <a:p>
            <a:pPr marL="0" indent="0" algn="just">
              <a:lnSpc>
                <a:spcPct val="90000"/>
              </a:lnSpc>
              <a:buNone/>
              <a:defRPr/>
            </a:pPr>
            <a:r>
              <a:rPr lang="en-US" sz="1800" dirty="0">
                <a:cs typeface="Times New Roman" pitchFamily="18" charset="0"/>
              </a:rPr>
              <a:t> </a:t>
            </a:r>
          </a:p>
          <a:p>
            <a:pPr marL="857250" lvl="1" indent="-400050" algn="just">
              <a:lnSpc>
                <a:spcPct val="90000"/>
              </a:lnSpc>
              <a:buNone/>
              <a:defRPr/>
            </a:pPr>
            <a:r>
              <a:rPr lang="en-US" sz="1800" dirty="0">
                <a:cs typeface="Times New Roman" pitchFamily="18" charset="0"/>
              </a:rPr>
              <a:t>a)  	If a process is holding some resources and requesting some resources that are not currently available then all its holding resources are preempted.</a:t>
            </a:r>
          </a:p>
          <a:p>
            <a:pPr marL="857250" lvl="1" indent="-400050" algn="just">
              <a:lnSpc>
                <a:spcPct val="90000"/>
              </a:lnSpc>
              <a:buAutoNum type="alphaLcParenR" startAt="2"/>
              <a:defRPr/>
            </a:pPr>
            <a:r>
              <a:rPr lang="en-US" sz="1800" dirty="0">
                <a:cs typeface="Times New Roman" pitchFamily="18" charset="0"/>
              </a:rPr>
              <a:t>If a needed resource is held by another process, which is also waiting on some resource,  then release that resource from the process and give it to needed process.</a:t>
            </a:r>
          </a:p>
          <a:p>
            <a:pPr marL="857250" lvl="1" indent="-400050" algn="just">
              <a:lnSpc>
                <a:spcPct val="90000"/>
              </a:lnSpc>
              <a:buNone/>
              <a:defRPr/>
            </a:pPr>
            <a:endParaRPr lang="en-US" sz="1800" b="1" dirty="0">
              <a:cs typeface="Times New Roman" pitchFamily="18" charset="0"/>
            </a:endParaRPr>
          </a:p>
          <a:p>
            <a:pPr marL="0" indent="0" algn="just">
              <a:lnSpc>
                <a:spcPct val="90000"/>
              </a:lnSpc>
              <a:buNone/>
              <a:defRPr/>
            </a:pPr>
            <a:r>
              <a:rPr lang="en-US" sz="1800" b="1" dirty="0">
                <a:cs typeface="Times New Roman" pitchFamily="18" charset="0"/>
              </a:rPr>
              <a:t>Circular wait:</a:t>
            </a:r>
            <a:endParaRPr lang="en-US" sz="1800" dirty="0">
              <a:cs typeface="Times New Roman" pitchFamily="18" charset="0"/>
            </a:endParaRPr>
          </a:p>
          <a:p>
            <a:pPr marL="857250" lvl="1" indent="-400050" algn="just">
              <a:lnSpc>
                <a:spcPct val="90000"/>
              </a:lnSpc>
              <a:buFont typeface="Wingdings" pitchFamily="2" charset="2"/>
              <a:buAutoNum type="alphaLcParenR"/>
              <a:defRPr/>
            </a:pPr>
            <a:r>
              <a:rPr lang="en-US" sz="1800" dirty="0">
                <a:cs typeface="Times New Roman" pitchFamily="18" charset="0"/>
              </a:rPr>
              <a:t>Process can request resources in an increasing order of enumeration.</a:t>
            </a:r>
          </a:p>
          <a:p>
            <a:pPr marL="857250" lvl="1" indent="-400050" algn="just">
              <a:lnSpc>
                <a:spcPct val="90000"/>
              </a:lnSpc>
              <a:buFont typeface="Wingdings" pitchFamily="2" charset="2"/>
              <a:buAutoNum type="alphaLcParenR"/>
              <a:defRPr/>
            </a:pPr>
            <a:r>
              <a:rPr lang="en-US" sz="1800" dirty="0">
                <a:cs typeface="Times New Roman" pitchFamily="18" charset="0"/>
              </a:rPr>
              <a:t>All resources are associated with an integer no.</a:t>
            </a:r>
          </a:p>
          <a:p>
            <a:pPr marL="857250" lvl="1" indent="-400050" algn="just">
              <a:lnSpc>
                <a:spcPct val="90000"/>
              </a:lnSpc>
              <a:buFont typeface="Wingdings" pitchFamily="2" charset="2"/>
              <a:buAutoNum type="alphaLcParenR"/>
              <a:defRPr/>
            </a:pPr>
            <a:r>
              <a:rPr lang="en-US" sz="1800" dirty="0">
                <a:cs typeface="Times New Roman" pitchFamily="18" charset="0"/>
              </a:rPr>
              <a:t>Any Process Pi holding resource </a:t>
            </a:r>
            <a:r>
              <a:rPr lang="en-US" sz="1800" dirty="0" err="1">
                <a:cs typeface="Times New Roman" pitchFamily="18" charset="0"/>
              </a:rPr>
              <a:t>Ri</a:t>
            </a:r>
            <a:r>
              <a:rPr lang="en-US" sz="1800" dirty="0">
                <a:cs typeface="Times New Roman" pitchFamily="18" charset="0"/>
              </a:rPr>
              <a:t> and requesting resource </a:t>
            </a:r>
            <a:r>
              <a:rPr lang="en-US" sz="1800" dirty="0" err="1">
                <a:cs typeface="Times New Roman" pitchFamily="18" charset="0"/>
              </a:rPr>
              <a:t>Rj</a:t>
            </a:r>
            <a:r>
              <a:rPr lang="en-US" sz="1800" dirty="0">
                <a:cs typeface="Times New Roman" pitchFamily="18" charset="0"/>
              </a:rPr>
              <a:t> can only be served if F(</a:t>
            </a:r>
            <a:r>
              <a:rPr lang="en-US" sz="1800" dirty="0" err="1">
                <a:cs typeface="Times New Roman" pitchFamily="18" charset="0"/>
              </a:rPr>
              <a:t>Rj</a:t>
            </a:r>
            <a:r>
              <a:rPr lang="en-US" sz="1800" dirty="0">
                <a:cs typeface="Times New Roman" pitchFamily="18" charset="0"/>
              </a:rPr>
              <a:t>) &gt; F(</a:t>
            </a:r>
            <a:r>
              <a:rPr lang="en-US" sz="1800" dirty="0" err="1">
                <a:cs typeface="Times New Roman" pitchFamily="18" charset="0"/>
              </a:rPr>
              <a:t>Ri</a:t>
            </a:r>
            <a:r>
              <a:rPr lang="en-US" sz="1800" dirty="0">
                <a:cs typeface="Times New Roman" pitchFamily="18" charset="0"/>
              </a:rPr>
              <a:t>).</a:t>
            </a:r>
          </a:p>
          <a:p>
            <a:pPr marL="857250" lvl="1" indent="-400050" algn="just">
              <a:lnSpc>
                <a:spcPct val="90000"/>
              </a:lnSpc>
              <a:buFont typeface="Wingdings" pitchFamily="2" charset="2"/>
              <a:buAutoNum type="alphaLcParenR"/>
              <a:defRPr/>
            </a:pPr>
            <a:r>
              <a:rPr lang="en-US" sz="1800" dirty="0">
                <a:cs typeface="Times New Roman" pitchFamily="18" charset="0"/>
              </a:rPr>
              <a:t>Any Process Pi holding resource </a:t>
            </a:r>
            <a:r>
              <a:rPr lang="en-US" sz="1800" dirty="0" err="1">
                <a:cs typeface="Times New Roman" pitchFamily="18" charset="0"/>
              </a:rPr>
              <a:t>Ri</a:t>
            </a:r>
            <a:r>
              <a:rPr lang="en-US" sz="1800" dirty="0">
                <a:cs typeface="Times New Roman" pitchFamily="18" charset="0"/>
              </a:rPr>
              <a:t> and requesting resource </a:t>
            </a:r>
            <a:r>
              <a:rPr lang="en-US" sz="1800" dirty="0" err="1">
                <a:cs typeface="Times New Roman" pitchFamily="18" charset="0"/>
              </a:rPr>
              <a:t>Rj</a:t>
            </a:r>
            <a:r>
              <a:rPr lang="en-US" sz="1800" dirty="0">
                <a:cs typeface="Times New Roman" pitchFamily="18" charset="0"/>
              </a:rPr>
              <a:t> must release its resource </a:t>
            </a:r>
            <a:r>
              <a:rPr lang="en-US" sz="1800" dirty="0" err="1">
                <a:cs typeface="Times New Roman" pitchFamily="18" charset="0"/>
              </a:rPr>
              <a:t>Ri</a:t>
            </a:r>
            <a:r>
              <a:rPr lang="en-US" sz="1800" dirty="0">
                <a:cs typeface="Times New Roman" pitchFamily="18" charset="0"/>
              </a:rPr>
              <a:t>  if F(</a:t>
            </a:r>
            <a:r>
              <a:rPr lang="en-US" sz="1800" dirty="0" err="1">
                <a:cs typeface="Times New Roman" pitchFamily="18" charset="0"/>
              </a:rPr>
              <a:t>Ri</a:t>
            </a:r>
            <a:r>
              <a:rPr lang="en-US" sz="1800" dirty="0">
                <a:cs typeface="Times New Roman" pitchFamily="18" charset="0"/>
              </a:rPr>
              <a:t>) &gt; F(</a:t>
            </a:r>
            <a:r>
              <a:rPr lang="en-US" sz="1800" dirty="0" err="1">
                <a:cs typeface="Times New Roman" pitchFamily="18" charset="0"/>
              </a:rPr>
              <a:t>Rj</a:t>
            </a:r>
            <a:r>
              <a:rPr lang="en-US" sz="1800" dirty="0">
                <a:cs typeface="Times New Roman" pitchFamily="18" charset="0"/>
              </a:rPr>
              <a:t>).</a:t>
            </a:r>
          </a:p>
          <a:p>
            <a:pPr marL="857250" lvl="1" indent="-400050" algn="just">
              <a:lnSpc>
                <a:spcPct val="90000"/>
              </a:lnSpc>
              <a:buFont typeface="Wingdings" pitchFamily="2" charset="2"/>
              <a:buAutoNum type="alphaLcParenR"/>
              <a:defRPr/>
            </a:pPr>
            <a:r>
              <a:rPr lang="en-US" sz="1800" dirty="0">
                <a:cs typeface="Times New Roman" pitchFamily="18" charset="0"/>
              </a:rPr>
              <a:t>Proof:-  F(R0)&lt;F(R1)&lt;F(R2)………..&lt;F(</a:t>
            </a:r>
            <a:r>
              <a:rPr lang="en-US" sz="1800" dirty="0" err="1">
                <a:cs typeface="Times New Roman" pitchFamily="18" charset="0"/>
              </a:rPr>
              <a:t>Rn</a:t>
            </a:r>
            <a:r>
              <a:rPr lang="en-US" sz="1800" dirty="0">
                <a:cs typeface="Times New Roman" pitchFamily="18" charset="0"/>
              </a:rPr>
              <a:t>)&lt;F(R0)</a:t>
            </a:r>
          </a:p>
          <a:p>
            <a:pPr marL="857250" lvl="1" indent="-400050" algn="just">
              <a:lnSpc>
                <a:spcPct val="90000"/>
              </a:lnSpc>
              <a:buNone/>
              <a:defRPr/>
            </a:pPr>
            <a:r>
              <a:rPr lang="en-US" sz="1800" dirty="0">
                <a:cs typeface="Times New Roman" pitchFamily="18" charset="0"/>
              </a:rPr>
              <a:t>	=&gt;    F(R0)&lt;F(R0)   { That never true}</a:t>
            </a:r>
          </a:p>
          <a:p>
            <a:pPr marL="857250" lvl="1" indent="-400050" algn="just">
              <a:lnSpc>
                <a:spcPct val="90000"/>
              </a:lnSpc>
              <a:buNone/>
              <a:defRPr/>
            </a:pPr>
            <a:r>
              <a:rPr lang="en-US" sz="1800" dirty="0">
                <a:cs typeface="Times New Roman" pitchFamily="18" charset="0"/>
              </a:rPr>
              <a:t>	=&gt;      So circular wait will never happen.</a:t>
            </a:r>
          </a:p>
          <a:p>
            <a:pPr marL="857250" lvl="1" indent="-400050" algn="just">
              <a:lnSpc>
                <a:spcPct val="90000"/>
              </a:lnSpc>
              <a:buNone/>
              <a:defRPr/>
            </a:pPr>
            <a:endParaRPr lang="en-US" sz="1800" dirty="0">
              <a:cs typeface="Times New Roman" pitchFamily="18" charset="0"/>
            </a:endParaRPr>
          </a:p>
          <a:p>
            <a:pPr marL="857250" lvl="1" indent="-400050" algn="just">
              <a:lnSpc>
                <a:spcPct val="90000"/>
              </a:lnSpc>
              <a:buFont typeface="Wingdings" pitchFamily="2" charset="2"/>
              <a:buAutoNum type="alphaLcParenR"/>
              <a:defRPr/>
            </a:pPr>
            <a:endParaRPr lang="en-US" sz="1800" dirty="0">
              <a:cs typeface="Times New Roman" pitchFamily="18" charset="0"/>
            </a:endParaRPr>
          </a:p>
          <a:p>
            <a:pPr>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Avoidance</a:t>
            </a:r>
          </a:p>
        </p:txBody>
      </p:sp>
      <p:sp>
        <p:nvSpPr>
          <p:cNvPr id="3" name="Content Placeholder 2"/>
          <p:cNvSpPr>
            <a:spLocks noGrp="1"/>
          </p:cNvSpPr>
          <p:nvPr>
            <p:ph idx="1"/>
          </p:nvPr>
        </p:nvSpPr>
        <p:spPr/>
        <p:txBody>
          <a:bodyPr>
            <a:normAutofit/>
          </a:bodyPr>
          <a:lstStyle/>
          <a:p>
            <a:pPr>
              <a:buNone/>
            </a:pPr>
            <a:r>
              <a:rPr lang="en-US" sz="1800" dirty="0"/>
              <a:t>	In deadlock avoidance additional information is kept about how resources are to be requested.</a:t>
            </a:r>
          </a:p>
          <a:p>
            <a:pPr>
              <a:buNone/>
            </a:pPr>
            <a:endParaRPr lang="en-US" sz="1800" dirty="0"/>
          </a:p>
          <a:p>
            <a:pPr>
              <a:buNone/>
            </a:pPr>
            <a:r>
              <a:rPr lang="en-US" sz="1800" b="1" dirty="0"/>
              <a:t>Safe State:-</a:t>
            </a:r>
          </a:p>
          <a:p>
            <a:pPr>
              <a:buNone/>
            </a:pPr>
            <a:r>
              <a:rPr lang="en-US" sz="1800" dirty="0"/>
              <a:t>	It is a state of the system in which system can allocate resources to each process( </a:t>
            </a:r>
            <a:r>
              <a:rPr lang="en-US" sz="1800" dirty="0" err="1"/>
              <a:t>upto</a:t>
            </a:r>
            <a:r>
              <a:rPr lang="en-US" sz="1800" dirty="0"/>
              <a:t> its maximum) in some order and still avoid a deadlock.</a:t>
            </a:r>
          </a:p>
        </p:txBody>
      </p:sp>
      <p:sp>
        <p:nvSpPr>
          <p:cNvPr id="4" name="Rectangle 6"/>
          <p:cNvSpPr>
            <a:spLocks noChangeArrowheads="1"/>
          </p:cNvSpPr>
          <p:nvPr/>
        </p:nvSpPr>
        <p:spPr bwMode="auto">
          <a:xfrm>
            <a:off x="1524000" y="4114800"/>
            <a:ext cx="2819400" cy="1828800"/>
          </a:xfrm>
          <a:prstGeom prst="rect">
            <a:avLst/>
          </a:prstGeom>
          <a:solidFill>
            <a:srgbClr val="FFFFCC"/>
          </a:solidFill>
          <a:ln w="9525">
            <a:solidFill>
              <a:schemeClr val="tx1"/>
            </a:solidFill>
            <a:miter lim="800000"/>
            <a:headEnd/>
            <a:tailEnd/>
          </a:ln>
        </p:spPr>
        <p:txBody>
          <a:bodyPr wrap="none" anchor="ctr"/>
          <a:lstStyle/>
          <a:p>
            <a:pPr algn="ctr"/>
            <a:endParaRPr lang="en-US" altLang="en-US"/>
          </a:p>
        </p:txBody>
      </p:sp>
      <p:sp>
        <p:nvSpPr>
          <p:cNvPr id="5" name="Rectangle 5"/>
          <p:cNvSpPr>
            <a:spLocks noChangeArrowheads="1"/>
          </p:cNvSpPr>
          <p:nvPr/>
        </p:nvSpPr>
        <p:spPr bwMode="auto">
          <a:xfrm>
            <a:off x="4343400" y="4114800"/>
            <a:ext cx="2819400" cy="1828800"/>
          </a:xfrm>
          <a:prstGeom prst="rect">
            <a:avLst/>
          </a:prstGeom>
          <a:solidFill>
            <a:srgbClr val="CCFFFF"/>
          </a:solidFill>
          <a:ln w="9525">
            <a:solidFill>
              <a:schemeClr val="tx1"/>
            </a:solidFill>
            <a:miter lim="800000"/>
            <a:headEnd/>
            <a:tailEnd/>
          </a:ln>
        </p:spPr>
        <p:txBody>
          <a:bodyPr wrap="none" anchor="ctr"/>
          <a:lstStyle/>
          <a:p>
            <a:pPr algn="ctr"/>
            <a:r>
              <a:rPr lang="en-US" altLang="en-US" sz="2000" b="1"/>
              <a:t>SAFE</a:t>
            </a:r>
          </a:p>
        </p:txBody>
      </p:sp>
      <p:sp>
        <p:nvSpPr>
          <p:cNvPr id="6" name="Rectangle 7"/>
          <p:cNvSpPr>
            <a:spLocks noChangeArrowheads="1"/>
          </p:cNvSpPr>
          <p:nvPr/>
        </p:nvSpPr>
        <p:spPr bwMode="auto">
          <a:xfrm>
            <a:off x="2133600" y="4876800"/>
            <a:ext cx="1600200" cy="762000"/>
          </a:xfrm>
          <a:prstGeom prst="rect">
            <a:avLst/>
          </a:prstGeom>
          <a:solidFill>
            <a:srgbClr val="FF99FF"/>
          </a:solidFill>
          <a:ln w="9525">
            <a:solidFill>
              <a:schemeClr val="tx1"/>
            </a:solidFill>
            <a:miter lim="800000"/>
            <a:headEnd/>
            <a:tailEnd/>
          </a:ln>
        </p:spPr>
        <p:txBody>
          <a:bodyPr wrap="none" anchor="ctr"/>
          <a:lstStyle/>
          <a:p>
            <a:pPr algn="ctr"/>
            <a:r>
              <a:rPr lang="en-US" altLang="en-US" sz="2000" b="1" dirty="0"/>
              <a:t>DEADLOCK</a:t>
            </a:r>
          </a:p>
        </p:txBody>
      </p:sp>
      <p:sp>
        <p:nvSpPr>
          <p:cNvPr id="7" name="Text Box 10"/>
          <p:cNvSpPr txBox="1">
            <a:spLocks noChangeArrowheads="1"/>
          </p:cNvSpPr>
          <p:nvPr/>
        </p:nvSpPr>
        <p:spPr bwMode="auto">
          <a:xfrm>
            <a:off x="2362200" y="4343400"/>
            <a:ext cx="1231900" cy="396875"/>
          </a:xfrm>
          <a:prstGeom prst="rect">
            <a:avLst/>
          </a:prstGeom>
          <a:noFill/>
          <a:ln w="9525">
            <a:noFill/>
            <a:miter lim="800000"/>
            <a:headEnd/>
            <a:tailEnd/>
          </a:ln>
        </p:spPr>
        <p:txBody>
          <a:bodyPr wrap="none">
            <a:spAutoFit/>
          </a:bodyPr>
          <a:lstStyle/>
          <a:p>
            <a:r>
              <a:rPr lang="en-US" altLang="en-US" sz="2000" b="1" dirty="0"/>
              <a:t>UNSAFE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sz="1800" dirty="0"/>
              <a:t>There are two algorithm to avoid a deadlock:-</a:t>
            </a:r>
          </a:p>
        </p:txBody>
      </p:sp>
      <p:sp>
        <p:nvSpPr>
          <p:cNvPr id="3" name="Content Placeholder 2"/>
          <p:cNvSpPr>
            <a:spLocks noGrp="1"/>
          </p:cNvSpPr>
          <p:nvPr>
            <p:ph idx="1"/>
          </p:nvPr>
        </p:nvSpPr>
        <p:spPr>
          <a:xfrm>
            <a:off x="457200" y="1143000"/>
            <a:ext cx="8229600" cy="4525963"/>
          </a:xfrm>
        </p:spPr>
        <p:txBody>
          <a:bodyPr>
            <a:normAutofit fontScale="92500"/>
          </a:bodyPr>
          <a:lstStyle/>
          <a:p>
            <a:pPr>
              <a:buAutoNum type="arabicPeriod"/>
            </a:pPr>
            <a:r>
              <a:rPr lang="en-US" sz="1800" dirty="0"/>
              <a:t>Resource allocation graph algorithm</a:t>
            </a:r>
          </a:p>
          <a:p>
            <a:pPr>
              <a:buAutoNum type="arabicPeriod"/>
            </a:pPr>
            <a:r>
              <a:rPr lang="en-US" sz="1800" dirty="0"/>
              <a:t>Banker’s algorithm</a:t>
            </a:r>
          </a:p>
          <a:p>
            <a:pPr>
              <a:buNone/>
            </a:pPr>
            <a:endParaRPr lang="en-US" sz="1800" dirty="0"/>
          </a:p>
          <a:p>
            <a:pPr>
              <a:buNone/>
            </a:pPr>
            <a:r>
              <a:rPr lang="en-US" sz="1800" b="1" dirty="0"/>
              <a:t>1. Resource allocation graph algorithm:-</a:t>
            </a:r>
          </a:p>
          <a:p>
            <a:pPr>
              <a:buNone/>
            </a:pPr>
            <a:r>
              <a:rPr lang="en-US" sz="1800" dirty="0"/>
              <a:t>	</a:t>
            </a:r>
          </a:p>
          <a:p>
            <a:pPr>
              <a:buNone/>
            </a:pPr>
            <a:r>
              <a:rPr lang="en-US" sz="1800" dirty="0"/>
              <a:t>	If Process P may request resource R then it can be indicated as claim edge P-&gt;R, when process P request then this claim edge is converted into Request edge, when resource R is released by process P then assignment edge R-&gt;P is reconverted to a claim edge P-&gt;R.</a:t>
            </a:r>
          </a:p>
          <a:p>
            <a:pPr>
              <a:buNone/>
            </a:pPr>
            <a:r>
              <a:rPr lang="en-US" sz="1800" dirty="0"/>
              <a:t>	This algorithm checks if  there is any cycle in the graph then system is in unsafe state.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a:bodyPr>
          <a:lstStyle/>
          <a:p>
            <a:pPr algn="l"/>
            <a:r>
              <a:rPr lang="en-US" sz="1800" b="1" dirty="0"/>
              <a:t>2. Banker’s algorithm :-</a:t>
            </a:r>
          </a:p>
        </p:txBody>
      </p:sp>
      <p:sp>
        <p:nvSpPr>
          <p:cNvPr id="3" name="Content Placeholder 2"/>
          <p:cNvSpPr>
            <a:spLocks noGrp="1"/>
          </p:cNvSpPr>
          <p:nvPr>
            <p:ph idx="1"/>
          </p:nvPr>
        </p:nvSpPr>
        <p:spPr>
          <a:xfrm>
            <a:off x="457200" y="1066800"/>
            <a:ext cx="8229600" cy="4525963"/>
          </a:xfrm>
        </p:spPr>
        <p:txBody>
          <a:bodyPr>
            <a:normAutofit/>
          </a:bodyPr>
          <a:lstStyle/>
          <a:p>
            <a:pPr>
              <a:buNone/>
            </a:pPr>
            <a:r>
              <a:rPr lang="en-US" sz="1800" dirty="0"/>
              <a:t>Data structures for the Banker’s algorithm:-</a:t>
            </a:r>
          </a:p>
          <a:p>
            <a:pPr>
              <a:buNone/>
            </a:pPr>
            <a:endParaRPr lang="en-US" sz="1800" dirty="0"/>
          </a:p>
        </p:txBody>
      </p:sp>
      <p:sp>
        <p:nvSpPr>
          <p:cNvPr id="4" name="Rectangle 3"/>
          <p:cNvSpPr txBox="1">
            <a:spLocks noChangeArrowheads="1"/>
          </p:cNvSpPr>
          <p:nvPr/>
        </p:nvSpPr>
        <p:spPr>
          <a:xfrm>
            <a:off x="609600" y="1601787"/>
            <a:ext cx="8107362" cy="487521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dirty="0">
                <a:ln>
                  <a:noFill/>
                </a:ln>
                <a:effectLst/>
                <a:uLnTx/>
                <a:uFillTx/>
                <a:latin typeface="+mn-lt"/>
                <a:ea typeface="+mn-ea"/>
                <a:cs typeface="+mn-cs"/>
              </a:rPr>
              <a:t>Let</a:t>
            </a:r>
            <a:r>
              <a:rPr kumimoji="0" lang="en-US" sz="2000" b="1" i="0" u="none" strike="noStrike" kern="1200" cap="none" spc="0" normalizeH="0" baseline="0" noProof="0" dirty="0">
                <a:ln>
                  <a:noFill/>
                </a:ln>
                <a:effectLst/>
                <a:uLnTx/>
                <a:uFillTx/>
                <a:latin typeface="+mn-lt"/>
                <a:ea typeface="+mn-ea"/>
                <a:cs typeface="+mn-cs"/>
              </a:rPr>
              <a:t> </a:t>
            </a:r>
            <a:r>
              <a:rPr kumimoji="0" lang="en-US" sz="2000" b="1" i="1" u="none" strike="noStrike" kern="1200" cap="none" spc="0" normalizeH="0" baseline="0" noProof="0" dirty="0">
                <a:ln>
                  <a:noFill/>
                </a:ln>
                <a:effectLst/>
                <a:uLnTx/>
                <a:uFillTx/>
                <a:latin typeface="+mn-lt"/>
                <a:ea typeface="+mn-ea"/>
                <a:cs typeface="+mn-cs"/>
              </a:rPr>
              <a:t>n</a:t>
            </a:r>
            <a:r>
              <a:rPr kumimoji="0" lang="en-US" b="0" i="0" u="none" strike="noStrike" kern="1200" cap="none" spc="0" normalizeH="0" baseline="0" noProof="0" dirty="0">
                <a:ln>
                  <a:noFill/>
                </a:ln>
                <a:effectLst/>
                <a:uLnTx/>
                <a:uFillTx/>
                <a:latin typeface="+mn-lt"/>
                <a:ea typeface="+mn-ea"/>
                <a:cs typeface="+mn-cs"/>
              </a:rPr>
              <a:t> = number of processes, and </a:t>
            </a:r>
            <a:r>
              <a:rPr kumimoji="0" lang="en-US" sz="2000" b="1" i="1" u="none" strike="noStrike" kern="1200" cap="none" spc="0" normalizeH="0" baseline="0" noProof="0" dirty="0">
                <a:ln>
                  <a:noFill/>
                </a:ln>
                <a:effectLst/>
                <a:uLnTx/>
                <a:uFillTx/>
                <a:latin typeface="+mn-lt"/>
                <a:ea typeface="+mn-ea"/>
                <a:cs typeface="+mn-cs"/>
              </a:rPr>
              <a:t>m</a:t>
            </a:r>
            <a:r>
              <a:rPr kumimoji="0" lang="en-US" b="0" i="1" u="none" strike="noStrike" kern="1200" cap="none" spc="0" normalizeH="0" baseline="0" noProof="0" dirty="0">
                <a:ln>
                  <a:noFill/>
                </a:ln>
                <a:effectLst/>
                <a:uLnTx/>
                <a:uFillTx/>
                <a:latin typeface="+mn-lt"/>
                <a:ea typeface="+mn-ea"/>
                <a:cs typeface="+mn-cs"/>
              </a:rPr>
              <a:t> </a:t>
            </a:r>
            <a:r>
              <a:rPr kumimoji="0" lang="en-US" b="0" i="0" u="none" strike="noStrike" kern="1200" cap="none" spc="0" normalizeH="0" baseline="0" noProof="0" dirty="0">
                <a:ln>
                  <a:noFill/>
                </a:ln>
                <a:effectLst/>
                <a:uLnTx/>
                <a:uFillTx/>
                <a:latin typeface="+mn-lt"/>
                <a:ea typeface="+mn-ea"/>
                <a:cs typeface="+mn-cs"/>
              </a:rPr>
              <a:t>= number of resources types. </a:t>
            </a:r>
            <a:endParaRPr kumimoji="0" lang="en-US" b="1" i="0" u="none" strike="noStrike" kern="1200" cap="none" spc="0" normalizeH="0" baseline="0" noProof="0" dirty="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effectLst/>
                <a:uLnTx/>
                <a:uFillTx/>
                <a:latin typeface="+mn-lt"/>
                <a:ea typeface="+mn-ea"/>
                <a:cs typeface="+mn-cs"/>
              </a:rPr>
              <a:t>Available</a:t>
            </a:r>
            <a:r>
              <a:rPr kumimoji="0" lang="en-US" b="0" i="1" u="none" strike="noStrike" kern="1200" cap="none" spc="0" normalizeH="0" baseline="0" noProof="0" dirty="0">
                <a:ln>
                  <a:noFill/>
                </a:ln>
                <a:effectLst/>
                <a:uLnTx/>
                <a:uFillTx/>
                <a:latin typeface="+mn-lt"/>
                <a:ea typeface="+mn-ea"/>
                <a:cs typeface="+mn-cs"/>
              </a:rPr>
              <a:t>:</a:t>
            </a:r>
            <a:r>
              <a:rPr kumimoji="0" lang="en-US" b="0" i="0" u="none" strike="noStrike" kern="1200" cap="none" spc="0" normalizeH="0" baseline="0" noProof="0" dirty="0">
                <a:ln>
                  <a:noFill/>
                </a:ln>
                <a:effectLst/>
                <a:uLnTx/>
                <a:uFillTx/>
                <a:latin typeface="+mn-lt"/>
                <a:ea typeface="+mn-ea"/>
                <a:cs typeface="+mn-cs"/>
              </a:rPr>
              <a:t>  Vector of length </a:t>
            </a:r>
            <a:r>
              <a:rPr kumimoji="0" lang="en-US" b="0" i="1" u="none" strike="noStrike" kern="1200" cap="none" spc="0" normalizeH="0" baseline="0" noProof="0" dirty="0">
                <a:ln>
                  <a:noFill/>
                </a:ln>
                <a:effectLst/>
                <a:uLnTx/>
                <a:uFillTx/>
                <a:latin typeface="+mn-lt"/>
                <a:ea typeface="+mn-ea"/>
                <a:cs typeface="+mn-cs"/>
              </a:rPr>
              <a:t>m</a:t>
            </a:r>
            <a:r>
              <a:rPr kumimoji="0" lang="en-US" b="0" i="0" u="none" strike="noStrike" kern="1200" cap="none" spc="0" normalizeH="0" baseline="0" noProof="0" dirty="0">
                <a:ln>
                  <a:noFill/>
                </a:ln>
                <a:effectLst/>
                <a:uLnTx/>
                <a:uFillTx/>
                <a:latin typeface="+mn-lt"/>
                <a:ea typeface="+mn-ea"/>
                <a:cs typeface="+mn-cs"/>
              </a:rPr>
              <a:t>. If available [</a:t>
            </a:r>
            <a:r>
              <a:rPr kumimoji="0" lang="en-US" b="0" i="1" u="none" strike="noStrike" kern="1200" cap="none" spc="0" normalizeH="0" baseline="0" noProof="0" dirty="0">
                <a:ln>
                  <a:noFill/>
                </a:ln>
                <a:effectLst/>
                <a:uLnTx/>
                <a:uFillTx/>
                <a:latin typeface="+mn-lt"/>
                <a:ea typeface="+mn-ea"/>
                <a:cs typeface="+mn-cs"/>
              </a:rPr>
              <a:t>j</a:t>
            </a:r>
            <a:r>
              <a:rPr kumimoji="0" lang="en-US" b="0" i="0" u="none" strike="noStrike" kern="1200" cap="none" spc="0" normalizeH="0" baseline="0" noProof="0" dirty="0">
                <a:ln>
                  <a:noFill/>
                </a:ln>
                <a:effectLst/>
                <a:uLnTx/>
                <a:uFillTx/>
                <a:latin typeface="+mn-lt"/>
                <a:ea typeface="+mn-ea"/>
                <a:cs typeface="+mn-cs"/>
              </a:rPr>
              <a:t>] = </a:t>
            </a:r>
            <a:r>
              <a:rPr kumimoji="0" lang="en-US" b="0" i="1" u="none" strike="noStrike" kern="1200" cap="none" spc="0" normalizeH="0" baseline="0" noProof="0" dirty="0">
                <a:ln>
                  <a:noFill/>
                </a:ln>
                <a:effectLst/>
                <a:uLnTx/>
                <a:uFillTx/>
                <a:latin typeface="+mn-lt"/>
                <a:ea typeface="+mn-ea"/>
                <a:cs typeface="+mn-cs"/>
              </a:rPr>
              <a:t>k</a:t>
            </a:r>
            <a:r>
              <a:rPr kumimoji="0" lang="en-US" b="0" i="0" u="none" strike="noStrike" kern="1200" cap="none" spc="0" normalizeH="0" baseline="0" noProof="0" dirty="0">
                <a:ln>
                  <a:noFill/>
                </a:ln>
                <a:effectLst/>
                <a:uLnTx/>
                <a:uFillTx/>
                <a:latin typeface="+mn-lt"/>
                <a:ea typeface="+mn-ea"/>
                <a:cs typeface="+mn-cs"/>
              </a:rPr>
              <a:t>, there are</a:t>
            </a:r>
            <a:r>
              <a:rPr kumimoji="0" lang="en-US" b="0" i="1" u="none" strike="noStrike" kern="1200" cap="none" spc="0" normalizeH="0" baseline="0" noProof="0" dirty="0">
                <a:ln>
                  <a:noFill/>
                </a:ln>
                <a:effectLst/>
                <a:uLnTx/>
                <a:uFillTx/>
                <a:latin typeface="+mn-lt"/>
                <a:ea typeface="+mn-ea"/>
                <a:cs typeface="+mn-cs"/>
              </a:rPr>
              <a:t> k</a:t>
            </a:r>
            <a:r>
              <a:rPr kumimoji="0" lang="en-US" b="0" i="0" u="none" strike="noStrike" kern="1200" cap="none" spc="0" normalizeH="0" baseline="0" noProof="0" dirty="0">
                <a:ln>
                  <a:noFill/>
                </a:ln>
                <a:effectLst/>
                <a:uLnTx/>
                <a:uFillTx/>
                <a:latin typeface="+mn-lt"/>
                <a:ea typeface="+mn-ea"/>
                <a:cs typeface="+mn-cs"/>
              </a:rPr>
              <a:t> instances of resource type </a:t>
            </a:r>
            <a:r>
              <a:rPr kumimoji="0" lang="en-US" b="0" i="1" u="none" strike="noStrike" kern="1200" cap="none" spc="0" normalizeH="0" baseline="0" noProof="0" dirty="0" err="1">
                <a:ln>
                  <a:noFill/>
                </a:ln>
                <a:effectLst/>
                <a:uLnTx/>
                <a:uFillTx/>
                <a:latin typeface="+mn-lt"/>
                <a:ea typeface="+mn-ea"/>
                <a:cs typeface="+mn-cs"/>
              </a:rPr>
              <a:t>R</a:t>
            </a:r>
            <a:r>
              <a:rPr kumimoji="0" lang="en-US" b="0" i="1" u="none" strike="noStrike" kern="1200" cap="none" spc="0" normalizeH="0" baseline="-25000" noProof="0" dirty="0" err="1">
                <a:ln>
                  <a:noFill/>
                </a:ln>
                <a:effectLst/>
                <a:uLnTx/>
                <a:uFillTx/>
                <a:latin typeface="+mn-lt"/>
                <a:ea typeface="+mn-ea"/>
                <a:cs typeface="+mn-cs"/>
              </a:rPr>
              <a:t>j</a:t>
            </a:r>
            <a:r>
              <a:rPr kumimoji="0" lang="en-US" b="0" i="0" u="none" strike="noStrike" kern="1200" cap="none" spc="0" normalizeH="0" baseline="-25000" noProof="0" dirty="0">
                <a:ln>
                  <a:noFill/>
                </a:ln>
                <a:effectLst/>
                <a:uLnTx/>
                <a:uFillTx/>
                <a:latin typeface="+mn-lt"/>
                <a:ea typeface="+mn-ea"/>
                <a:cs typeface="+mn-cs"/>
              </a:rPr>
              <a:t>  </a:t>
            </a:r>
            <a:r>
              <a:rPr kumimoji="0" lang="en-US" b="0" i="0" u="none" strike="noStrike" kern="1200" cap="none" spc="0" normalizeH="0" baseline="0" noProof="0" dirty="0">
                <a:ln>
                  <a:noFill/>
                </a:ln>
                <a:effectLst/>
                <a:uLnTx/>
                <a:uFillTx/>
                <a:latin typeface="+mn-lt"/>
                <a:ea typeface="+mn-ea"/>
                <a:cs typeface="+mn-cs"/>
              </a:rPr>
              <a:t>available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effectLst/>
                <a:uLnTx/>
                <a:uFillTx/>
                <a:latin typeface="+mn-lt"/>
                <a:ea typeface="+mn-ea"/>
                <a:cs typeface="+mn-cs"/>
              </a:rPr>
              <a:t>Max</a:t>
            </a:r>
            <a:r>
              <a:rPr kumimoji="0" lang="en-US" b="0" i="1" u="none" strike="noStrike" kern="1200" cap="none" spc="0" normalizeH="0" baseline="0" noProof="0" dirty="0">
                <a:ln>
                  <a:noFill/>
                </a:ln>
                <a:effectLst/>
                <a:uLnTx/>
                <a:uFillTx/>
                <a:latin typeface="+mn-lt"/>
                <a:ea typeface="+mn-ea"/>
                <a:cs typeface="+mn-cs"/>
              </a:rPr>
              <a:t>: n x m</a:t>
            </a:r>
            <a:r>
              <a:rPr kumimoji="0" lang="en-US" b="0" i="0" u="none" strike="noStrike" kern="1200" cap="none" spc="0" normalizeH="0" baseline="0" noProof="0" dirty="0">
                <a:ln>
                  <a:noFill/>
                </a:ln>
                <a:effectLst/>
                <a:uLnTx/>
                <a:uFillTx/>
                <a:latin typeface="+mn-lt"/>
                <a:ea typeface="+mn-ea"/>
                <a:cs typeface="+mn-cs"/>
              </a:rPr>
              <a:t> matrix.  If </a:t>
            </a:r>
            <a:r>
              <a:rPr kumimoji="0" lang="en-US" b="0" i="1" u="none" strike="noStrike" kern="1200" cap="none" spc="0" normalizeH="0" baseline="0" noProof="0" dirty="0">
                <a:ln>
                  <a:noFill/>
                </a:ln>
                <a:effectLst/>
                <a:uLnTx/>
                <a:uFillTx/>
                <a:latin typeface="+mn-lt"/>
                <a:ea typeface="+mn-ea"/>
                <a:cs typeface="+mn-cs"/>
              </a:rPr>
              <a:t>Max </a:t>
            </a:r>
            <a:r>
              <a:rPr kumimoji="0" lang="en-US" b="0" i="0" u="none" strike="noStrike" kern="1200" cap="none" spc="0" normalizeH="0" baseline="0" noProof="0" dirty="0">
                <a:ln>
                  <a:noFill/>
                </a:ln>
                <a:effectLst/>
                <a:uLnTx/>
                <a:uFillTx/>
                <a:latin typeface="+mn-lt"/>
                <a:ea typeface="+mn-ea"/>
                <a:cs typeface="+mn-cs"/>
              </a:rPr>
              <a:t>[</a:t>
            </a:r>
            <a:r>
              <a:rPr kumimoji="0" lang="en-US" b="0" i="1" u="none" strike="noStrike" kern="1200" cap="none" spc="0" normalizeH="0" baseline="0" noProof="0" dirty="0" err="1">
                <a:ln>
                  <a:noFill/>
                </a:ln>
                <a:effectLst/>
                <a:uLnTx/>
                <a:uFillTx/>
                <a:latin typeface="+mn-lt"/>
                <a:ea typeface="+mn-ea"/>
                <a:cs typeface="+mn-cs"/>
              </a:rPr>
              <a:t>i,j</a:t>
            </a:r>
            <a:r>
              <a:rPr kumimoji="0" lang="en-US" b="0" i="0" u="none" strike="noStrike" kern="1200" cap="none" spc="0" normalizeH="0" baseline="0" noProof="0" dirty="0">
                <a:ln>
                  <a:noFill/>
                </a:ln>
                <a:effectLst/>
                <a:uLnTx/>
                <a:uFillTx/>
                <a:latin typeface="+mn-lt"/>
                <a:ea typeface="+mn-ea"/>
                <a:cs typeface="+mn-cs"/>
              </a:rPr>
              <a:t>] = </a:t>
            </a:r>
            <a:r>
              <a:rPr kumimoji="0" lang="en-US" b="0" i="1" u="none" strike="noStrike" kern="1200" cap="none" spc="0" normalizeH="0" baseline="0" noProof="0" dirty="0">
                <a:ln>
                  <a:noFill/>
                </a:ln>
                <a:effectLst/>
                <a:uLnTx/>
                <a:uFillTx/>
                <a:latin typeface="+mn-lt"/>
                <a:ea typeface="+mn-ea"/>
                <a:cs typeface="+mn-cs"/>
              </a:rPr>
              <a:t>k</a:t>
            </a:r>
            <a:r>
              <a:rPr kumimoji="0" lang="en-US" b="0" i="0" u="none" strike="noStrike" kern="1200" cap="none" spc="0" normalizeH="0" baseline="0" noProof="0" dirty="0">
                <a:ln>
                  <a:noFill/>
                </a:ln>
                <a:effectLst/>
                <a:uLnTx/>
                <a:uFillTx/>
                <a:latin typeface="+mn-lt"/>
                <a:ea typeface="+mn-ea"/>
                <a:cs typeface="+mn-cs"/>
              </a:rPr>
              <a:t>, then process </a:t>
            </a:r>
            <a:r>
              <a:rPr kumimoji="0" lang="en-US" b="0" i="1" u="none" strike="noStrike" kern="1200" cap="none" spc="0" normalizeH="0" baseline="0" noProof="0" dirty="0">
                <a:ln>
                  <a:noFill/>
                </a:ln>
                <a:effectLst/>
                <a:uLnTx/>
                <a:uFillTx/>
                <a:latin typeface="+mn-lt"/>
                <a:ea typeface="+mn-ea"/>
                <a:cs typeface="+mn-cs"/>
              </a:rPr>
              <a:t>P</a:t>
            </a:r>
            <a:r>
              <a:rPr kumimoji="0" lang="en-US" b="0" i="1" u="none" strike="noStrike" kern="1200" cap="none" spc="0" normalizeH="0" baseline="-25000" noProof="0" dirty="0">
                <a:ln>
                  <a:noFill/>
                </a:ln>
                <a:effectLst/>
                <a:uLnTx/>
                <a:uFillTx/>
                <a:latin typeface="+mn-lt"/>
                <a:ea typeface="+mn-ea"/>
                <a:cs typeface="+mn-cs"/>
              </a:rPr>
              <a:t>i</a:t>
            </a:r>
            <a:r>
              <a:rPr kumimoji="0" lang="en-US" b="0" i="1" u="none" strike="noStrike" kern="1200" cap="none" spc="0" normalizeH="0" baseline="0" noProof="0" dirty="0">
                <a:ln>
                  <a:noFill/>
                </a:ln>
                <a:effectLst/>
                <a:uLnTx/>
                <a:uFillTx/>
                <a:latin typeface="+mn-lt"/>
                <a:ea typeface="+mn-ea"/>
                <a:cs typeface="+mn-cs"/>
              </a:rPr>
              <a:t> </a:t>
            </a:r>
            <a:r>
              <a:rPr kumimoji="0" lang="en-US" b="0" i="0" u="none" strike="noStrike" kern="1200" cap="none" spc="0" normalizeH="0" baseline="0" noProof="0" dirty="0">
                <a:ln>
                  <a:noFill/>
                </a:ln>
                <a:effectLst/>
                <a:uLnTx/>
                <a:uFillTx/>
                <a:latin typeface="+mn-lt"/>
                <a:ea typeface="+mn-ea"/>
                <a:cs typeface="+mn-cs"/>
              </a:rPr>
              <a:t>may request at most</a:t>
            </a:r>
            <a:r>
              <a:rPr kumimoji="0" lang="en-US" b="0" i="1" u="none" strike="noStrike" kern="1200" cap="none" spc="0" normalizeH="0" baseline="0" noProof="0" dirty="0">
                <a:ln>
                  <a:noFill/>
                </a:ln>
                <a:effectLst/>
                <a:uLnTx/>
                <a:uFillTx/>
                <a:latin typeface="+mn-lt"/>
                <a:ea typeface="+mn-ea"/>
                <a:cs typeface="+mn-cs"/>
              </a:rPr>
              <a:t> k </a:t>
            </a:r>
            <a:r>
              <a:rPr kumimoji="0" lang="en-US" b="0" i="0" u="none" strike="noStrike" kern="1200" cap="none" spc="0" normalizeH="0" baseline="0" noProof="0" dirty="0">
                <a:ln>
                  <a:noFill/>
                </a:ln>
                <a:effectLst/>
                <a:uLnTx/>
                <a:uFillTx/>
                <a:latin typeface="+mn-lt"/>
                <a:ea typeface="+mn-ea"/>
                <a:cs typeface="+mn-cs"/>
              </a:rPr>
              <a:t>instances of resource type </a:t>
            </a:r>
            <a:r>
              <a:rPr kumimoji="0" lang="en-US" b="0" i="1" u="none" strike="noStrike" kern="1200" cap="none" spc="0" normalizeH="0" baseline="0" noProof="0" dirty="0" err="1">
                <a:ln>
                  <a:noFill/>
                </a:ln>
                <a:effectLst/>
                <a:uLnTx/>
                <a:uFillTx/>
                <a:latin typeface="+mn-lt"/>
                <a:ea typeface="+mn-ea"/>
                <a:cs typeface="+mn-cs"/>
              </a:rPr>
              <a:t>R</a:t>
            </a:r>
            <a:r>
              <a:rPr kumimoji="0" lang="en-US" b="0" i="1" u="none" strike="noStrike" kern="1200" cap="none" spc="0" normalizeH="0" baseline="-25000" noProof="0" dirty="0" err="1">
                <a:ln>
                  <a:noFill/>
                </a:ln>
                <a:effectLst/>
                <a:uLnTx/>
                <a:uFillTx/>
                <a:latin typeface="+mn-lt"/>
                <a:ea typeface="+mn-ea"/>
                <a:cs typeface="+mn-cs"/>
              </a:rPr>
              <a:t>j</a:t>
            </a:r>
            <a:endParaRPr kumimoji="0" lang="en-US" b="0" i="1" u="none" strike="noStrike" kern="1200" cap="none" spc="0" normalizeH="0" baseline="-25000" noProof="0" dirty="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1" u="none" strike="noStrike" kern="1200" cap="none" spc="0" normalizeH="0" baseline="-25000" noProof="0" dirty="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effectLst/>
                <a:uLnTx/>
                <a:uFillTx/>
                <a:latin typeface="+mn-lt"/>
                <a:ea typeface="+mn-ea"/>
                <a:cs typeface="+mn-cs"/>
              </a:rPr>
              <a:t>Allocation</a:t>
            </a:r>
            <a:r>
              <a:rPr kumimoji="0" lang="en-US" b="0" i="1" u="none" strike="noStrike" kern="1200" cap="none" spc="0" normalizeH="0" baseline="0" noProof="0" dirty="0">
                <a:ln>
                  <a:noFill/>
                </a:ln>
                <a:effectLst/>
                <a:uLnTx/>
                <a:uFillTx/>
                <a:latin typeface="+mn-lt"/>
                <a:ea typeface="+mn-ea"/>
                <a:cs typeface="+mn-cs"/>
              </a:rPr>
              <a:t>:  n </a:t>
            </a:r>
            <a:r>
              <a:rPr kumimoji="0" lang="en-US" b="0" i="0" u="none" strike="noStrike" kern="1200" cap="none" spc="0" normalizeH="0" baseline="0" noProof="0" dirty="0">
                <a:ln>
                  <a:noFill/>
                </a:ln>
                <a:effectLst/>
                <a:uLnTx/>
                <a:uFillTx/>
                <a:latin typeface="+mn-lt"/>
                <a:ea typeface="+mn-ea"/>
                <a:cs typeface="+mn-cs"/>
              </a:rPr>
              <a:t>x</a:t>
            </a:r>
            <a:r>
              <a:rPr kumimoji="0" lang="en-US" b="0" i="1" u="none" strike="noStrike" kern="1200" cap="none" spc="0" normalizeH="0" baseline="0" noProof="0" dirty="0">
                <a:ln>
                  <a:noFill/>
                </a:ln>
                <a:effectLst/>
                <a:uLnTx/>
                <a:uFillTx/>
                <a:latin typeface="+mn-lt"/>
                <a:ea typeface="+mn-ea"/>
                <a:cs typeface="+mn-cs"/>
              </a:rPr>
              <a:t> m</a:t>
            </a:r>
            <a:r>
              <a:rPr kumimoji="0" lang="en-US" b="0" i="0" u="none" strike="noStrike" kern="1200" cap="none" spc="0" normalizeH="0" baseline="0" noProof="0" dirty="0">
                <a:ln>
                  <a:noFill/>
                </a:ln>
                <a:effectLst/>
                <a:uLnTx/>
                <a:uFillTx/>
                <a:latin typeface="+mn-lt"/>
                <a:ea typeface="+mn-ea"/>
                <a:cs typeface="+mn-cs"/>
              </a:rPr>
              <a:t> matrix.  If Allocation[</a:t>
            </a:r>
            <a:r>
              <a:rPr kumimoji="0" lang="en-US" b="0" i="1" u="none" strike="noStrike" kern="1200" cap="none" spc="0" normalizeH="0" baseline="0" noProof="0" dirty="0" err="1">
                <a:ln>
                  <a:noFill/>
                </a:ln>
                <a:effectLst/>
                <a:uLnTx/>
                <a:uFillTx/>
                <a:latin typeface="+mn-lt"/>
                <a:ea typeface="+mn-ea"/>
                <a:cs typeface="+mn-cs"/>
              </a:rPr>
              <a:t>i,j</a:t>
            </a:r>
            <a:r>
              <a:rPr kumimoji="0" lang="en-US" b="0" i="0" u="none" strike="noStrike" kern="1200" cap="none" spc="0" normalizeH="0" baseline="0" noProof="0" dirty="0">
                <a:ln>
                  <a:noFill/>
                </a:ln>
                <a:effectLst/>
                <a:uLnTx/>
                <a:uFillTx/>
                <a:latin typeface="+mn-lt"/>
                <a:ea typeface="+mn-ea"/>
                <a:cs typeface="+mn-cs"/>
              </a:rPr>
              <a:t>] = </a:t>
            </a:r>
            <a:r>
              <a:rPr kumimoji="0" lang="en-US" b="0" i="1" u="none" strike="noStrike" kern="1200" cap="none" spc="0" normalizeH="0" baseline="0" noProof="0" dirty="0">
                <a:ln>
                  <a:noFill/>
                </a:ln>
                <a:effectLst/>
                <a:uLnTx/>
                <a:uFillTx/>
                <a:latin typeface="+mn-lt"/>
                <a:ea typeface="+mn-ea"/>
                <a:cs typeface="+mn-cs"/>
              </a:rPr>
              <a:t>k</a:t>
            </a:r>
            <a:r>
              <a:rPr kumimoji="0" lang="en-US" b="0" i="0" u="none" strike="noStrike" kern="1200" cap="none" spc="0" normalizeH="0" baseline="0" noProof="0" dirty="0">
                <a:ln>
                  <a:noFill/>
                </a:ln>
                <a:effectLst/>
                <a:uLnTx/>
                <a:uFillTx/>
                <a:latin typeface="+mn-lt"/>
                <a:ea typeface="+mn-ea"/>
                <a:cs typeface="+mn-cs"/>
              </a:rPr>
              <a:t> then</a:t>
            </a:r>
            <a:r>
              <a:rPr kumimoji="0" lang="en-US" b="0" i="1" u="none" strike="noStrike" kern="1200" cap="none" spc="0" normalizeH="0" baseline="0" noProof="0" dirty="0">
                <a:ln>
                  <a:noFill/>
                </a:ln>
                <a:effectLst/>
                <a:uLnTx/>
                <a:uFillTx/>
                <a:latin typeface="+mn-lt"/>
                <a:ea typeface="+mn-ea"/>
                <a:cs typeface="+mn-cs"/>
              </a:rPr>
              <a:t> P</a:t>
            </a:r>
            <a:r>
              <a:rPr kumimoji="0" lang="en-US" b="0" i="1" u="none" strike="noStrike" kern="1200" cap="none" spc="0" normalizeH="0" baseline="-25000" noProof="0" dirty="0">
                <a:ln>
                  <a:noFill/>
                </a:ln>
                <a:effectLst/>
                <a:uLnTx/>
                <a:uFillTx/>
                <a:latin typeface="+mn-lt"/>
                <a:ea typeface="+mn-ea"/>
                <a:cs typeface="+mn-cs"/>
              </a:rPr>
              <a:t>i</a:t>
            </a:r>
            <a:r>
              <a:rPr kumimoji="0" lang="en-US" b="0" i="0" u="none" strike="noStrike" kern="1200" cap="none" spc="0" normalizeH="0" baseline="0" noProof="0" dirty="0">
                <a:ln>
                  <a:noFill/>
                </a:ln>
                <a:effectLst/>
                <a:uLnTx/>
                <a:uFillTx/>
                <a:latin typeface="+mn-lt"/>
                <a:ea typeface="+mn-ea"/>
                <a:cs typeface="+mn-cs"/>
              </a:rPr>
              <a:t> is currently allocated </a:t>
            </a:r>
            <a:r>
              <a:rPr kumimoji="0" lang="en-US" b="0" i="1" u="none" strike="noStrike" kern="1200" cap="none" spc="0" normalizeH="0" baseline="0" noProof="0" dirty="0">
                <a:ln>
                  <a:noFill/>
                </a:ln>
                <a:effectLst/>
                <a:uLnTx/>
                <a:uFillTx/>
                <a:latin typeface="+mn-lt"/>
                <a:ea typeface="+mn-ea"/>
                <a:cs typeface="+mn-cs"/>
              </a:rPr>
              <a:t>k</a:t>
            </a:r>
            <a:r>
              <a:rPr kumimoji="0" lang="en-US" b="0" i="0" u="none" strike="noStrike" kern="1200" cap="none" spc="0" normalizeH="0" baseline="0" noProof="0" dirty="0">
                <a:ln>
                  <a:noFill/>
                </a:ln>
                <a:effectLst/>
                <a:uLnTx/>
                <a:uFillTx/>
                <a:latin typeface="+mn-lt"/>
                <a:ea typeface="+mn-ea"/>
                <a:cs typeface="+mn-cs"/>
              </a:rPr>
              <a:t> instances of </a:t>
            </a:r>
            <a:r>
              <a:rPr kumimoji="0" lang="en-US" b="0" i="1" u="none" strike="noStrike" kern="1200" cap="none" spc="0" normalizeH="0" baseline="0" noProof="0" dirty="0" err="1">
                <a:ln>
                  <a:noFill/>
                </a:ln>
                <a:effectLst/>
                <a:uLnTx/>
                <a:uFillTx/>
                <a:latin typeface="+mn-lt"/>
                <a:ea typeface="+mn-ea"/>
                <a:cs typeface="+mn-cs"/>
              </a:rPr>
              <a:t>R</a:t>
            </a:r>
            <a:r>
              <a:rPr kumimoji="0" lang="en-US" b="0" i="1" u="none" strike="noStrike" kern="1200" cap="none" spc="0" normalizeH="0" baseline="-25000" noProof="0" dirty="0" err="1">
                <a:ln>
                  <a:noFill/>
                </a:ln>
                <a:effectLst/>
                <a:uLnTx/>
                <a:uFillTx/>
                <a:latin typeface="+mn-lt"/>
                <a:ea typeface="+mn-ea"/>
                <a:cs typeface="+mn-cs"/>
              </a:rPr>
              <a:t>j</a:t>
            </a:r>
            <a:endParaRPr kumimoji="0" lang="en-US" b="0" i="1" u="none" strike="noStrike" kern="1200" cap="none" spc="0" normalizeH="0" baseline="-25000" noProof="0" dirty="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1" u="none" strike="noStrike" kern="1200" cap="none" spc="0" normalizeH="0" baseline="-25000" noProof="0" dirty="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effectLst/>
                <a:uLnTx/>
                <a:uFillTx/>
                <a:latin typeface="+mn-lt"/>
                <a:ea typeface="+mn-ea"/>
                <a:cs typeface="+mn-cs"/>
              </a:rPr>
              <a:t>Need</a:t>
            </a:r>
            <a:r>
              <a:rPr kumimoji="0" lang="en-US" b="0" i="1" u="none" strike="noStrike" kern="1200" cap="none" spc="0" normalizeH="0" baseline="0" noProof="0" dirty="0">
                <a:ln>
                  <a:noFill/>
                </a:ln>
                <a:effectLst/>
                <a:uLnTx/>
                <a:uFillTx/>
                <a:latin typeface="+mn-lt"/>
                <a:ea typeface="+mn-ea"/>
                <a:cs typeface="+mn-cs"/>
              </a:rPr>
              <a:t>:  n </a:t>
            </a:r>
            <a:r>
              <a:rPr kumimoji="0" lang="en-US" b="0" i="0" u="none" strike="noStrike" kern="1200" cap="none" spc="0" normalizeH="0" baseline="0" noProof="0" dirty="0">
                <a:ln>
                  <a:noFill/>
                </a:ln>
                <a:effectLst/>
                <a:uLnTx/>
                <a:uFillTx/>
                <a:latin typeface="+mn-lt"/>
                <a:ea typeface="+mn-ea"/>
                <a:cs typeface="+mn-cs"/>
              </a:rPr>
              <a:t>x</a:t>
            </a:r>
            <a:r>
              <a:rPr kumimoji="0" lang="en-US" b="0" i="1" u="none" strike="noStrike" kern="1200" cap="none" spc="0" normalizeH="0" baseline="0" noProof="0" dirty="0">
                <a:ln>
                  <a:noFill/>
                </a:ln>
                <a:effectLst/>
                <a:uLnTx/>
                <a:uFillTx/>
                <a:latin typeface="+mn-lt"/>
                <a:ea typeface="+mn-ea"/>
                <a:cs typeface="+mn-cs"/>
              </a:rPr>
              <a:t> m</a:t>
            </a:r>
            <a:r>
              <a:rPr kumimoji="0" lang="en-US" b="0" i="0" u="none" strike="noStrike" kern="1200" cap="none" spc="0" normalizeH="0" baseline="0" noProof="0" dirty="0">
                <a:ln>
                  <a:noFill/>
                </a:ln>
                <a:effectLst/>
                <a:uLnTx/>
                <a:uFillTx/>
                <a:latin typeface="+mn-lt"/>
                <a:ea typeface="+mn-ea"/>
                <a:cs typeface="+mn-cs"/>
              </a:rPr>
              <a:t> matrix. If </a:t>
            </a:r>
            <a:r>
              <a:rPr kumimoji="0" lang="en-US" b="0" i="1" u="none" strike="noStrike" kern="1200" cap="none" spc="0" normalizeH="0" baseline="0" noProof="0" dirty="0">
                <a:ln>
                  <a:noFill/>
                </a:ln>
                <a:effectLst/>
                <a:uLnTx/>
                <a:uFillTx/>
                <a:latin typeface="+mn-lt"/>
                <a:ea typeface="+mn-ea"/>
                <a:cs typeface="+mn-cs"/>
              </a:rPr>
              <a:t>Need</a:t>
            </a:r>
            <a:r>
              <a:rPr kumimoji="0" lang="en-US" b="0" i="0" u="none" strike="noStrike" kern="1200" cap="none" spc="0" normalizeH="0" baseline="0" noProof="0" dirty="0">
                <a:ln>
                  <a:noFill/>
                </a:ln>
                <a:effectLst/>
                <a:uLnTx/>
                <a:uFillTx/>
                <a:latin typeface="+mn-lt"/>
                <a:ea typeface="+mn-ea"/>
                <a:cs typeface="+mn-cs"/>
              </a:rPr>
              <a:t>[</a:t>
            </a:r>
            <a:r>
              <a:rPr kumimoji="0" lang="en-US" b="0" i="1" u="none" strike="noStrike" kern="1200" cap="none" spc="0" normalizeH="0" baseline="0" noProof="0" dirty="0" err="1">
                <a:ln>
                  <a:noFill/>
                </a:ln>
                <a:effectLst/>
                <a:uLnTx/>
                <a:uFillTx/>
                <a:latin typeface="+mn-lt"/>
                <a:ea typeface="+mn-ea"/>
                <a:cs typeface="+mn-cs"/>
              </a:rPr>
              <a:t>i,j</a:t>
            </a:r>
            <a:r>
              <a:rPr kumimoji="0" lang="en-US" b="0" i="0" u="none" strike="noStrike" kern="1200" cap="none" spc="0" normalizeH="0" baseline="0" noProof="0" dirty="0">
                <a:ln>
                  <a:noFill/>
                </a:ln>
                <a:effectLst/>
                <a:uLnTx/>
                <a:uFillTx/>
                <a:latin typeface="+mn-lt"/>
                <a:ea typeface="+mn-ea"/>
                <a:cs typeface="+mn-cs"/>
              </a:rPr>
              <a:t>] =</a:t>
            </a:r>
            <a:r>
              <a:rPr kumimoji="0" lang="en-US" b="0" i="1" u="none" strike="noStrike" kern="1200" cap="none" spc="0" normalizeH="0" baseline="0" noProof="0" dirty="0">
                <a:ln>
                  <a:noFill/>
                </a:ln>
                <a:effectLst/>
                <a:uLnTx/>
                <a:uFillTx/>
                <a:latin typeface="+mn-lt"/>
                <a:ea typeface="+mn-ea"/>
                <a:cs typeface="+mn-cs"/>
              </a:rPr>
              <a:t> k</a:t>
            </a:r>
            <a:r>
              <a:rPr kumimoji="0" lang="en-US" b="0" i="0" u="none" strike="noStrike" kern="1200" cap="none" spc="0" normalizeH="0" baseline="0" noProof="0" dirty="0">
                <a:ln>
                  <a:noFill/>
                </a:ln>
                <a:effectLst/>
                <a:uLnTx/>
                <a:uFillTx/>
                <a:latin typeface="+mn-lt"/>
                <a:ea typeface="+mn-ea"/>
                <a:cs typeface="+mn-cs"/>
              </a:rPr>
              <a:t>, then</a:t>
            </a:r>
            <a:r>
              <a:rPr kumimoji="0" lang="en-US" b="0" i="1" u="none" strike="noStrike" kern="1200" cap="none" spc="0" normalizeH="0" baseline="0" noProof="0" dirty="0">
                <a:ln>
                  <a:noFill/>
                </a:ln>
                <a:effectLst/>
                <a:uLnTx/>
                <a:uFillTx/>
                <a:latin typeface="+mn-lt"/>
                <a:ea typeface="+mn-ea"/>
                <a:cs typeface="+mn-cs"/>
              </a:rPr>
              <a:t> P</a:t>
            </a:r>
            <a:r>
              <a:rPr kumimoji="0" lang="en-US" b="0" i="1" u="none" strike="noStrike" kern="1200" cap="none" spc="0" normalizeH="0" baseline="-25000" noProof="0" dirty="0">
                <a:ln>
                  <a:noFill/>
                </a:ln>
                <a:effectLst/>
                <a:uLnTx/>
                <a:uFillTx/>
                <a:latin typeface="+mn-lt"/>
                <a:ea typeface="+mn-ea"/>
                <a:cs typeface="+mn-cs"/>
              </a:rPr>
              <a:t>i</a:t>
            </a:r>
            <a:r>
              <a:rPr kumimoji="0" lang="en-US" b="0" i="0" u="none" strike="noStrike" kern="1200" cap="none" spc="0" normalizeH="0" baseline="0" noProof="0" dirty="0">
                <a:ln>
                  <a:noFill/>
                </a:ln>
                <a:effectLst/>
                <a:uLnTx/>
                <a:uFillTx/>
                <a:latin typeface="+mn-lt"/>
                <a:ea typeface="+mn-ea"/>
                <a:cs typeface="+mn-cs"/>
              </a:rPr>
              <a:t> may need </a:t>
            </a:r>
            <a:r>
              <a:rPr kumimoji="0" lang="en-US" b="0" i="1" u="none" strike="noStrike" kern="1200" cap="none" spc="0" normalizeH="0" baseline="0" noProof="0" dirty="0">
                <a:ln>
                  <a:noFill/>
                </a:ln>
                <a:effectLst/>
                <a:uLnTx/>
                <a:uFillTx/>
                <a:latin typeface="+mn-lt"/>
                <a:ea typeface="+mn-ea"/>
                <a:cs typeface="+mn-cs"/>
              </a:rPr>
              <a:t>k</a:t>
            </a:r>
            <a:r>
              <a:rPr kumimoji="0" lang="en-US" b="0" i="0" u="none" strike="noStrike" kern="1200" cap="none" spc="0" normalizeH="0" baseline="0" noProof="0" dirty="0">
                <a:ln>
                  <a:noFill/>
                </a:ln>
                <a:effectLst/>
                <a:uLnTx/>
                <a:uFillTx/>
                <a:latin typeface="+mn-lt"/>
                <a:ea typeface="+mn-ea"/>
                <a:cs typeface="+mn-cs"/>
              </a:rPr>
              <a:t> more instances of </a:t>
            </a:r>
            <a:r>
              <a:rPr kumimoji="0" lang="en-US" b="0" i="1" u="none" strike="noStrike" kern="1200" cap="none" spc="0" normalizeH="0" baseline="0" noProof="0" dirty="0" err="1">
                <a:ln>
                  <a:noFill/>
                </a:ln>
                <a:effectLst/>
                <a:uLnTx/>
                <a:uFillTx/>
                <a:latin typeface="+mn-lt"/>
                <a:ea typeface="+mn-ea"/>
                <a:cs typeface="+mn-cs"/>
              </a:rPr>
              <a:t>R</a:t>
            </a:r>
            <a:r>
              <a:rPr kumimoji="0" lang="en-US" b="0" i="1" u="none" strike="noStrike" kern="1200" cap="none" spc="0" normalizeH="0" baseline="-25000" noProof="0" dirty="0" err="1">
                <a:ln>
                  <a:noFill/>
                </a:ln>
                <a:effectLst/>
                <a:uLnTx/>
                <a:uFillTx/>
                <a:latin typeface="+mn-lt"/>
                <a:ea typeface="+mn-ea"/>
                <a:cs typeface="+mn-cs"/>
              </a:rPr>
              <a:t>j</a:t>
            </a:r>
            <a:r>
              <a:rPr kumimoji="0" lang="en-US" b="0" i="0" u="none" strike="noStrike" kern="1200" cap="none" spc="0" normalizeH="0" baseline="-25000" noProof="0" dirty="0">
                <a:ln>
                  <a:noFill/>
                </a:ln>
                <a:effectLst/>
                <a:uLnTx/>
                <a:uFillTx/>
                <a:latin typeface="+mn-lt"/>
                <a:ea typeface="+mn-ea"/>
                <a:cs typeface="+mn-cs"/>
              </a:rPr>
              <a:t> </a:t>
            </a:r>
            <a:r>
              <a:rPr kumimoji="0" lang="en-US" b="0" i="0" u="none" strike="noStrike" kern="1200" cap="none" spc="0" normalizeH="0" baseline="0" noProof="0" dirty="0">
                <a:ln>
                  <a:noFill/>
                </a:ln>
                <a:effectLst/>
                <a:uLnTx/>
                <a:uFillTx/>
                <a:latin typeface="+mn-lt"/>
                <a:ea typeface="+mn-ea"/>
                <a:cs typeface="+mn-cs"/>
              </a:rPr>
              <a:t>to complete its task</a:t>
            </a:r>
            <a:br>
              <a:rPr kumimoji="0" lang="en-US" b="0" i="0" u="none" strike="noStrike" kern="1200" cap="none" spc="0" normalizeH="0" baseline="0" noProof="0" dirty="0">
                <a:ln>
                  <a:noFill/>
                </a:ln>
                <a:effectLst/>
                <a:uLnTx/>
                <a:uFillTx/>
                <a:latin typeface="+mn-lt"/>
                <a:ea typeface="+mn-ea"/>
                <a:cs typeface="+mn-cs"/>
              </a:rPr>
            </a:br>
            <a:r>
              <a:rPr kumimoji="0" lang="en-US" b="0" i="0" u="none" strike="noStrike" kern="1200" cap="none" spc="0" normalizeH="0" baseline="0" noProof="0" dirty="0">
                <a:ln>
                  <a:noFill/>
                </a:ln>
                <a:effectLst/>
                <a:uLnTx/>
                <a:uFillTx/>
                <a:latin typeface="+mn-lt"/>
                <a:ea typeface="+mn-ea"/>
                <a:cs typeface="+mn-cs"/>
              </a:rPr>
              <a:t>		</a:t>
            </a:r>
            <a:r>
              <a:rPr kumimoji="0" lang="en-US" b="0" i="1" u="none" strike="noStrike" kern="1200" cap="none" spc="0" normalizeH="0" baseline="0" noProof="0" dirty="0">
                <a:ln>
                  <a:noFill/>
                </a:ln>
                <a:effectLst/>
                <a:uLnTx/>
                <a:uFillTx/>
                <a:latin typeface="+mn-lt"/>
                <a:ea typeface="+mn-ea"/>
                <a:cs typeface="+mn-cs"/>
              </a:rPr>
              <a:t>Need</a:t>
            </a:r>
            <a:r>
              <a:rPr kumimoji="0" lang="en-US" b="0" i="0" u="none" strike="noStrike" kern="1200" cap="none" spc="0" normalizeH="0" baseline="0" noProof="0" dirty="0">
                <a:ln>
                  <a:noFill/>
                </a:ln>
                <a:effectLst/>
                <a:uLnTx/>
                <a:uFillTx/>
                <a:latin typeface="+mn-lt"/>
                <a:ea typeface="+mn-ea"/>
                <a:cs typeface="+mn-cs"/>
              </a:rPr>
              <a:t> [</a:t>
            </a:r>
            <a:r>
              <a:rPr kumimoji="0" lang="en-US" b="0" i="1" u="none" strike="noStrike" kern="1200" cap="none" spc="0" normalizeH="0" baseline="0" noProof="0" dirty="0" err="1">
                <a:ln>
                  <a:noFill/>
                </a:ln>
                <a:effectLst/>
                <a:uLnTx/>
                <a:uFillTx/>
                <a:latin typeface="+mn-lt"/>
                <a:ea typeface="+mn-ea"/>
                <a:cs typeface="+mn-cs"/>
              </a:rPr>
              <a:t>i,j</a:t>
            </a:r>
            <a:r>
              <a:rPr kumimoji="0" lang="en-US" b="0" i="1" u="none" strike="noStrike" kern="1200" cap="none" spc="0" normalizeH="0" baseline="0" noProof="0" dirty="0">
                <a:ln>
                  <a:noFill/>
                </a:ln>
                <a:effectLst/>
                <a:uLnTx/>
                <a:uFillTx/>
                <a:latin typeface="+mn-lt"/>
                <a:ea typeface="+mn-ea"/>
                <a:cs typeface="+mn-cs"/>
              </a:rPr>
              <a:t>]</a:t>
            </a:r>
            <a:r>
              <a:rPr kumimoji="0" lang="en-US" b="0" i="0" u="none" strike="noStrike" kern="1200" cap="none" spc="0" normalizeH="0" baseline="0" noProof="0" dirty="0">
                <a:ln>
                  <a:noFill/>
                </a:ln>
                <a:effectLst/>
                <a:uLnTx/>
                <a:uFillTx/>
                <a:latin typeface="+mn-lt"/>
                <a:ea typeface="+mn-ea"/>
                <a:cs typeface="+mn-cs"/>
              </a:rPr>
              <a:t> = </a:t>
            </a:r>
            <a:r>
              <a:rPr kumimoji="0" lang="en-US" b="0" i="1" u="none" strike="noStrike" kern="1200" cap="none" spc="0" normalizeH="0" baseline="0" noProof="0" dirty="0">
                <a:ln>
                  <a:noFill/>
                </a:ln>
                <a:effectLst/>
                <a:uLnTx/>
                <a:uFillTx/>
                <a:latin typeface="+mn-lt"/>
                <a:ea typeface="+mn-ea"/>
                <a:cs typeface="+mn-cs"/>
              </a:rPr>
              <a:t>Max</a:t>
            </a:r>
            <a:r>
              <a:rPr kumimoji="0" lang="en-US" b="0" i="0" u="none" strike="noStrike" kern="1200" cap="none" spc="0" normalizeH="0" baseline="0" noProof="0" dirty="0">
                <a:ln>
                  <a:noFill/>
                </a:ln>
                <a:effectLst/>
                <a:uLnTx/>
                <a:uFillTx/>
                <a:latin typeface="+mn-lt"/>
                <a:ea typeface="+mn-ea"/>
                <a:cs typeface="+mn-cs"/>
              </a:rPr>
              <a:t>[</a:t>
            </a:r>
            <a:r>
              <a:rPr kumimoji="0" lang="en-US" b="0" i="1" u="none" strike="noStrike" kern="1200" cap="none" spc="0" normalizeH="0" baseline="0" noProof="0" dirty="0" err="1">
                <a:ln>
                  <a:noFill/>
                </a:ln>
                <a:effectLst/>
                <a:uLnTx/>
                <a:uFillTx/>
                <a:latin typeface="+mn-lt"/>
                <a:ea typeface="+mn-ea"/>
                <a:cs typeface="+mn-cs"/>
              </a:rPr>
              <a:t>i,j</a:t>
            </a:r>
            <a:r>
              <a:rPr kumimoji="0" lang="en-US" b="0" i="0" u="none" strike="noStrike" kern="1200" cap="none" spc="0" normalizeH="0" baseline="0" noProof="0" dirty="0">
                <a:ln>
                  <a:noFill/>
                </a:ln>
                <a:effectLst/>
                <a:uLnTx/>
                <a:uFillTx/>
                <a:latin typeface="+mn-lt"/>
                <a:ea typeface="+mn-ea"/>
                <a:cs typeface="+mn-cs"/>
              </a:rPr>
              <a:t>] – </a:t>
            </a:r>
            <a:r>
              <a:rPr kumimoji="0" lang="en-US" b="0" i="1" u="none" strike="noStrike" kern="1200" cap="none" spc="0" normalizeH="0" baseline="0" noProof="0" dirty="0">
                <a:ln>
                  <a:noFill/>
                </a:ln>
                <a:effectLst/>
                <a:uLnTx/>
                <a:uFillTx/>
                <a:latin typeface="+mn-lt"/>
                <a:ea typeface="+mn-ea"/>
                <a:cs typeface="+mn-cs"/>
              </a:rPr>
              <a:t>Allocation</a:t>
            </a:r>
            <a:r>
              <a:rPr kumimoji="0" lang="en-US" b="0" i="0" u="none" strike="noStrike" kern="1200" cap="none" spc="0" normalizeH="0" baseline="0" noProof="0" dirty="0">
                <a:ln>
                  <a:noFill/>
                </a:ln>
                <a:effectLst/>
                <a:uLnTx/>
                <a:uFillTx/>
                <a:latin typeface="+mn-lt"/>
                <a:ea typeface="+mn-ea"/>
                <a:cs typeface="+mn-cs"/>
              </a:rPr>
              <a:t> [</a:t>
            </a:r>
            <a:r>
              <a:rPr kumimoji="0" lang="en-US" b="0" i="1" u="none" strike="noStrike" kern="1200" cap="none" spc="0" normalizeH="0" baseline="0" noProof="0" dirty="0" err="1">
                <a:ln>
                  <a:noFill/>
                </a:ln>
                <a:effectLst/>
                <a:uLnTx/>
                <a:uFillTx/>
                <a:latin typeface="+mn-lt"/>
                <a:ea typeface="+mn-ea"/>
                <a:cs typeface="+mn-cs"/>
              </a:rPr>
              <a:t>i,j</a:t>
            </a:r>
            <a:r>
              <a:rPr kumimoji="0" lang="en-US" b="0" i="0" u="none" strike="noStrike" kern="1200" cap="none" spc="0" normalizeH="0" baseline="0" noProof="0" dirty="0">
                <a:ln>
                  <a:noFill/>
                </a:ln>
                <a:effectLst/>
                <a:uLnTx/>
                <a:uFillTx/>
                <a:latin typeface="+mn-lt"/>
                <a:ea typeface="+mn-ea"/>
                <a:cs typeface="+mn-cs"/>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Safety algorithm</a:t>
            </a:r>
          </a:p>
        </p:txBody>
      </p:sp>
      <p:sp>
        <p:nvSpPr>
          <p:cNvPr id="4" name="Rectangle 3"/>
          <p:cNvSpPr>
            <a:spLocks noGrp="1" noChangeArrowheads="1"/>
          </p:cNvSpPr>
          <p:nvPr>
            <p:ph idx="1"/>
          </p:nvPr>
        </p:nvSpPr>
        <p:spPr/>
        <p:txBody>
          <a:bodyPr>
            <a:normAutofit/>
          </a:bodyPr>
          <a:lstStyle/>
          <a:p>
            <a:pPr>
              <a:lnSpc>
                <a:spcPct val="90000"/>
              </a:lnSpc>
              <a:buFont typeface="Monotype Sorts" charset="2"/>
              <a:buNone/>
            </a:pPr>
            <a:r>
              <a:rPr lang="en-US" sz="1800" dirty="0"/>
              <a:t>1.	Let </a:t>
            </a:r>
            <a:r>
              <a:rPr lang="en-US" sz="1800" i="1" dirty="0">
                <a:solidFill>
                  <a:srgbClr val="FF0000"/>
                </a:solidFill>
              </a:rPr>
              <a:t>Work</a:t>
            </a:r>
            <a:r>
              <a:rPr lang="en-US" sz="1800" i="1" dirty="0">
                <a:solidFill>
                  <a:srgbClr val="000000"/>
                </a:solidFill>
              </a:rPr>
              <a:t> </a:t>
            </a:r>
            <a:r>
              <a:rPr lang="en-US" sz="1800" dirty="0"/>
              <a:t>and </a:t>
            </a:r>
            <a:r>
              <a:rPr lang="en-US" sz="1800" i="1" dirty="0">
                <a:solidFill>
                  <a:srgbClr val="FF0000"/>
                </a:solidFill>
              </a:rPr>
              <a:t>Finish</a:t>
            </a:r>
            <a:r>
              <a:rPr lang="en-US" sz="1800" dirty="0">
                <a:solidFill>
                  <a:srgbClr val="000000"/>
                </a:solidFill>
              </a:rPr>
              <a:t> </a:t>
            </a:r>
            <a:r>
              <a:rPr lang="en-US" sz="1800" dirty="0"/>
              <a:t>be vectors of length</a:t>
            </a:r>
            <a:r>
              <a:rPr lang="en-US" sz="1800" i="1" dirty="0"/>
              <a:t> m</a:t>
            </a:r>
            <a:r>
              <a:rPr lang="en-US" sz="1800" dirty="0"/>
              <a:t> and</a:t>
            </a:r>
            <a:r>
              <a:rPr lang="en-US" sz="1800" i="1" dirty="0"/>
              <a:t> n</a:t>
            </a:r>
            <a:r>
              <a:rPr lang="en-US" sz="1800" dirty="0"/>
              <a:t>, respectively.  Initialize:</a:t>
            </a:r>
          </a:p>
          <a:p>
            <a:pPr marL="1543050" lvl="3" indent="-342900">
              <a:lnSpc>
                <a:spcPct val="90000"/>
              </a:lnSpc>
              <a:buFontTx/>
              <a:buNone/>
            </a:pPr>
            <a:r>
              <a:rPr lang="en-US" sz="1800" i="1" dirty="0"/>
              <a:t>Work </a:t>
            </a:r>
            <a:r>
              <a:rPr lang="en-US" sz="1800" dirty="0"/>
              <a:t>= </a:t>
            </a:r>
            <a:r>
              <a:rPr lang="en-US" sz="1800" i="1" dirty="0"/>
              <a:t>Available</a:t>
            </a:r>
          </a:p>
          <a:p>
            <a:pPr marL="1543050" lvl="3" indent="-342900">
              <a:lnSpc>
                <a:spcPct val="90000"/>
              </a:lnSpc>
              <a:buFontTx/>
              <a:buNone/>
            </a:pPr>
            <a:r>
              <a:rPr lang="en-US" sz="1800" i="1" dirty="0"/>
              <a:t>Finish </a:t>
            </a:r>
            <a:r>
              <a:rPr lang="en-US" sz="1800" dirty="0"/>
              <a:t>[</a:t>
            </a:r>
            <a:r>
              <a:rPr lang="en-US" sz="1800" i="1" dirty="0" err="1"/>
              <a:t>i</a:t>
            </a:r>
            <a:r>
              <a:rPr lang="en-US" sz="1800" dirty="0"/>
              <a:t>] =</a:t>
            </a:r>
            <a:r>
              <a:rPr lang="en-US" sz="1800" i="1" dirty="0"/>
              <a:t> false </a:t>
            </a:r>
            <a:r>
              <a:rPr lang="en-US" sz="1800" dirty="0"/>
              <a:t>for</a:t>
            </a:r>
            <a:r>
              <a:rPr lang="en-US" sz="1800" i="1" dirty="0"/>
              <a:t> </a:t>
            </a:r>
            <a:r>
              <a:rPr lang="en-US" sz="1800" i="1" dirty="0" err="1"/>
              <a:t>i</a:t>
            </a:r>
            <a:r>
              <a:rPr lang="en-US" sz="1800" dirty="0"/>
              <a:t> = 0, 1, …, </a:t>
            </a:r>
            <a:r>
              <a:rPr lang="en-US" sz="1800" i="1" dirty="0"/>
              <a:t>n- </a:t>
            </a:r>
            <a:r>
              <a:rPr lang="en-US" sz="1800" dirty="0"/>
              <a:t>1</a:t>
            </a:r>
          </a:p>
          <a:p>
            <a:pPr marL="1543050" lvl="3" indent="-342900">
              <a:lnSpc>
                <a:spcPct val="90000"/>
              </a:lnSpc>
              <a:buFontTx/>
              <a:buNone/>
            </a:pPr>
            <a:endParaRPr lang="en-US" sz="1800" dirty="0"/>
          </a:p>
          <a:p>
            <a:pPr>
              <a:lnSpc>
                <a:spcPct val="90000"/>
              </a:lnSpc>
              <a:buFont typeface="Monotype Sorts" charset="2"/>
              <a:buNone/>
            </a:pPr>
            <a:r>
              <a:rPr lang="en-US" sz="1800" dirty="0"/>
              <a:t>2.	Find an </a:t>
            </a:r>
            <a:r>
              <a:rPr lang="en-US" sz="1800" i="1" dirty="0" err="1"/>
              <a:t>i</a:t>
            </a:r>
            <a:r>
              <a:rPr lang="en-US" sz="1800" i="1" dirty="0"/>
              <a:t> </a:t>
            </a:r>
            <a:r>
              <a:rPr lang="en-US" sz="1800" dirty="0"/>
              <a:t>such that both: </a:t>
            </a:r>
          </a:p>
          <a:p>
            <a:pPr marL="800100" lvl="1" indent="-342900">
              <a:lnSpc>
                <a:spcPct val="90000"/>
              </a:lnSpc>
              <a:buFont typeface="Monotype Sorts" charset="2"/>
              <a:buNone/>
            </a:pPr>
            <a:r>
              <a:rPr lang="en-US" sz="1800" dirty="0"/>
              <a:t>(a) </a:t>
            </a:r>
            <a:r>
              <a:rPr lang="en-US" sz="1800" i="1" dirty="0"/>
              <a:t>Finish</a:t>
            </a:r>
            <a:r>
              <a:rPr lang="en-US" sz="1800" dirty="0"/>
              <a:t> [</a:t>
            </a:r>
            <a:r>
              <a:rPr lang="en-US" sz="1800" i="1" dirty="0" err="1"/>
              <a:t>i</a:t>
            </a:r>
            <a:r>
              <a:rPr lang="en-US" sz="1800" dirty="0"/>
              <a:t>] = </a:t>
            </a:r>
            <a:r>
              <a:rPr lang="en-US" sz="1800" i="1" dirty="0"/>
              <a:t>false</a:t>
            </a:r>
            <a:endParaRPr lang="en-US" sz="1800" dirty="0"/>
          </a:p>
          <a:p>
            <a:pPr marL="800100" lvl="1" indent="-342900">
              <a:lnSpc>
                <a:spcPct val="90000"/>
              </a:lnSpc>
              <a:buFont typeface="Monotype Sorts" charset="2"/>
              <a:buNone/>
            </a:pPr>
            <a:r>
              <a:rPr lang="en-US" sz="1800" dirty="0"/>
              <a:t>(b) </a:t>
            </a:r>
            <a:r>
              <a:rPr lang="en-US" sz="1800" i="1" dirty="0" err="1"/>
              <a:t>Need</a:t>
            </a:r>
            <a:r>
              <a:rPr lang="en-US" sz="1800" i="1" baseline="-25000" dirty="0" err="1"/>
              <a:t>i</a:t>
            </a:r>
            <a:r>
              <a:rPr lang="en-US" sz="1800" dirty="0"/>
              <a:t> </a:t>
            </a:r>
            <a:r>
              <a:rPr lang="en-US" sz="1800" dirty="0">
                <a:sym typeface="Symbol" pitchFamily="18" charset="2"/>
              </a:rPr>
              <a:t> </a:t>
            </a:r>
            <a:r>
              <a:rPr lang="en-US" sz="1800" i="1" dirty="0">
                <a:sym typeface="Symbol" pitchFamily="18" charset="2"/>
              </a:rPr>
              <a:t>Work</a:t>
            </a:r>
          </a:p>
          <a:p>
            <a:pPr marL="800100" lvl="1" indent="-342900">
              <a:lnSpc>
                <a:spcPct val="90000"/>
              </a:lnSpc>
              <a:buFont typeface="Monotype Sorts" charset="2"/>
              <a:buNone/>
            </a:pPr>
            <a:r>
              <a:rPr lang="en-US" sz="1800" dirty="0">
                <a:sym typeface="Symbol" pitchFamily="18" charset="2"/>
              </a:rPr>
              <a:t>If no such </a:t>
            </a:r>
            <a:r>
              <a:rPr lang="en-US" sz="1800" i="1" dirty="0" err="1">
                <a:sym typeface="Symbol" pitchFamily="18" charset="2"/>
              </a:rPr>
              <a:t>i</a:t>
            </a:r>
            <a:r>
              <a:rPr lang="en-US" sz="1800" i="1" dirty="0">
                <a:sym typeface="Symbol" pitchFamily="18" charset="2"/>
              </a:rPr>
              <a:t> </a:t>
            </a:r>
            <a:r>
              <a:rPr lang="en-US" sz="1800" dirty="0">
                <a:sym typeface="Symbol" pitchFamily="18" charset="2"/>
              </a:rPr>
              <a:t>exists, go to step 4</a:t>
            </a:r>
          </a:p>
          <a:p>
            <a:pPr marL="800100" lvl="1" indent="-342900">
              <a:lnSpc>
                <a:spcPct val="90000"/>
              </a:lnSpc>
              <a:buFont typeface="Monotype Sorts" charset="2"/>
              <a:buNone/>
            </a:pPr>
            <a:endParaRPr lang="en-US" sz="1800" dirty="0">
              <a:sym typeface="Symbol" pitchFamily="18" charset="2"/>
            </a:endParaRPr>
          </a:p>
          <a:p>
            <a:pPr>
              <a:lnSpc>
                <a:spcPct val="90000"/>
              </a:lnSpc>
              <a:buFont typeface="Monotype Sorts" charset="2"/>
              <a:buNone/>
            </a:pPr>
            <a:r>
              <a:rPr lang="en-US" sz="1800" i="1" dirty="0"/>
              <a:t>3.  Work</a:t>
            </a:r>
            <a:r>
              <a:rPr lang="en-US" sz="1800" dirty="0"/>
              <a:t> = </a:t>
            </a:r>
            <a:r>
              <a:rPr lang="en-US" sz="1800" i="1" dirty="0"/>
              <a:t>Work </a:t>
            </a:r>
            <a:r>
              <a:rPr lang="en-US" sz="1800" dirty="0"/>
              <a:t>+ </a:t>
            </a:r>
            <a:r>
              <a:rPr lang="en-US" sz="1800" i="1" dirty="0" err="1"/>
              <a:t>Allocation</a:t>
            </a:r>
            <a:r>
              <a:rPr lang="en-US" sz="1800" i="1" baseline="-25000" dirty="0" err="1"/>
              <a:t>i</a:t>
            </a:r>
            <a:br>
              <a:rPr lang="en-US" sz="1800" dirty="0"/>
            </a:br>
            <a:r>
              <a:rPr lang="en-US" sz="1800" i="1" dirty="0"/>
              <a:t>Finish</a:t>
            </a:r>
            <a:r>
              <a:rPr lang="en-US" sz="1800" dirty="0"/>
              <a:t>[</a:t>
            </a:r>
            <a:r>
              <a:rPr lang="en-US" sz="1800" i="1" dirty="0" err="1"/>
              <a:t>i</a:t>
            </a:r>
            <a:r>
              <a:rPr lang="en-US" sz="1800" dirty="0"/>
              <a:t>] =</a:t>
            </a:r>
            <a:r>
              <a:rPr lang="en-US" sz="1800" i="1" dirty="0"/>
              <a:t> true</a:t>
            </a:r>
            <a:br>
              <a:rPr lang="en-US" sz="1800" dirty="0"/>
            </a:br>
            <a:r>
              <a:rPr lang="en-US" sz="1800" dirty="0"/>
              <a:t>go to step 2</a:t>
            </a:r>
          </a:p>
          <a:p>
            <a:pPr>
              <a:lnSpc>
                <a:spcPct val="90000"/>
              </a:lnSpc>
            </a:pPr>
            <a:endParaRPr lang="en-US" sz="1800" dirty="0"/>
          </a:p>
          <a:p>
            <a:pPr>
              <a:lnSpc>
                <a:spcPct val="90000"/>
              </a:lnSpc>
              <a:buFont typeface="Monotype Sorts" charset="2"/>
              <a:buNone/>
            </a:pPr>
            <a:r>
              <a:rPr lang="en-US" sz="1800" dirty="0"/>
              <a:t>4.	If </a:t>
            </a:r>
            <a:r>
              <a:rPr lang="en-US" sz="1800" i="1" dirty="0"/>
              <a:t>Finish</a:t>
            </a:r>
            <a:r>
              <a:rPr lang="en-US" sz="1800" dirty="0"/>
              <a:t> [</a:t>
            </a:r>
            <a:r>
              <a:rPr lang="en-US" sz="1800" i="1" dirty="0" err="1"/>
              <a:t>i</a:t>
            </a:r>
            <a:r>
              <a:rPr lang="en-US" sz="1800" dirty="0"/>
              <a:t>] == true for all </a:t>
            </a:r>
            <a:r>
              <a:rPr lang="en-US" sz="1800" i="1" dirty="0" err="1"/>
              <a:t>i</a:t>
            </a:r>
            <a:r>
              <a:rPr lang="en-US" sz="1800" dirty="0"/>
              <a:t>, then the system is in a safe state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Resource-Request Algorithm for Process </a:t>
            </a:r>
            <a:r>
              <a:rPr lang="en-US" sz="2800" i="1" dirty="0"/>
              <a:t>P</a:t>
            </a:r>
            <a:r>
              <a:rPr lang="en-US" sz="2800" i="1" baseline="-25000" dirty="0"/>
              <a:t>i</a:t>
            </a:r>
            <a:endParaRPr lang="en-US" sz="2800" dirty="0"/>
          </a:p>
        </p:txBody>
      </p:sp>
      <p:sp>
        <p:nvSpPr>
          <p:cNvPr id="4" name="Rectangle 3"/>
          <p:cNvSpPr>
            <a:spLocks noGrp="1" noChangeArrowheads="1"/>
          </p:cNvSpPr>
          <p:nvPr>
            <p:ph idx="1"/>
          </p:nvPr>
        </p:nvSpPr>
        <p:spPr/>
        <p:txBody>
          <a:bodyPr>
            <a:normAutofit/>
          </a:bodyPr>
          <a:lstStyle/>
          <a:p>
            <a:pPr>
              <a:lnSpc>
                <a:spcPct val="90000"/>
              </a:lnSpc>
              <a:buFont typeface="Monotype Sorts" charset="2"/>
              <a:buNone/>
            </a:pPr>
            <a:r>
              <a:rPr lang="en-US" sz="1800" i="1" dirty="0"/>
              <a:t>     </a:t>
            </a:r>
            <a:r>
              <a:rPr lang="en-US" sz="1800" i="1" dirty="0">
                <a:solidFill>
                  <a:srgbClr val="FF0000"/>
                </a:solidFill>
              </a:rPr>
              <a:t>Request</a:t>
            </a:r>
            <a:r>
              <a:rPr lang="en-US" sz="1800" dirty="0"/>
              <a:t> = request vector for process </a:t>
            </a:r>
            <a:r>
              <a:rPr lang="en-US" sz="1800" i="1" dirty="0"/>
              <a:t>P</a:t>
            </a:r>
            <a:r>
              <a:rPr lang="en-US" sz="1800" i="1" baseline="-25000" dirty="0"/>
              <a:t>i</a:t>
            </a:r>
            <a:r>
              <a:rPr lang="en-US" sz="1800" dirty="0"/>
              <a:t>.  If </a:t>
            </a:r>
            <a:r>
              <a:rPr lang="en-US" sz="1800" i="1" dirty="0" err="1"/>
              <a:t>Request</a:t>
            </a:r>
            <a:r>
              <a:rPr lang="en-US" sz="1800" i="1" baseline="-25000" dirty="0" err="1"/>
              <a:t>i</a:t>
            </a:r>
            <a:r>
              <a:rPr lang="en-US" sz="1800" baseline="-25000" dirty="0"/>
              <a:t> </a:t>
            </a:r>
            <a:r>
              <a:rPr lang="en-US" sz="1800" dirty="0"/>
              <a:t>[</a:t>
            </a:r>
            <a:r>
              <a:rPr lang="en-US" sz="1800" i="1" dirty="0"/>
              <a:t>j</a:t>
            </a:r>
            <a:r>
              <a:rPr lang="en-US" sz="1800" dirty="0"/>
              <a:t>] = </a:t>
            </a:r>
            <a:r>
              <a:rPr lang="en-US" sz="1800" i="1" dirty="0"/>
              <a:t>k</a:t>
            </a:r>
            <a:r>
              <a:rPr lang="en-US" sz="1800" dirty="0"/>
              <a:t> then process </a:t>
            </a:r>
            <a:r>
              <a:rPr lang="en-US" sz="1800" i="1" dirty="0"/>
              <a:t>P</a:t>
            </a:r>
            <a:r>
              <a:rPr lang="en-US" sz="1800" i="1" baseline="-25000" dirty="0"/>
              <a:t>i</a:t>
            </a:r>
            <a:r>
              <a:rPr lang="en-US" sz="1800" dirty="0"/>
              <a:t> wants </a:t>
            </a:r>
            <a:r>
              <a:rPr lang="en-US" sz="1800" i="1" dirty="0"/>
              <a:t>k</a:t>
            </a:r>
            <a:r>
              <a:rPr lang="en-US" sz="1800" dirty="0"/>
              <a:t> instances of resource type </a:t>
            </a:r>
            <a:r>
              <a:rPr lang="en-US" sz="1800" i="1" dirty="0" err="1"/>
              <a:t>R</a:t>
            </a:r>
            <a:r>
              <a:rPr lang="en-US" sz="1800" i="1" baseline="-25000" dirty="0" err="1"/>
              <a:t>j</a:t>
            </a:r>
            <a:endParaRPr lang="en-US" sz="1800" baseline="-25000" dirty="0"/>
          </a:p>
          <a:p>
            <a:pPr lvl="1">
              <a:lnSpc>
                <a:spcPct val="90000"/>
              </a:lnSpc>
              <a:buFont typeface="Monotype Sorts" charset="2"/>
              <a:buNone/>
            </a:pPr>
            <a:r>
              <a:rPr lang="en-US" sz="1800" dirty="0"/>
              <a:t>1.	If </a:t>
            </a:r>
            <a:r>
              <a:rPr lang="en-US" sz="1800" i="1" dirty="0" err="1"/>
              <a:t>Request</a:t>
            </a:r>
            <a:r>
              <a:rPr lang="en-US" sz="1800" i="1" baseline="-25000" dirty="0" err="1"/>
              <a:t>i</a:t>
            </a:r>
            <a:r>
              <a:rPr lang="en-US" sz="1800" i="1" dirty="0"/>
              <a:t> </a:t>
            </a:r>
            <a:r>
              <a:rPr lang="en-US" sz="1800" dirty="0">
                <a:sym typeface="Symbol" pitchFamily="18" charset="2"/>
              </a:rPr>
              <a:t> </a:t>
            </a:r>
            <a:r>
              <a:rPr lang="en-US" sz="1800" i="1" dirty="0" err="1">
                <a:sym typeface="Symbol" pitchFamily="18" charset="2"/>
              </a:rPr>
              <a:t>Need</a:t>
            </a:r>
            <a:r>
              <a:rPr lang="en-US" sz="1800" i="1" baseline="-25000" dirty="0" err="1">
                <a:sym typeface="Symbol" pitchFamily="18" charset="2"/>
              </a:rPr>
              <a:t>i</a:t>
            </a:r>
            <a:r>
              <a:rPr lang="en-US" sz="1800" i="1" dirty="0">
                <a:sym typeface="Symbol" pitchFamily="18" charset="2"/>
              </a:rPr>
              <a:t> </a:t>
            </a:r>
            <a:r>
              <a:rPr lang="en-US" sz="1800" dirty="0">
                <a:sym typeface="Symbol" pitchFamily="18" charset="2"/>
              </a:rPr>
              <a:t>go to step 2.  Otherwise, raise error condition, since process has exceeded its maximum claim</a:t>
            </a:r>
          </a:p>
          <a:p>
            <a:pPr lvl="1">
              <a:lnSpc>
                <a:spcPct val="90000"/>
              </a:lnSpc>
              <a:buFont typeface="Monotype Sorts" charset="2"/>
              <a:buNone/>
            </a:pPr>
            <a:r>
              <a:rPr lang="en-US" sz="1800" dirty="0">
                <a:sym typeface="Symbol" pitchFamily="18" charset="2"/>
              </a:rPr>
              <a:t>2.	If </a:t>
            </a:r>
            <a:r>
              <a:rPr lang="en-US" sz="1800" i="1" dirty="0" err="1"/>
              <a:t>Request</a:t>
            </a:r>
            <a:r>
              <a:rPr lang="en-US" sz="1800" i="1" baseline="-25000" dirty="0" err="1"/>
              <a:t>i</a:t>
            </a:r>
            <a:r>
              <a:rPr lang="en-US" sz="1800" dirty="0"/>
              <a:t> </a:t>
            </a:r>
            <a:r>
              <a:rPr lang="en-US" sz="1800" dirty="0">
                <a:sym typeface="Symbol" pitchFamily="18" charset="2"/>
              </a:rPr>
              <a:t> </a:t>
            </a:r>
            <a:r>
              <a:rPr lang="en-US" sz="1800" i="1" dirty="0">
                <a:sym typeface="Symbol" pitchFamily="18" charset="2"/>
              </a:rPr>
              <a:t>Available</a:t>
            </a:r>
            <a:r>
              <a:rPr lang="en-US" sz="1800" dirty="0">
                <a:sym typeface="Symbol" pitchFamily="18" charset="2"/>
              </a:rPr>
              <a:t>, go to step 3.  Otherwise </a:t>
            </a:r>
            <a:r>
              <a:rPr lang="en-US" sz="1800" i="1" dirty="0">
                <a:sym typeface="Symbol" pitchFamily="18" charset="2"/>
              </a:rPr>
              <a:t>P</a:t>
            </a:r>
            <a:r>
              <a:rPr lang="en-US" sz="1800" i="1" baseline="-25000" dirty="0">
                <a:sym typeface="Symbol" pitchFamily="18" charset="2"/>
              </a:rPr>
              <a:t>i</a:t>
            </a:r>
            <a:r>
              <a:rPr lang="en-US" sz="1800" dirty="0">
                <a:sym typeface="Symbol" pitchFamily="18" charset="2"/>
              </a:rPr>
              <a:t>  must wait, since resources are not available</a:t>
            </a:r>
          </a:p>
          <a:p>
            <a:pPr lvl="1">
              <a:lnSpc>
                <a:spcPct val="90000"/>
              </a:lnSpc>
              <a:buFont typeface="Monotype Sorts" charset="2"/>
              <a:buNone/>
            </a:pPr>
            <a:r>
              <a:rPr lang="en-US" sz="1800" dirty="0">
                <a:sym typeface="Symbol" pitchFamily="18" charset="2"/>
              </a:rPr>
              <a:t>3.	Pretend to allocate requested resources to </a:t>
            </a:r>
            <a:r>
              <a:rPr lang="en-US" sz="1800" i="1" dirty="0">
                <a:sym typeface="Symbol" pitchFamily="18" charset="2"/>
              </a:rPr>
              <a:t>P</a:t>
            </a:r>
            <a:r>
              <a:rPr lang="en-US" sz="1800" i="1" baseline="-25000" dirty="0">
                <a:sym typeface="Symbol" pitchFamily="18" charset="2"/>
              </a:rPr>
              <a:t>i</a:t>
            </a:r>
            <a:r>
              <a:rPr lang="en-US" sz="1800" dirty="0">
                <a:sym typeface="Symbol" pitchFamily="18" charset="2"/>
              </a:rPr>
              <a:t> by modifying the state as follows:</a:t>
            </a:r>
          </a:p>
          <a:p>
            <a:pPr lvl="3">
              <a:lnSpc>
                <a:spcPct val="90000"/>
              </a:lnSpc>
              <a:buFontTx/>
              <a:buNone/>
            </a:pPr>
            <a:r>
              <a:rPr lang="en-US" sz="1800" dirty="0">
                <a:sym typeface="Symbol" pitchFamily="18" charset="2"/>
              </a:rPr>
              <a:t>		</a:t>
            </a:r>
            <a:r>
              <a:rPr lang="en-US" sz="1800" i="1" dirty="0">
                <a:sym typeface="Symbol" pitchFamily="18" charset="2"/>
              </a:rPr>
              <a:t>Available</a:t>
            </a:r>
            <a:r>
              <a:rPr lang="en-US" sz="1800" dirty="0">
                <a:sym typeface="Symbol" pitchFamily="18" charset="2"/>
              </a:rPr>
              <a:t> = </a:t>
            </a:r>
            <a:r>
              <a:rPr lang="en-US" sz="1800" i="1" dirty="0">
                <a:sym typeface="Symbol" pitchFamily="18" charset="2"/>
              </a:rPr>
              <a:t>Available  </a:t>
            </a:r>
            <a:r>
              <a:rPr lang="en-US" sz="1800" dirty="0">
                <a:sym typeface="Symbol" pitchFamily="18" charset="2"/>
              </a:rPr>
              <a:t>–</a:t>
            </a:r>
            <a:r>
              <a:rPr lang="en-US" sz="1800" i="1" dirty="0">
                <a:sym typeface="Symbol" pitchFamily="18" charset="2"/>
              </a:rPr>
              <a:t> Request;</a:t>
            </a:r>
          </a:p>
          <a:p>
            <a:pPr lvl="3">
              <a:lnSpc>
                <a:spcPct val="90000"/>
              </a:lnSpc>
              <a:buFontTx/>
              <a:buNone/>
            </a:pPr>
            <a:r>
              <a:rPr lang="en-US" sz="1800" dirty="0">
                <a:sym typeface="Symbol" pitchFamily="18" charset="2"/>
              </a:rPr>
              <a:t>		</a:t>
            </a:r>
            <a:r>
              <a:rPr lang="en-US" sz="1800" i="1" dirty="0" err="1">
                <a:sym typeface="Symbol" pitchFamily="18" charset="2"/>
              </a:rPr>
              <a:t>Allocation</a:t>
            </a:r>
            <a:r>
              <a:rPr lang="en-US" sz="1800" i="1" baseline="-25000" dirty="0" err="1">
                <a:sym typeface="Symbol" pitchFamily="18" charset="2"/>
              </a:rPr>
              <a:t>i</a:t>
            </a:r>
            <a:r>
              <a:rPr lang="en-US" sz="1800" baseline="-25000" dirty="0">
                <a:sym typeface="Symbol" pitchFamily="18" charset="2"/>
              </a:rPr>
              <a:t> </a:t>
            </a:r>
            <a:r>
              <a:rPr lang="en-US" sz="1800" dirty="0">
                <a:sym typeface="Symbol" pitchFamily="18" charset="2"/>
              </a:rPr>
              <a:t>= </a:t>
            </a:r>
            <a:r>
              <a:rPr lang="en-US" sz="1800" i="1" dirty="0" err="1">
                <a:sym typeface="Symbol" pitchFamily="18" charset="2"/>
              </a:rPr>
              <a:t>Allocation</a:t>
            </a:r>
            <a:r>
              <a:rPr lang="en-US" sz="1800" i="1" baseline="-25000" dirty="0" err="1">
                <a:sym typeface="Symbol" pitchFamily="18" charset="2"/>
              </a:rPr>
              <a:t>i</a:t>
            </a:r>
            <a:r>
              <a:rPr lang="en-US" sz="1800" dirty="0">
                <a:sym typeface="Symbol" pitchFamily="18" charset="2"/>
              </a:rPr>
              <a:t> + </a:t>
            </a:r>
            <a:r>
              <a:rPr lang="en-US" sz="1800" i="1" dirty="0" err="1">
                <a:sym typeface="Symbol" pitchFamily="18" charset="2"/>
              </a:rPr>
              <a:t>Request</a:t>
            </a:r>
            <a:r>
              <a:rPr lang="en-US" sz="1800" i="1" baseline="-25000" dirty="0" err="1">
                <a:sym typeface="Symbol" pitchFamily="18" charset="2"/>
              </a:rPr>
              <a:t>i</a:t>
            </a:r>
            <a:r>
              <a:rPr lang="en-US" sz="1800" dirty="0">
                <a:sym typeface="Symbol" pitchFamily="18" charset="2"/>
              </a:rPr>
              <a:t>;</a:t>
            </a:r>
          </a:p>
          <a:p>
            <a:pPr lvl="3">
              <a:lnSpc>
                <a:spcPct val="90000"/>
              </a:lnSpc>
              <a:buFontTx/>
              <a:buNone/>
            </a:pPr>
            <a:r>
              <a:rPr lang="en-US" sz="1800" dirty="0">
                <a:sym typeface="Symbol" pitchFamily="18" charset="2"/>
              </a:rPr>
              <a:t>		</a:t>
            </a:r>
            <a:r>
              <a:rPr lang="en-US" sz="1800" i="1" dirty="0" err="1">
                <a:sym typeface="Symbol" pitchFamily="18" charset="2"/>
              </a:rPr>
              <a:t>Need</a:t>
            </a:r>
            <a:r>
              <a:rPr lang="en-US" sz="1800" i="1" baseline="-25000" dirty="0" err="1">
                <a:sym typeface="Symbol" pitchFamily="18" charset="2"/>
              </a:rPr>
              <a:t>i</a:t>
            </a:r>
            <a:r>
              <a:rPr lang="en-US" sz="1800" i="1" dirty="0">
                <a:sym typeface="Symbol" pitchFamily="18" charset="2"/>
              </a:rPr>
              <a:t> </a:t>
            </a:r>
            <a:r>
              <a:rPr lang="en-US" sz="1800" dirty="0">
                <a:sym typeface="Symbol" pitchFamily="18" charset="2"/>
              </a:rPr>
              <a:t>=</a:t>
            </a:r>
            <a:r>
              <a:rPr lang="en-US" sz="1800" i="1" dirty="0">
                <a:sym typeface="Symbol" pitchFamily="18" charset="2"/>
              </a:rPr>
              <a:t> </a:t>
            </a:r>
            <a:r>
              <a:rPr lang="en-US" sz="1800" i="1" dirty="0" err="1">
                <a:sym typeface="Symbol" pitchFamily="18" charset="2"/>
              </a:rPr>
              <a:t>Need</a:t>
            </a:r>
            <a:r>
              <a:rPr lang="en-US" sz="1800" i="1" baseline="-25000" dirty="0" err="1">
                <a:sym typeface="Symbol" pitchFamily="18" charset="2"/>
              </a:rPr>
              <a:t>i</a:t>
            </a:r>
            <a:r>
              <a:rPr lang="en-US" sz="1800" dirty="0">
                <a:sym typeface="Symbol" pitchFamily="18" charset="2"/>
              </a:rPr>
              <a:t> – </a:t>
            </a:r>
            <a:r>
              <a:rPr lang="en-US" sz="1800" i="1" dirty="0" err="1">
                <a:sym typeface="Symbol" pitchFamily="18" charset="2"/>
              </a:rPr>
              <a:t>Request</a:t>
            </a:r>
            <a:r>
              <a:rPr lang="en-US" sz="1800" i="1" baseline="-25000" dirty="0" err="1">
                <a:sym typeface="Symbol" pitchFamily="18" charset="2"/>
              </a:rPr>
              <a:t>i</a:t>
            </a:r>
            <a:r>
              <a:rPr lang="en-US" sz="1800" i="1" dirty="0">
                <a:sym typeface="Symbol" pitchFamily="18" charset="2"/>
              </a:rPr>
              <a:t>;</a:t>
            </a:r>
          </a:p>
          <a:p>
            <a:pPr lvl="2">
              <a:lnSpc>
                <a:spcPct val="90000"/>
              </a:lnSpc>
              <a:buClr>
                <a:srgbClr val="CC6600"/>
              </a:buClr>
              <a:buSzPct val="80000"/>
              <a:buFont typeface="Monotype Sorts" charset="2"/>
              <a:buChar char="l"/>
            </a:pPr>
            <a:r>
              <a:rPr lang="en-US" sz="1800" i="1" dirty="0">
                <a:sym typeface="Symbol" pitchFamily="18" charset="2"/>
              </a:rPr>
              <a:t>If safe  the resources are allocated to Pi</a:t>
            </a:r>
          </a:p>
          <a:p>
            <a:pPr lvl="2">
              <a:lnSpc>
                <a:spcPct val="90000"/>
              </a:lnSpc>
              <a:buClr>
                <a:srgbClr val="CC6600"/>
              </a:buClr>
              <a:buSzPct val="80000"/>
              <a:buFont typeface="Monotype Sorts" charset="2"/>
              <a:buChar char="l"/>
            </a:pPr>
            <a:r>
              <a:rPr lang="en-US" sz="1800" i="1" dirty="0">
                <a:sym typeface="Symbol" pitchFamily="18" charset="2"/>
              </a:rPr>
              <a:t>If unsafe  Pi must wait, and the old resource-allocation state is restored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Example of Banker’s Algorithm</a:t>
            </a:r>
          </a:p>
        </p:txBody>
      </p:sp>
      <p:sp>
        <p:nvSpPr>
          <p:cNvPr id="4" name="Rectangle 3"/>
          <p:cNvSpPr>
            <a:spLocks noGrp="1" noChangeArrowheads="1"/>
          </p:cNvSpPr>
          <p:nvPr>
            <p:ph idx="1"/>
          </p:nvPr>
        </p:nvSpPr>
        <p:spPr/>
        <p:txBody>
          <a:bodyPr>
            <a:normAutofit fontScale="92500" lnSpcReduction="10000"/>
          </a:bodyPr>
          <a:lstStyle/>
          <a:p>
            <a:pPr>
              <a:buNone/>
              <a:tabLst>
                <a:tab pos="1371600" algn="l"/>
                <a:tab pos="2395538" algn="ctr"/>
                <a:tab pos="3594100" algn="ctr"/>
                <a:tab pos="4805363" algn="ctr"/>
              </a:tabLst>
            </a:pPr>
            <a:r>
              <a:rPr lang="en-US" sz="2400" dirty="0"/>
              <a:t>	</a:t>
            </a:r>
            <a:r>
              <a:rPr lang="en-US" sz="1800" dirty="0"/>
              <a:t>There are 5</a:t>
            </a:r>
            <a:r>
              <a:rPr lang="en-US" sz="2400" dirty="0"/>
              <a:t> </a:t>
            </a:r>
            <a:r>
              <a:rPr lang="en-US" sz="1800" dirty="0"/>
              <a:t>processes </a:t>
            </a:r>
            <a:r>
              <a:rPr lang="en-US" sz="1800" i="1" dirty="0"/>
              <a:t>P</a:t>
            </a:r>
            <a:r>
              <a:rPr lang="en-US" sz="1800" baseline="-25000" dirty="0"/>
              <a:t>0  </a:t>
            </a:r>
            <a:r>
              <a:rPr lang="en-US" sz="1800" i="1" dirty="0"/>
              <a:t>P</a:t>
            </a:r>
            <a:r>
              <a:rPr lang="en-US" sz="1800" i="1" baseline="-25000" dirty="0"/>
              <a:t>1</a:t>
            </a:r>
            <a:r>
              <a:rPr lang="en-US" sz="1800" i="1" dirty="0"/>
              <a:t> P</a:t>
            </a:r>
            <a:r>
              <a:rPr lang="en-US" sz="1800" i="1" baseline="-25000" dirty="0"/>
              <a:t>2</a:t>
            </a:r>
            <a:r>
              <a:rPr lang="en-US" sz="1800" baseline="-25000" dirty="0"/>
              <a:t> </a:t>
            </a:r>
            <a:r>
              <a:rPr lang="en-US" sz="1800" dirty="0"/>
              <a:t> </a:t>
            </a:r>
            <a:r>
              <a:rPr lang="en-US" sz="1800" i="1" dirty="0"/>
              <a:t>P</a:t>
            </a:r>
            <a:r>
              <a:rPr lang="en-US" sz="1800" i="1" baseline="-25000" dirty="0"/>
              <a:t>3</a:t>
            </a:r>
            <a:r>
              <a:rPr lang="en-US" sz="1800" i="1" dirty="0"/>
              <a:t> P</a:t>
            </a:r>
            <a:r>
              <a:rPr lang="en-US" sz="1800" baseline="-25000" dirty="0"/>
              <a:t>4</a:t>
            </a:r>
            <a:r>
              <a:rPr lang="en-US" sz="1800" dirty="0"/>
              <a:t>;  and 3 resource types:  </a:t>
            </a:r>
            <a:r>
              <a:rPr lang="en-US" sz="1800" i="1" dirty="0"/>
              <a:t>A</a:t>
            </a:r>
            <a:r>
              <a:rPr lang="en-US" sz="1800" dirty="0"/>
              <a:t> (10 instances),         </a:t>
            </a:r>
            <a:r>
              <a:rPr lang="en-US" sz="1800" i="1" dirty="0"/>
              <a:t>B</a:t>
            </a:r>
            <a:r>
              <a:rPr lang="en-US" sz="1800" dirty="0"/>
              <a:t> (5 instances), and </a:t>
            </a:r>
            <a:r>
              <a:rPr lang="en-US" sz="1800" i="1" dirty="0"/>
              <a:t>C</a:t>
            </a:r>
            <a:r>
              <a:rPr lang="en-US" sz="1800" dirty="0"/>
              <a:t> ( 7 instances)</a:t>
            </a:r>
          </a:p>
          <a:p>
            <a:pPr>
              <a:buFont typeface="Monotype Sorts" charset="2"/>
              <a:buNone/>
              <a:tabLst>
                <a:tab pos="1371600" algn="l"/>
                <a:tab pos="2395538" algn="ctr"/>
                <a:tab pos="3594100" algn="ctr"/>
                <a:tab pos="4805363" algn="ctr"/>
              </a:tabLst>
            </a:pPr>
            <a:r>
              <a:rPr lang="en-US" sz="1800" dirty="0"/>
              <a:t> </a:t>
            </a:r>
          </a:p>
          <a:p>
            <a:pPr>
              <a:buFont typeface="Monotype Sorts" charset="2"/>
              <a:buNone/>
              <a:tabLst>
                <a:tab pos="1371600" algn="l"/>
                <a:tab pos="2395538" algn="ctr"/>
                <a:tab pos="3594100" algn="ctr"/>
                <a:tab pos="4805363" algn="ctr"/>
              </a:tabLst>
            </a:pPr>
            <a:r>
              <a:rPr lang="en-US" sz="1800" dirty="0"/>
              <a:t>Snapshot at time </a:t>
            </a:r>
            <a:r>
              <a:rPr lang="en-US" sz="1800" i="1" dirty="0"/>
              <a:t>T</a:t>
            </a:r>
            <a:r>
              <a:rPr lang="en-US" sz="1800" baseline="-25000" dirty="0"/>
              <a:t>0</a:t>
            </a:r>
            <a:r>
              <a:rPr lang="en-US" sz="1800" dirty="0"/>
              <a:t>:</a:t>
            </a:r>
          </a:p>
          <a:p>
            <a:pPr>
              <a:buFont typeface="Monotype Sorts" charset="2"/>
              <a:buNone/>
              <a:tabLst>
                <a:tab pos="1371600" algn="l"/>
                <a:tab pos="2395538" algn="ctr"/>
                <a:tab pos="3594100" algn="ctr"/>
                <a:tab pos="4805363" algn="ctr"/>
              </a:tabLst>
            </a:pPr>
            <a:r>
              <a:rPr lang="en-US" sz="1800" dirty="0"/>
              <a:t>			</a:t>
            </a:r>
            <a:r>
              <a:rPr lang="en-US" sz="1800" i="1" u="sng" dirty="0"/>
              <a:t>Allocation</a:t>
            </a:r>
            <a:r>
              <a:rPr lang="en-US" sz="1800" i="1" dirty="0"/>
              <a:t>	  </a:t>
            </a:r>
            <a:r>
              <a:rPr lang="en-US" sz="1800" i="1" u="sng" dirty="0"/>
              <a:t>Max</a:t>
            </a:r>
            <a:r>
              <a:rPr lang="en-US" sz="1800" i="1" dirty="0"/>
              <a:t>	</a:t>
            </a:r>
            <a:r>
              <a:rPr lang="en-US" sz="1800" i="1" u="sng" dirty="0"/>
              <a:t>Available</a:t>
            </a:r>
            <a:endParaRPr lang="en-US" sz="1800" i="1" dirty="0"/>
          </a:p>
          <a:p>
            <a:pPr>
              <a:buFont typeface="Monotype Sorts" charset="2"/>
              <a:buNone/>
              <a:tabLst>
                <a:tab pos="1371600" algn="l"/>
                <a:tab pos="2395538" algn="ctr"/>
                <a:tab pos="3594100" algn="ctr"/>
                <a:tab pos="4805363" algn="ctr"/>
              </a:tabLst>
            </a:pPr>
            <a:r>
              <a:rPr lang="en-US" sz="1800" i="1" dirty="0"/>
              <a:t>			A B C	       A B C 	A B C</a:t>
            </a:r>
          </a:p>
          <a:p>
            <a:pPr>
              <a:buFont typeface="Monotype Sorts" charset="2"/>
              <a:buNone/>
              <a:tabLst>
                <a:tab pos="1371600" algn="l"/>
                <a:tab pos="2395538" algn="ctr"/>
                <a:tab pos="3594100" algn="ctr"/>
                <a:tab pos="4805363" algn="ctr"/>
              </a:tabLst>
            </a:pPr>
            <a:r>
              <a:rPr lang="en-US" sz="1800" dirty="0"/>
              <a:t>		</a:t>
            </a:r>
            <a:r>
              <a:rPr lang="en-US" sz="1800" i="1" dirty="0"/>
              <a:t>P</a:t>
            </a:r>
            <a:r>
              <a:rPr lang="en-US" sz="1800" baseline="-25000" dirty="0"/>
              <a:t>0	</a:t>
            </a:r>
            <a:r>
              <a:rPr lang="en-US" sz="1800" dirty="0"/>
              <a:t>0 1 0	         7 5 3 	3 3 2</a:t>
            </a:r>
          </a:p>
          <a:p>
            <a:pPr>
              <a:buFont typeface="Monotype Sorts" charset="2"/>
              <a:buNone/>
              <a:tabLst>
                <a:tab pos="1371600" algn="l"/>
                <a:tab pos="2395538" algn="ctr"/>
                <a:tab pos="3594100" algn="ctr"/>
                <a:tab pos="4805363" algn="ctr"/>
              </a:tabLst>
            </a:pPr>
            <a:r>
              <a:rPr lang="en-US" sz="1800" dirty="0"/>
              <a:t>		 </a:t>
            </a:r>
            <a:r>
              <a:rPr lang="en-US" sz="1800" i="1" dirty="0"/>
              <a:t>P</a:t>
            </a:r>
            <a:r>
              <a:rPr lang="en-US" sz="1800" baseline="-25000" dirty="0"/>
              <a:t>1	</a:t>
            </a:r>
            <a:r>
              <a:rPr lang="en-US" sz="1800" dirty="0"/>
              <a:t>2 0 0 	        3 2 2  </a:t>
            </a:r>
          </a:p>
          <a:p>
            <a:pPr>
              <a:buFont typeface="Monotype Sorts" charset="2"/>
              <a:buNone/>
              <a:tabLst>
                <a:tab pos="1371600" algn="l"/>
                <a:tab pos="2395538" algn="ctr"/>
                <a:tab pos="3594100" algn="ctr"/>
                <a:tab pos="4805363" algn="ctr"/>
              </a:tabLst>
            </a:pPr>
            <a:r>
              <a:rPr lang="en-US" sz="1800" dirty="0"/>
              <a:t>		 </a:t>
            </a:r>
            <a:r>
              <a:rPr lang="en-US" sz="1800" i="1" dirty="0"/>
              <a:t>P</a:t>
            </a:r>
            <a:r>
              <a:rPr lang="en-US" sz="1800" baseline="-25000" dirty="0"/>
              <a:t>2</a:t>
            </a:r>
            <a:r>
              <a:rPr lang="en-US" sz="1800" dirty="0"/>
              <a:t>	3 0 2 	        9 0 2</a:t>
            </a:r>
          </a:p>
          <a:p>
            <a:pPr>
              <a:buFont typeface="Monotype Sorts" charset="2"/>
              <a:buNone/>
              <a:tabLst>
                <a:tab pos="1371600" algn="l"/>
                <a:tab pos="2395538" algn="ctr"/>
                <a:tab pos="3594100" algn="ctr"/>
                <a:tab pos="4805363" algn="ctr"/>
              </a:tabLst>
            </a:pPr>
            <a:r>
              <a:rPr lang="en-US" sz="1800" dirty="0"/>
              <a:t>		 </a:t>
            </a:r>
            <a:r>
              <a:rPr lang="en-US" sz="1800" i="1" dirty="0"/>
              <a:t>P</a:t>
            </a:r>
            <a:r>
              <a:rPr lang="en-US" sz="1800" baseline="-25000" dirty="0"/>
              <a:t>3</a:t>
            </a:r>
            <a:r>
              <a:rPr lang="en-US" sz="1800" dirty="0"/>
              <a:t>	2 1 1 	        2 2 2</a:t>
            </a:r>
          </a:p>
          <a:p>
            <a:pPr>
              <a:buFont typeface="Monotype Sorts" charset="2"/>
              <a:buNone/>
              <a:tabLst>
                <a:tab pos="1371600" algn="l"/>
                <a:tab pos="2395538" algn="ctr"/>
                <a:tab pos="3594100" algn="ctr"/>
                <a:tab pos="4805363" algn="ctr"/>
              </a:tabLst>
            </a:pPr>
            <a:r>
              <a:rPr lang="en-US" sz="1800" dirty="0"/>
              <a:t>		 </a:t>
            </a:r>
            <a:r>
              <a:rPr lang="en-US" sz="1800" i="1" dirty="0"/>
              <a:t>P</a:t>
            </a:r>
            <a:r>
              <a:rPr lang="en-US" sz="1800" baseline="-25000" dirty="0"/>
              <a:t>4</a:t>
            </a:r>
            <a:r>
              <a:rPr lang="en-US" sz="1800" dirty="0"/>
              <a:t>	0 0 2	         4 3 3  	</a:t>
            </a:r>
            <a:r>
              <a:rPr lang="en-US" sz="2400"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p:txBody>
          <a:bodyPr>
            <a:normAutofit lnSpcReduction="10000"/>
          </a:bodyPr>
          <a:lstStyle/>
          <a:p>
            <a:pPr>
              <a:buNone/>
              <a:tabLst>
                <a:tab pos="2452688" algn="l"/>
                <a:tab pos="3492500" algn="ctr"/>
              </a:tabLst>
            </a:pPr>
            <a:r>
              <a:rPr lang="en-US" sz="1800" dirty="0"/>
              <a:t>The content of the matrix </a:t>
            </a:r>
            <a:r>
              <a:rPr lang="en-US" sz="1800" i="1" dirty="0"/>
              <a:t>Need</a:t>
            </a:r>
            <a:r>
              <a:rPr lang="en-US" sz="1800" dirty="0"/>
              <a:t> is defined to be </a:t>
            </a:r>
            <a:r>
              <a:rPr lang="en-US" sz="1800" i="1" dirty="0"/>
              <a:t>Max</a:t>
            </a:r>
            <a:r>
              <a:rPr lang="en-US" sz="1800" dirty="0"/>
              <a:t> – </a:t>
            </a:r>
            <a:r>
              <a:rPr lang="en-US" sz="1800" i="1" dirty="0"/>
              <a:t>Allocation</a:t>
            </a:r>
            <a:endParaRPr lang="en-US" sz="1800" dirty="0"/>
          </a:p>
          <a:p>
            <a:pPr>
              <a:buFont typeface="Monotype Sorts" charset="2"/>
              <a:buNone/>
              <a:tabLst>
                <a:tab pos="2452688" algn="l"/>
                <a:tab pos="3492500" algn="ctr"/>
              </a:tabLst>
            </a:pPr>
            <a:r>
              <a:rPr lang="en-US" sz="1800" dirty="0"/>
              <a:t>			</a:t>
            </a:r>
            <a:r>
              <a:rPr lang="en-US" sz="1800" i="1" u="sng" dirty="0"/>
              <a:t>Need</a:t>
            </a:r>
            <a:endParaRPr lang="en-US" sz="1800" u="sng" dirty="0"/>
          </a:p>
          <a:p>
            <a:pPr>
              <a:buFont typeface="Monotype Sorts" charset="2"/>
              <a:buNone/>
              <a:tabLst>
                <a:tab pos="2452688" algn="l"/>
                <a:tab pos="3492500" algn="ctr"/>
              </a:tabLst>
            </a:pPr>
            <a:r>
              <a:rPr lang="en-US" sz="1800" dirty="0"/>
              <a:t>			</a:t>
            </a:r>
            <a:r>
              <a:rPr lang="en-US" sz="1800" i="1" dirty="0"/>
              <a:t>A B C</a:t>
            </a:r>
          </a:p>
          <a:p>
            <a:pPr>
              <a:buFont typeface="Monotype Sorts" charset="2"/>
              <a:buNone/>
              <a:tabLst>
                <a:tab pos="2452688" algn="l"/>
                <a:tab pos="3492500" algn="ctr"/>
              </a:tabLst>
            </a:pPr>
            <a:r>
              <a:rPr lang="en-US" sz="1800" dirty="0"/>
              <a:t>		 </a:t>
            </a:r>
            <a:r>
              <a:rPr lang="en-US" sz="1800" i="1" dirty="0"/>
              <a:t>P</a:t>
            </a:r>
            <a:r>
              <a:rPr lang="en-US" sz="1800" baseline="-25000" dirty="0"/>
              <a:t>0	</a:t>
            </a:r>
            <a:r>
              <a:rPr lang="en-US" sz="1800" dirty="0"/>
              <a:t>7 4 3 </a:t>
            </a:r>
          </a:p>
          <a:p>
            <a:pPr>
              <a:buFont typeface="Monotype Sorts" charset="2"/>
              <a:buNone/>
              <a:tabLst>
                <a:tab pos="2452688" algn="l"/>
                <a:tab pos="3492500" algn="ctr"/>
              </a:tabLst>
            </a:pPr>
            <a:r>
              <a:rPr lang="en-US" sz="1800" dirty="0"/>
              <a:t>		 </a:t>
            </a:r>
            <a:r>
              <a:rPr lang="en-US" sz="1800" i="1" dirty="0"/>
              <a:t>P</a:t>
            </a:r>
            <a:r>
              <a:rPr lang="en-US" sz="1800" baseline="-25000" dirty="0"/>
              <a:t>1	</a:t>
            </a:r>
            <a:r>
              <a:rPr lang="en-US" sz="1800" dirty="0"/>
              <a:t>1 2 2 </a:t>
            </a:r>
          </a:p>
          <a:p>
            <a:pPr>
              <a:buFont typeface="Monotype Sorts" charset="2"/>
              <a:buNone/>
              <a:tabLst>
                <a:tab pos="2452688" algn="l"/>
                <a:tab pos="3492500" algn="ctr"/>
              </a:tabLst>
            </a:pPr>
            <a:r>
              <a:rPr lang="en-US" sz="1800" dirty="0"/>
              <a:t>		 </a:t>
            </a:r>
            <a:r>
              <a:rPr lang="en-US" sz="1800" i="1" dirty="0"/>
              <a:t>P</a:t>
            </a:r>
            <a:r>
              <a:rPr lang="en-US" sz="1800" baseline="-25000" dirty="0"/>
              <a:t>2</a:t>
            </a:r>
            <a:r>
              <a:rPr lang="en-US" sz="1800" dirty="0"/>
              <a:t>	6 0 0 </a:t>
            </a:r>
          </a:p>
          <a:p>
            <a:pPr>
              <a:buFont typeface="Monotype Sorts" charset="2"/>
              <a:buNone/>
              <a:tabLst>
                <a:tab pos="2452688" algn="l"/>
                <a:tab pos="3492500" algn="ctr"/>
              </a:tabLst>
            </a:pPr>
            <a:r>
              <a:rPr lang="en-US" sz="1800" dirty="0"/>
              <a:t>		 </a:t>
            </a:r>
            <a:r>
              <a:rPr lang="en-US" sz="1800" i="1" dirty="0"/>
              <a:t>P</a:t>
            </a:r>
            <a:r>
              <a:rPr lang="en-US" sz="1800" baseline="-25000" dirty="0"/>
              <a:t>3</a:t>
            </a:r>
            <a:r>
              <a:rPr lang="en-US" sz="1800" dirty="0"/>
              <a:t>	0 1 1</a:t>
            </a:r>
          </a:p>
          <a:p>
            <a:pPr>
              <a:buFont typeface="Monotype Sorts" charset="2"/>
              <a:buNone/>
              <a:tabLst>
                <a:tab pos="2452688" algn="l"/>
                <a:tab pos="3492500" algn="ctr"/>
              </a:tabLst>
            </a:pPr>
            <a:r>
              <a:rPr lang="en-US" sz="1800" dirty="0"/>
              <a:t>		 </a:t>
            </a:r>
            <a:r>
              <a:rPr lang="en-US" sz="1800" i="1" dirty="0"/>
              <a:t>P</a:t>
            </a:r>
            <a:r>
              <a:rPr lang="en-US" sz="1800" baseline="-25000" dirty="0"/>
              <a:t>4</a:t>
            </a:r>
            <a:r>
              <a:rPr lang="en-US" sz="1800" dirty="0"/>
              <a:t>	4 3 1 </a:t>
            </a:r>
          </a:p>
          <a:p>
            <a:pPr>
              <a:buNone/>
              <a:tabLst>
                <a:tab pos="2452688" algn="l"/>
                <a:tab pos="3492500" algn="ctr"/>
              </a:tabLst>
            </a:pPr>
            <a:endParaRPr lang="en-US" sz="1800" dirty="0"/>
          </a:p>
          <a:p>
            <a:pPr>
              <a:buNone/>
              <a:tabLst>
                <a:tab pos="2452688" algn="l"/>
                <a:tab pos="3492500" algn="ctr"/>
              </a:tabLst>
            </a:pPr>
            <a:r>
              <a:rPr lang="en-US" sz="1800" dirty="0"/>
              <a:t>The system is in a safe state since the sequence &lt; </a:t>
            </a:r>
            <a:r>
              <a:rPr lang="en-US" sz="1800" i="1" dirty="0"/>
              <a:t>P</a:t>
            </a:r>
            <a:r>
              <a:rPr lang="en-US" sz="1800" baseline="-25000" dirty="0"/>
              <a:t>1</a:t>
            </a:r>
            <a:r>
              <a:rPr lang="en-US" sz="1800" dirty="0"/>
              <a:t>, </a:t>
            </a:r>
            <a:r>
              <a:rPr lang="en-US" sz="1800" i="1" dirty="0"/>
              <a:t>P</a:t>
            </a:r>
            <a:r>
              <a:rPr lang="en-US" sz="1800" baseline="-25000" dirty="0"/>
              <a:t>3</a:t>
            </a:r>
            <a:r>
              <a:rPr lang="en-US" sz="1800" dirty="0"/>
              <a:t>, </a:t>
            </a:r>
            <a:r>
              <a:rPr lang="en-US" sz="1800" i="1" dirty="0"/>
              <a:t>P</a:t>
            </a:r>
            <a:r>
              <a:rPr lang="en-US" sz="1800" baseline="-25000" dirty="0"/>
              <a:t>4</a:t>
            </a:r>
            <a:r>
              <a:rPr lang="en-US" sz="1800" dirty="0"/>
              <a:t>, </a:t>
            </a:r>
            <a:r>
              <a:rPr lang="en-US" sz="1800" i="1" dirty="0"/>
              <a:t>P</a:t>
            </a:r>
            <a:r>
              <a:rPr lang="en-US" sz="1800" baseline="-25000" dirty="0"/>
              <a:t>2</a:t>
            </a:r>
            <a:r>
              <a:rPr lang="en-US" sz="1800" dirty="0"/>
              <a:t>, </a:t>
            </a:r>
            <a:r>
              <a:rPr lang="en-US" sz="1800" i="1" dirty="0"/>
              <a:t>P</a:t>
            </a:r>
            <a:r>
              <a:rPr lang="en-US" sz="1800" baseline="-25000" dirty="0"/>
              <a:t>0</a:t>
            </a:r>
            <a:r>
              <a:rPr lang="en-US" sz="1800" dirty="0"/>
              <a:t>&gt; satisfies safety criteria</a:t>
            </a:r>
            <a:endParaRPr lang="en-US" sz="1800" baseline="-25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Example:  </a:t>
            </a:r>
            <a:r>
              <a:rPr lang="en-US" sz="2800" i="1" dirty="0"/>
              <a:t>P</a:t>
            </a:r>
            <a:r>
              <a:rPr lang="en-US" sz="2800" baseline="-25000" dirty="0"/>
              <a:t>1</a:t>
            </a:r>
            <a:r>
              <a:rPr lang="en-US" sz="2800" dirty="0"/>
              <a:t> Request (1,0,2)</a:t>
            </a:r>
          </a:p>
        </p:txBody>
      </p:sp>
      <p:sp>
        <p:nvSpPr>
          <p:cNvPr id="4" name="Rectangle 3"/>
          <p:cNvSpPr>
            <a:spLocks noGrp="1" noChangeArrowheads="1"/>
          </p:cNvSpPr>
          <p:nvPr>
            <p:ph idx="1"/>
          </p:nvPr>
        </p:nvSpPr>
        <p:spPr/>
        <p:txBody>
          <a:bodyPr/>
          <a:lstStyle/>
          <a:p>
            <a:pPr>
              <a:buNone/>
              <a:tabLst>
                <a:tab pos="1544638" algn="l"/>
                <a:tab pos="2452688" algn="ctr"/>
                <a:tab pos="3767138" algn="ctr"/>
                <a:tab pos="5022850" algn="ctr"/>
              </a:tabLst>
            </a:pPr>
            <a:r>
              <a:rPr lang="en-US" sz="2000" dirty="0"/>
              <a:t>Check that Request </a:t>
            </a:r>
            <a:r>
              <a:rPr lang="en-US" sz="2000" dirty="0">
                <a:sym typeface="Symbol" pitchFamily="18" charset="2"/>
              </a:rPr>
              <a:t> Available (that is, (1,0,2)  (3,3,2)  true</a:t>
            </a:r>
            <a:endParaRPr lang="en-US" sz="2000" i="1" dirty="0">
              <a:sym typeface="Symbol" pitchFamily="18" charset="2"/>
            </a:endParaRPr>
          </a:p>
          <a:p>
            <a:pPr>
              <a:buFont typeface="Monotype Sorts" charset="2"/>
              <a:buNone/>
              <a:tabLst>
                <a:tab pos="1544638" algn="l"/>
                <a:tab pos="2452688" algn="ctr"/>
                <a:tab pos="3767138" algn="ctr"/>
                <a:tab pos="5022850" algn="ctr"/>
              </a:tabLst>
            </a:pPr>
            <a:r>
              <a:rPr lang="en-US" sz="2000" i="1" dirty="0"/>
              <a:t>			</a:t>
            </a:r>
            <a:r>
              <a:rPr lang="en-US" sz="2000" i="1" u="sng" dirty="0"/>
              <a:t>Allocation</a:t>
            </a:r>
            <a:r>
              <a:rPr lang="en-US" sz="2000" i="1" dirty="0"/>
              <a:t>	</a:t>
            </a:r>
            <a:r>
              <a:rPr lang="en-US" sz="2000" i="1" u="sng" dirty="0"/>
              <a:t>Need</a:t>
            </a:r>
            <a:r>
              <a:rPr lang="en-US" sz="2000" i="1" dirty="0"/>
              <a:t>	</a:t>
            </a:r>
            <a:r>
              <a:rPr lang="en-US" sz="2000" i="1" u="sng" dirty="0"/>
              <a:t>Available</a:t>
            </a:r>
            <a:endParaRPr lang="en-US" sz="2000" i="1" dirty="0"/>
          </a:p>
          <a:p>
            <a:pPr>
              <a:buFont typeface="Monotype Sorts" charset="2"/>
              <a:buNone/>
              <a:tabLst>
                <a:tab pos="1544638" algn="l"/>
                <a:tab pos="2452688" algn="ctr"/>
                <a:tab pos="3767138" algn="ctr"/>
                <a:tab pos="5022850" algn="ctr"/>
              </a:tabLst>
            </a:pPr>
            <a:r>
              <a:rPr lang="en-US" sz="2000" i="1" dirty="0"/>
              <a:t>			A B C	A B C	A B C </a:t>
            </a:r>
          </a:p>
          <a:p>
            <a:pPr>
              <a:buFont typeface="Monotype Sorts" charset="2"/>
              <a:buNone/>
              <a:tabLst>
                <a:tab pos="1544638" algn="l"/>
                <a:tab pos="2452688" algn="ctr"/>
                <a:tab pos="3767138" algn="ctr"/>
                <a:tab pos="5022850" algn="ctr"/>
              </a:tabLst>
            </a:pPr>
            <a:r>
              <a:rPr lang="en-US" sz="2000" dirty="0"/>
              <a:t>		</a:t>
            </a:r>
            <a:r>
              <a:rPr lang="en-US" sz="2000" i="1" dirty="0"/>
              <a:t>P</a:t>
            </a:r>
            <a:r>
              <a:rPr lang="en-US" sz="2000" baseline="-25000" dirty="0"/>
              <a:t>0</a:t>
            </a:r>
            <a:r>
              <a:rPr lang="en-US" sz="2000" dirty="0"/>
              <a:t>	0 1 0 	7 4 3 	2 3 0</a:t>
            </a:r>
          </a:p>
          <a:p>
            <a:pPr>
              <a:buFont typeface="Monotype Sorts" charset="2"/>
              <a:buNone/>
              <a:tabLst>
                <a:tab pos="1544638" algn="l"/>
                <a:tab pos="2452688" algn="ctr"/>
                <a:tab pos="3767138" algn="ctr"/>
                <a:tab pos="5022850" algn="ctr"/>
              </a:tabLst>
            </a:pPr>
            <a:r>
              <a:rPr lang="en-US" sz="2000" dirty="0"/>
              <a:t>		</a:t>
            </a:r>
            <a:r>
              <a:rPr lang="en-US" sz="2000" i="1" dirty="0"/>
              <a:t>P</a:t>
            </a:r>
            <a:r>
              <a:rPr lang="en-US" sz="2000" baseline="-25000" dirty="0"/>
              <a:t>1</a:t>
            </a:r>
            <a:r>
              <a:rPr lang="en-US" sz="2000" dirty="0"/>
              <a:t>	        3 0 2               0 2 0 	</a:t>
            </a:r>
          </a:p>
          <a:p>
            <a:pPr>
              <a:buFont typeface="Monotype Sorts" charset="2"/>
              <a:buNone/>
              <a:tabLst>
                <a:tab pos="1544638" algn="l"/>
                <a:tab pos="2452688" algn="ctr"/>
                <a:tab pos="3767138" algn="ctr"/>
                <a:tab pos="5022850" algn="ctr"/>
              </a:tabLst>
            </a:pPr>
            <a:r>
              <a:rPr lang="en-US" sz="2000" dirty="0"/>
              <a:t>		</a:t>
            </a:r>
            <a:r>
              <a:rPr lang="en-US" sz="2000" i="1" dirty="0"/>
              <a:t>P</a:t>
            </a:r>
            <a:r>
              <a:rPr lang="en-US" sz="2000" baseline="-25000" dirty="0"/>
              <a:t>2</a:t>
            </a:r>
            <a:r>
              <a:rPr lang="en-US" sz="2000" dirty="0"/>
              <a:t>	3 0 2 	6 0 0 </a:t>
            </a:r>
          </a:p>
          <a:p>
            <a:pPr>
              <a:buFont typeface="Monotype Sorts" charset="2"/>
              <a:buNone/>
              <a:tabLst>
                <a:tab pos="1544638" algn="l"/>
                <a:tab pos="2452688" algn="ctr"/>
                <a:tab pos="3767138" algn="ctr"/>
                <a:tab pos="5022850" algn="ctr"/>
              </a:tabLst>
            </a:pPr>
            <a:r>
              <a:rPr lang="en-US" sz="2000" dirty="0"/>
              <a:t>		</a:t>
            </a:r>
            <a:r>
              <a:rPr lang="en-US" sz="2000" i="1" dirty="0"/>
              <a:t>P</a:t>
            </a:r>
            <a:r>
              <a:rPr lang="en-US" sz="2000" baseline="-25000" dirty="0"/>
              <a:t>3</a:t>
            </a:r>
            <a:r>
              <a:rPr lang="en-US" sz="2000" dirty="0"/>
              <a:t>	2 1 1 	 0 1 1</a:t>
            </a:r>
          </a:p>
          <a:p>
            <a:pPr>
              <a:buFont typeface="Monotype Sorts" charset="2"/>
              <a:buNone/>
              <a:tabLst>
                <a:tab pos="1544638" algn="l"/>
                <a:tab pos="2452688" algn="ctr"/>
                <a:tab pos="3767138" algn="ctr"/>
                <a:tab pos="5022850" algn="ctr"/>
              </a:tabLst>
            </a:pPr>
            <a:r>
              <a:rPr lang="en-US" sz="2000" dirty="0"/>
              <a:t>		</a:t>
            </a:r>
            <a:r>
              <a:rPr lang="en-US" sz="2000" i="1" dirty="0"/>
              <a:t>P</a:t>
            </a:r>
            <a:r>
              <a:rPr lang="en-US" sz="2000" baseline="-25000" dirty="0"/>
              <a:t>4</a:t>
            </a:r>
            <a:r>
              <a:rPr lang="en-US" sz="2000" dirty="0"/>
              <a:t>	0 0 2 	 4 3 1 </a:t>
            </a:r>
            <a:endParaRPr lang="en-US" sz="900" dirty="0"/>
          </a:p>
          <a:p>
            <a:pPr>
              <a:tabLst>
                <a:tab pos="1544638" algn="l"/>
                <a:tab pos="2452688" algn="ctr"/>
                <a:tab pos="3767138" algn="ctr"/>
                <a:tab pos="5022850" algn="ctr"/>
              </a:tabLst>
            </a:pPr>
            <a:r>
              <a:rPr lang="en-US" sz="2000" dirty="0"/>
              <a:t>Executing safety algorithm shows that sequence &lt; </a:t>
            </a:r>
            <a:r>
              <a:rPr lang="en-US" sz="2000" i="1" dirty="0"/>
              <a:t>P</a:t>
            </a:r>
            <a:r>
              <a:rPr lang="en-US" sz="2000" baseline="-25000" dirty="0"/>
              <a:t>1</a:t>
            </a:r>
            <a:r>
              <a:rPr lang="en-US" sz="2000" dirty="0"/>
              <a:t>, </a:t>
            </a:r>
            <a:r>
              <a:rPr lang="en-US" sz="2000" i="1" dirty="0"/>
              <a:t>P</a:t>
            </a:r>
            <a:r>
              <a:rPr lang="en-US" sz="2000" baseline="-25000" dirty="0"/>
              <a:t>3</a:t>
            </a:r>
            <a:r>
              <a:rPr lang="en-US" sz="2000" dirty="0"/>
              <a:t>, </a:t>
            </a:r>
            <a:r>
              <a:rPr lang="en-US" sz="2000" i="1" dirty="0"/>
              <a:t>P</a:t>
            </a:r>
            <a:r>
              <a:rPr lang="en-US" sz="2000" baseline="-25000" dirty="0"/>
              <a:t>4</a:t>
            </a:r>
            <a:r>
              <a:rPr lang="en-US" sz="2000" dirty="0"/>
              <a:t>, </a:t>
            </a:r>
            <a:r>
              <a:rPr lang="en-US" sz="2000" i="1" dirty="0"/>
              <a:t>P</a:t>
            </a:r>
            <a:r>
              <a:rPr lang="en-US" sz="2000" baseline="-25000" dirty="0"/>
              <a:t>0</a:t>
            </a:r>
            <a:r>
              <a:rPr lang="en-US" sz="2000" dirty="0"/>
              <a:t>, </a:t>
            </a:r>
            <a:r>
              <a:rPr lang="en-US" sz="2000" i="1" dirty="0"/>
              <a:t>P</a:t>
            </a:r>
            <a:r>
              <a:rPr lang="en-US" sz="2000" baseline="-25000" dirty="0"/>
              <a:t>2</a:t>
            </a:r>
            <a:r>
              <a:rPr lang="en-US" sz="2000" dirty="0"/>
              <a:t>&gt; satisfies safety requirement</a:t>
            </a:r>
            <a:endParaRPr lang="en-US" sz="900" dirty="0"/>
          </a:p>
          <a:p>
            <a:pPr>
              <a:tabLst>
                <a:tab pos="1544638" algn="l"/>
                <a:tab pos="2452688" algn="ctr"/>
                <a:tab pos="3767138" algn="ctr"/>
                <a:tab pos="5022850" algn="ctr"/>
              </a:tabLst>
            </a:pPr>
            <a:r>
              <a:rPr lang="en-US" sz="2000" dirty="0"/>
              <a:t>Can request for (3,3,0) by </a:t>
            </a:r>
            <a:r>
              <a:rPr lang="en-US" sz="2000" i="1" dirty="0"/>
              <a:t>P</a:t>
            </a:r>
            <a:r>
              <a:rPr lang="en-US" sz="2000" baseline="-25000" dirty="0"/>
              <a:t>4</a:t>
            </a:r>
            <a:r>
              <a:rPr lang="en-US" sz="2000" dirty="0"/>
              <a:t> be granted?</a:t>
            </a:r>
            <a:endParaRPr lang="en-US" sz="900" dirty="0"/>
          </a:p>
          <a:p>
            <a:pPr>
              <a:tabLst>
                <a:tab pos="1544638" algn="l"/>
                <a:tab pos="2452688" algn="ctr"/>
                <a:tab pos="3767138" algn="ctr"/>
                <a:tab pos="5022850" algn="ctr"/>
              </a:tabLst>
            </a:pPr>
            <a:r>
              <a:rPr lang="en-US" sz="2000" dirty="0"/>
              <a:t>Can request for (0,2,0) by </a:t>
            </a:r>
            <a:r>
              <a:rPr lang="en-US" sz="2000" i="1" dirty="0"/>
              <a:t>P</a:t>
            </a:r>
            <a:r>
              <a:rPr lang="en-US" sz="2000" baseline="-25000" dirty="0"/>
              <a:t>0</a:t>
            </a:r>
            <a:r>
              <a:rPr lang="en-US" sz="2000" dirty="0"/>
              <a:t> be granted?</a:t>
            </a:r>
          </a:p>
          <a:p>
            <a:pPr>
              <a:buFont typeface="Monotype Sorts" charset="2"/>
              <a:buNone/>
              <a:tabLst>
                <a:tab pos="1544638" algn="l"/>
                <a:tab pos="2452688" algn="ctr"/>
                <a:tab pos="3767138" algn="ctr"/>
                <a:tab pos="5022850" algn="ctr"/>
              </a:tabLst>
            </a:pP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2800" dirty="0"/>
              <a:t>Deadlock Detection and Recovery</a:t>
            </a:r>
          </a:p>
        </p:txBody>
      </p:sp>
      <p:sp>
        <p:nvSpPr>
          <p:cNvPr id="4" name="Rectangle 3"/>
          <p:cNvSpPr>
            <a:spLocks noGrp="1" noChangeArrowheads="1"/>
          </p:cNvSpPr>
          <p:nvPr>
            <p:ph idx="1"/>
          </p:nvPr>
        </p:nvSpPr>
        <p:spPr/>
        <p:txBody>
          <a:bodyPr>
            <a:normAutofit/>
          </a:bodyPr>
          <a:lstStyle/>
          <a:p>
            <a:r>
              <a:rPr lang="en-US" sz="1800" dirty="0"/>
              <a:t>Allow system to enter deadlock state </a:t>
            </a:r>
            <a:br>
              <a:rPr lang="en-US" sz="1800" dirty="0"/>
            </a:br>
            <a:endParaRPr lang="en-US" sz="1800" dirty="0"/>
          </a:p>
          <a:p>
            <a:r>
              <a:rPr lang="en-US" sz="1800" dirty="0"/>
              <a:t>Detection algorithm</a:t>
            </a:r>
            <a:br>
              <a:rPr lang="en-US" sz="1800" dirty="0"/>
            </a:br>
            <a:endParaRPr lang="en-US" sz="1800" dirty="0"/>
          </a:p>
          <a:p>
            <a:r>
              <a:rPr lang="en-US" sz="1800" dirty="0"/>
              <a:t>Recovery scheme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09600" y="533400"/>
            <a:ext cx="7772400" cy="844550"/>
          </a:xfrm>
        </p:spPr>
        <p:txBody>
          <a:bodyPr>
            <a:normAutofit/>
          </a:bodyPr>
          <a:lstStyle/>
          <a:p>
            <a:pPr eaLnBrk="1" hangingPunct="1"/>
            <a:r>
              <a:rPr lang="en-US" sz="2800" dirty="0"/>
              <a:t>Single Instance of Each Resource Type</a:t>
            </a:r>
          </a:p>
        </p:txBody>
      </p:sp>
      <p:sp>
        <p:nvSpPr>
          <p:cNvPr id="36867" name="Rectangle 3"/>
          <p:cNvSpPr>
            <a:spLocks noGrp="1" noChangeArrowheads="1"/>
          </p:cNvSpPr>
          <p:nvPr>
            <p:ph type="body" idx="1"/>
          </p:nvPr>
        </p:nvSpPr>
        <p:spPr>
          <a:xfrm>
            <a:off x="685800" y="1752600"/>
            <a:ext cx="7585075" cy="4511675"/>
          </a:xfrm>
        </p:spPr>
        <p:txBody>
          <a:bodyPr>
            <a:normAutofit/>
          </a:bodyPr>
          <a:lstStyle/>
          <a:p>
            <a:r>
              <a:rPr lang="en-US" sz="1800" dirty="0"/>
              <a:t>Maintain </a:t>
            </a:r>
            <a:r>
              <a:rPr lang="en-US" sz="1800" i="1" dirty="0"/>
              <a:t>wait-for</a:t>
            </a:r>
            <a:r>
              <a:rPr lang="en-US" sz="1800" dirty="0"/>
              <a:t> graph</a:t>
            </a:r>
          </a:p>
          <a:p>
            <a:pPr lvl="1"/>
            <a:r>
              <a:rPr lang="en-US" sz="1800" dirty="0"/>
              <a:t>Nodes are processes</a:t>
            </a:r>
          </a:p>
          <a:p>
            <a:pPr lvl="1"/>
            <a:r>
              <a:rPr lang="en-US" sz="1800" i="1" dirty="0"/>
              <a:t>P</a:t>
            </a:r>
            <a:r>
              <a:rPr lang="en-US" sz="1800" i="1" baseline="-25000" dirty="0"/>
              <a:t>i</a:t>
            </a:r>
            <a:r>
              <a:rPr lang="en-US" sz="1800" dirty="0"/>
              <a:t> </a:t>
            </a:r>
            <a:r>
              <a:rPr lang="en-US" sz="1800" dirty="0">
                <a:sym typeface="Symbol" pitchFamily="18" charset="2"/>
              </a:rPr>
              <a:t> </a:t>
            </a:r>
            <a:r>
              <a:rPr lang="en-US" sz="1800" i="1" dirty="0" err="1">
                <a:sym typeface="Symbol" pitchFamily="18" charset="2"/>
              </a:rPr>
              <a:t>P</a:t>
            </a:r>
            <a:r>
              <a:rPr lang="en-US" sz="1800" i="1" baseline="-25000" dirty="0" err="1">
                <a:sym typeface="Symbol" pitchFamily="18" charset="2"/>
              </a:rPr>
              <a:t>j</a:t>
            </a:r>
            <a:r>
              <a:rPr lang="en-US" sz="1800" i="1" baseline="-25000" dirty="0">
                <a:sym typeface="Symbol" pitchFamily="18" charset="2"/>
              </a:rPr>
              <a:t>   </a:t>
            </a:r>
            <a:r>
              <a:rPr lang="en-US" sz="1800" dirty="0">
                <a:sym typeface="Symbol" pitchFamily="18" charset="2"/>
              </a:rPr>
              <a:t>if </a:t>
            </a:r>
            <a:r>
              <a:rPr lang="en-US" sz="1800" i="1" dirty="0">
                <a:sym typeface="Symbol" pitchFamily="18" charset="2"/>
              </a:rPr>
              <a:t>P</a:t>
            </a:r>
            <a:r>
              <a:rPr lang="en-US" sz="1800" i="1" baseline="-25000" dirty="0">
                <a:sym typeface="Symbol" pitchFamily="18" charset="2"/>
              </a:rPr>
              <a:t>i</a:t>
            </a:r>
            <a:r>
              <a:rPr lang="en-US" sz="1800" i="1" dirty="0">
                <a:sym typeface="Symbol" pitchFamily="18" charset="2"/>
              </a:rPr>
              <a:t> </a:t>
            </a:r>
            <a:r>
              <a:rPr lang="en-US" sz="1800" dirty="0">
                <a:sym typeface="Symbol" pitchFamily="18" charset="2"/>
              </a:rPr>
              <a:t>is waiting for</a:t>
            </a:r>
            <a:r>
              <a:rPr lang="en-US" sz="1800" i="1" dirty="0">
                <a:sym typeface="Symbol" pitchFamily="18" charset="2"/>
              </a:rPr>
              <a:t> </a:t>
            </a:r>
            <a:r>
              <a:rPr lang="en-US" sz="1800" i="1" dirty="0" err="1">
                <a:sym typeface="Symbol" pitchFamily="18" charset="2"/>
              </a:rPr>
              <a:t>P</a:t>
            </a:r>
            <a:r>
              <a:rPr lang="en-US" sz="1800" i="1" baseline="-25000" dirty="0" err="1">
                <a:sym typeface="Symbol" pitchFamily="18" charset="2"/>
              </a:rPr>
              <a:t>j</a:t>
            </a:r>
            <a:endParaRPr lang="en-US" sz="1800" i="1" dirty="0">
              <a:sym typeface="Symbol" pitchFamily="18" charset="2"/>
            </a:endParaRPr>
          </a:p>
          <a:p>
            <a:r>
              <a:rPr lang="en-US" sz="1800" dirty="0"/>
              <a:t>Periodically invoke an algorithm that searches for a cycle in the graph. If there is a cycle, there exists a deadlock</a:t>
            </a:r>
          </a:p>
          <a:p>
            <a:r>
              <a:rPr lang="en-US" sz="1800" dirty="0"/>
              <a:t>An algorithm to detect a cycle in a graph requires an order of</a:t>
            </a:r>
            <a:r>
              <a:rPr lang="en-US" sz="1800" i="1" dirty="0"/>
              <a:t> n</a:t>
            </a:r>
            <a:r>
              <a:rPr lang="en-US" sz="1800" baseline="30000" dirty="0"/>
              <a:t>2</a:t>
            </a:r>
            <a:r>
              <a:rPr lang="en-US" sz="1800" dirty="0"/>
              <a:t> operations, where </a:t>
            </a:r>
            <a:r>
              <a:rPr lang="en-US" sz="1800" i="1" dirty="0"/>
              <a:t>n</a:t>
            </a:r>
            <a:r>
              <a:rPr lang="en-US" sz="1800" dirty="0"/>
              <a:t> is the number of vertices in the graph</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89013" y="428625"/>
            <a:ext cx="7654925" cy="457200"/>
          </a:xfrm>
        </p:spPr>
        <p:txBody>
          <a:bodyPr>
            <a:normAutofit fontScale="90000"/>
          </a:bodyPr>
          <a:lstStyle/>
          <a:p>
            <a:pPr eaLnBrk="1" hangingPunct="1"/>
            <a:r>
              <a:rPr lang="en-US" sz="2800"/>
              <a:t>Resource-Allocation Graph and </a:t>
            </a:r>
            <a:br>
              <a:rPr lang="en-US" sz="2800"/>
            </a:br>
            <a:r>
              <a:rPr lang="en-US" sz="2800"/>
              <a:t>Wait-for Graph</a:t>
            </a:r>
          </a:p>
        </p:txBody>
      </p:sp>
      <p:sp>
        <p:nvSpPr>
          <p:cNvPr id="37891" name="Text Box 5"/>
          <p:cNvSpPr txBox="1">
            <a:spLocks noChangeArrowheads="1"/>
          </p:cNvSpPr>
          <p:nvPr/>
        </p:nvSpPr>
        <p:spPr bwMode="auto">
          <a:xfrm>
            <a:off x="1647825" y="5294313"/>
            <a:ext cx="2927350" cy="366712"/>
          </a:xfrm>
          <a:prstGeom prst="rect">
            <a:avLst/>
          </a:prstGeom>
          <a:noFill/>
          <a:ln w="9525">
            <a:noFill/>
            <a:miter lim="800000"/>
            <a:headEnd/>
            <a:tailEnd/>
          </a:ln>
        </p:spPr>
        <p:txBody>
          <a:bodyPr wrap="none" anchor="ctr">
            <a:spAutoFit/>
          </a:bodyPr>
          <a:lstStyle/>
          <a:p>
            <a:pPr algn="ctr">
              <a:spcBef>
                <a:spcPct val="50000"/>
              </a:spcBef>
            </a:pPr>
            <a:r>
              <a:rPr lang="en-US">
                <a:latin typeface="Helvetica" pitchFamily="34" charset="0"/>
              </a:rPr>
              <a:t>Resource-Allocation Graph</a:t>
            </a:r>
          </a:p>
        </p:txBody>
      </p:sp>
      <p:sp>
        <p:nvSpPr>
          <p:cNvPr id="37892" name="Text Box 6"/>
          <p:cNvSpPr txBox="1">
            <a:spLocks noChangeArrowheads="1"/>
          </p:cNvSpPr>
          <p:nvPr/>
        </p:nvSpPr>
        <p:spPr bwMode="auto">
          <a:xfrm>
            <a:off x="4810125" y="5294313"/>
            <a:ext cx="3143250" cy="366712"/>
          </a:xfrm>
          <a:prstGeom prst="rect">
            <a:avLst/>
          </a:prstGeom>
          <a:noFill/>
          <a:ln w="9525">
            <a:noFill/>
            <a:miter lim="800000"/>
            <a:headEnd/>
            <a:tailEnd/>
          </a:ln>
        </p:spPr>
        <p:txBody>
          <a:bodyPr wrap="none" anchor="ctr">
            <a:spAutoFit/>
          </a:bodyPr>
          <a:lstStyle/>
          <a:p>
            <a:pPr algn="ctr">
              <a:spcBef>
                <a:spcPct val="50000"/>
              </a:spcBef>
            </a:pPr>
            <a:r>
              <a:rPr lang="en-US">
                <a:latin typeface="Helvetica" pitchFamily="34" charset="0"/>
              </a:rPr>
              <a:t>Corresponding wait-for graph</a:t>
            </a:r>
          </a:p>
        </p:txBody>
      </p:sp>
      <p:pic>
        <p:nvPicPr>
          <p:cNvPr id="37893" name="Picture 6" descr="7"/>
          <p:cNvPicPr>
            <a:picLocks noChangeAspect="1" noChangeArrowheads="1"/>
          </p:cNvPicPr>
          <p:nvPr/>
        </p:nvPicPr>
        <p:blipFill>
          <a:blip r:embed="rId3"/>
          <a:srcRect/>
          <a:stretch>
            <a:fillRect/>
          </a:stretch>
        </p:blipFill>
        <p:spPr bwMode="auto">
          <a:xfrm>
            <a:off x="1876425" y="1257300"/>
            <a:ext cx="5937250" cy="3830638"/>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971550" y="225425"/>
            <a:ext cx="7772400" cy="628650"/>
          </a:xfrm>
        </p:spPr>
        <p:txBody>
          <a:bodyPr>
            <a:normAutofit/>
          </a:bodyPr>
          <a:lstStyle/>
          <a:p>
            <a:pPr eaLnBrk="1" hangingPunct="1"/>
            <a:r>
              <a:rPr lang="en-US" sz="2800" dirty="0"/>
              <a:t>Several Instances of a Resource Type</a:t>
            </a:r>
          </a:p>
        </p:txBody>
      </p:sp>
      <p:sp>
        <p:nvSpPr>
          <p:cNvPr id="38915" name="Rectangle 3"/>
          <p:cNvSpPr>
            <a:spLocks noGrp="1" noChangeArrowheads="1"/>
          </p:cNvSpPr>
          <p:nvPr>
            <p:ph type="body" idx="1"/>
          </p:nvPr>
        </p:nvSpPr>
        <p:spPr>
          <a:xfrm>
            <a:off x="835025" y="1344613"/>
            <a:ext cx="8008938" cy="3851275"/>
          </a:xfrm>
        </p:spPr>
        <p:txBody>
          <a:bodyPr>
            <a:normAutofit/>
          </a:bodyPr>
          <a:lstStyle/>
          <a:p>
            <a:r>
              <a:rPr lang="en-US" sz="1800" b="1" dirty="0">
                <a:solidFill>
                  <a:srgbClr val="FF0000"/>
                </a:solidFill>
              </a:rPr>
              <a:t>Available</a:t>
            </a:r>
            <a:r>
              <a:rPr lang="en-US" sz="1800" i="1" dirty="0"/>
              <a:t>:</a:t>
            </a:r>
            <a:r>
              <a:rPr lang="en-US" sz="1800" dirty="0"/>
              <a:t>  A vector of length </a:t>
            </a:r>
            <a:r>
              <a:rPr lang="en-US" sz="1800" i="1" dirty="0"/>
              <a:t>m</a:t>
            </a:r>
            <a:r>
              <a:rPr lang="en-US" sz="1800" dirty="0"/>
              <a:t> indicates the number of available resources of each type.</a:t>
            </a:r>
          </a:p>
          <a:p>
            <a:r>
              <a:rPr lang="en-US" sz="1800" b="1" dirty="0">
                <a:solidFill>
                  <a:srgbClr val="FF0000"/>
                </a:solidFill>
              </a:rPr>
              <a:t>Allocation</a:t>
            </a:r>
            <a:r>
              <a:rPr lang="en-US" sz="1800" i="1" dirty="0"/>
              <a:t>:</a:t>
            </a:r>
            <a:r>
              <a:rPr lang="en-US" sz="1800" dirty="0"/>
              <a:t>  An </a:t>
            </a:r>
            <a:r>
              <a:rPr lang="en-US" sz="1800" i="1" dirty="0"/>
              <a:t>n </a:t>
            </a:r>
            <a:r>
              <a:rPr lang="en-US" sz="1800" dirty="0"/>
              <a:t>x</a:t>
            </a:r>
            <a:r>
              <a:rPr lang="en-US" sz="1800" i="1" dirty="0"/>
              <a:t> m</a:t>
            </a:r>
            <a:r>
              <a:rPr lang="en-US" sz="1800" dirty="0"/>
              <a:t> matrix defines the number of resources of each type currently allocated to each process.</a:t>
            </a:r>
          </a:p>
          <a:p>
            <a:r>
              <a:rPr lang="en-US" sz="1800" b="1" dirty="0">
                <a:solidFill>
                  <a:srgbClr val="FF0000"/>
                </a:solidFill>
              </a:rPr>
              <a:t>Request</a:t>
            </a:r>
            <a:r>
              <a:rPr lang="en-US" sz="1800" i="1" dirty="0"/>
              <a:t>:</a:t>
            </a:r>
            <a:r>
              <a:rPr lang="en-US" sz="1800" dirty="0"/>
              <a:t>  An </a:t>
            </a:r>
            <a:r>
              <a:rPr lang="en-US" sz="1800" i="1" dirty="0"/>
              <a:t>n </a:t>
            </a:r>
            <a:r>
              <a:rPr lang="en-US" sz="1800" dirty="0"/>
              <a:t>x</a:t>
            </a:r>
            <a:r>
              <a:rPr lang="en-US" sz="1800" i="1" dirty="0"/>
              <a:t> m</a:t>
            </a:r>
            <a:r>
              <a:rPr lang="en-US" sz="1800" dirty="0"/>
              <a:t> matrix indicates the current request  of each process.  If </a:t>
            </a:r>
            <a:r>
              <a:rPr lang="en-US" sz="1800" i="1" dirty="0"/>
              <a:t>Request </a:t>
            </a:r>
            <a:r>
              <a:rPr lang="en-US" sz="1800" dirty="0"/>
              <a:t>[</a:t>
            </a:r>
            <a:r>
              <a:rPr lang="en-US" sz="1800" i="1" dirty="0" err="1"/>
              <a:t>i</a:t>
            </a:r>
            <a:r>
              <a:rPr lang="en-US" sz="1800" dirty="0"/>
              <a:t>][</a:t>
            </a:r>
            <a:r>
              <a:rPr lang="en-US" sz="1800" i="1" dirty="0"/>
              <a:t>j</a:t>
            </a:r>
            <a:r>
              <a:rPr lang="en-US" sz="1800" dirty="0"/>
              <a:t>] = </a:t>
            </a:r>
            <a:r>
              <a:rPr lang="en-US" sz="1800" i="1" dirty="0"/>
              <a:t>k</a:t>
            </a:r>
            <a:r>
              <a:rPr lang="en-US" sz="1800" dirty="0"/>
              <a:t>, then process</a:t>
            </a:r>
            <a:r>
              <a:rPr lang="en-US" sz="1800" i="1" dirty="0"/>
              <a:t> P</a:t>
            </a:r>
            <a:r>
              <a:rPr lang="en-US" sz="1800" i="1" baseline="-25000" dirty="0"/>
              <a:t>i</a:t>
            </a:r>
            <a:r>
              <a:rPr lang="en-US" sz="1800" dirty="0"/>
              <a:t> is requesting</a:t>
            </a:r>
            <a:r>
              <a:rPr lang="en-US" sz="1800" i="1" dirty="0"/>
              <a:t> k</a:t>
            </a:r>
            <a:r>
              <a:rPr lang="en-US" sz="1800" dirty="0"/>
              <a:t> more instances of resource </a:t>
            </a:r>
            <a:r>
              <a:rPr lang="en-US" sz="1800" dirty="0" err="1"/>
              <a:t>type.</a:t>
            </a:r>
            <a:r>
              <a:rPr lang="en-US" sz="1800" i="1" dirty="0" err="1"/>
              <a:t>R</a:t>
            </a:r>
            <a:r>
              <a:rPr lang="en-US" sz="1800" i="1" baseline="-25000" dirty="0" err="1"/>
              <a:t>j</a:t>
            </a:r>
            <a:r>
              <a:rPr lang="en-US" sz="1800" dirty="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787400" y="277813"/>
            <a:ext cx="7899400" cy="576262"/>
          </a:xfrm>
        </p:spPr>
        <p:txBody>
          <a:bodyPr>
            <a:normAutofit/>
          </a:bodyPr>
          <a:lstStyle/>
          <a:p>
            <a:pPr eaLnBrk="1" hangingPunct="1"/>
            <a:r>
              <a:rPr lang="en-US"/>
              <a:t>Detection Algorithm</a:t>
            </a:r>
          </a:p>
        </p:txBody>
      </p:sp>
      <p:sp>
        <p:nvSpPr>
          <p:cNvPr id="39939" name="Rectangle 3"/>
          <p:cNvSpPr>
            <a:spLocks noGrp="1" noChangeArrowheads="1"/>
          </p:cNvSpPr>
          <p:nvPr>
            <p:ph type="body" idx="1"/>
          </p:nvPr>
        </p:nvSpPr>
        <p:spPr>
          <a:xfrm>
            <a:off x="806450" y="1260475"/>
            <a:ext cx="7753350" cy="4530725"/>
          </a:xfrm>
        </p:spPr>
        <p:txBody>
          <a:bodyPr>
            <a:normAutofit fontScale="92500" lnSpcReduction="10000"/>
          </a:bodyPr>
          <a:lstStyle/>
          <a:p>
            <a:pPr>
              <a:buFont typeface="Monotype Sorts" charset="2"/>
              <a:buNone/>
            </a:pPr>
            <a:r>
              <a:rPr lang="en-US" sz="1800" dirty="0"/>
              <a:t>1.	Let </a:t>
            </a:r>
            <a:r>
              <a:rPr lang="en-US" sz="1800" i="1" dirty="0">
                <a:solidFill>
                  <a:srgbClr val="FF0000"/>
                </a:solidFill>
              </a:rPr>
              <a:t>Work</a:t>
            </a:r>
            <a:r>
              <a:rPr lang="en-US" sz="1800" dirty="0"/>
              <a:t> and </a:t>
            </a:r>
            <a:r>
              <a:rPr lang="en-US" sz="1800" i="1" dirty="0">
                <a:solidFill>
                  <a:srgbClr val="FF0000"/>
                </a:solidFill>
              </a:rPr>
              <a:t>Finish</a:t>
            </a:r>
            <a:r>
              <a:rPr lang="en-US" sz="1800" dirty="0"/>
              <a:t> be vectors of length </a:t>
            </a:r>
            <a:r>
              <a:rPr lang="en-US" sz="1800" i="1" dirty="0"/>
              <a:t>m</a:t>
            </a:r>
            <a:r>
              <a:rPr lang="en-US" sz="1800" dirty="0"/>
              <a:t> and </a:t>
            </a:r>
            <a:r>
              <a:rPr lang="en-US" sz="1800" i="1" dirty="0"/>
              <a:t>n</a:t>
            </a:r>
            <a:r>
              <a:rPr lang="en-US" sz="1800" dirty="0"/>
              <a:t>, respectively Initialize:</a:t>
            </a:r>
          </a:p>
          <a:p>
            <a:pPr marL="850900" lvl="1" indent="-393700">
              <a:buFont typeface="Monotype Sorts" charset="2"/>
              <a:buNone/>
            </a:pPr>
            <a:r>
              <a:rPr lang="en-US" sz="1800" dirty="0"/>
              <a:t>(a) </a:t>
            </a:r>
            <a:r>
              <a:rPr lang="en-US" sz="1800" i="1" dirty="0"/>
              <a:t>Work</a:t>
            </a:r>
            <a:r>
              <a:rPr lang="en-US" sz="1800" dirty="0"/>
              <a:t> = </a:t>
            </a:r>
            <a:r>
              <a:rPr lang="en-US" sz="1800" i="1" dirty="0"/>
              <a:t>Available</a:t>
            </a:r>
            <a:endParaRPr lang="en-US" sz="1800" dirty="0"/>
          </a:p>
          <a:p>
            <a:pPr marL="850900" lvl="1" indent="-393700">
              <a:buFont typeface="Monotype Sorts" charset="2"/>
              <a:buNone/>
            </a:pPr>
            <a:r>
              <a:rPr lang="en-US" sz="1800" dirty="0"/>
              <a:t>(b)	For </a:t>
            </a:r>
            <a:r>
              <a:rPr lang="en-US" sz="1800" i="1" dirty="0" err="1"/>
              <a:t>i</a:t>
            </a:r>
            <a:r>
              <a:rPr lang="en-US" sz="1800" dirty="0"/>
              <a:t> = 1,2, …,</a:t>
            </a:r>
            <a:r>
              <a:rPr lang="en-US" sz="1800" i="1" dirty="0"/>
              <a:t> n</a:t>
            </a:r>
            <a:r>
              <a:rPr lang="en-US" sz="1800" dirty="0"/>
              <a:t>, if </a:t>
            </a:r>
            <a:r>
              <a:rPr lang="en-US" sz="1800" i="1" dirty="0" err="1"/>
              <a:t>Allocation</a:t>
            </a:r>
            <a:r>
              <a:rPr lang="en-US" sz="1800" i="1" baseline="-25000" dirty="0" err="1"/>
              <a:t>i</a:t>
            </a:r>
            <a:r>
              <a:rPr lang="en-US" sz="1800" dirty="0"/>
              <a:t> </a:t>
            </a:r>
            <a:r>
              <a:rPr lang="en-US" sz="1800" dirty="0">
                <a:sym typeface="Symbol" pitchFamily="18" charset="2"/>
              </a:rPr>
              <a:t> 0, then </a:t>
            </a:r>
            <a:br>
              <a:rPr lang="en-US" sz="1800" dirty="0">
                <a:sym typeface="Symbol" pitchFamily="18" charset="2"/>
              </a:rPr>
            </a:br>
            <a:r>
              <a:rPr lang="en-US" sz="1800" i="1" dirty="0">
                <a:sym typeface="Symbol" pitchFamily="18" charset="2"/>
              </a:rPr>
              <a:t>Finish</a:t>
            </a:r>
            <a:r>
              <a:rPr lang="en-US" sz="1800" dirty="0">
                <a:sym typeface="Symbol" pitchFamily="18" charset="2"/>
              </a:rPr>
              <a:t>[</a:t>
            </a:r>
            <a:r>
              <a:rPr lang="en-US" sz="1800" dirty="0" err="1">
                <a:sym typeface="Symbol" pitchFamily="18" charset="2"/>
              </a:rPr>
              <a:t>i</a:t>
            </a:r>
            <a:r>
              <a:rPr lang="en-US" sz="1800" dirty="0">
                <a:sym typeface="Symbol" pitchFamily="18" charset="2"/>
              </a:rPr>
              <a:t>] = false; otherwise, </a:t>
            </a:r>
            <a:r>
              <a:rPr lang="en-US" sz="1800" i="1" dirty="0">
                <a:sym typeface="Symbol" pitchFamily="18" charset="2"/>
              </a:rPr>
              <a:t>Finish</a:t>
            </a:r>
            <a:r>
              <a:rPr lang="en-US" sz="1800" dirty="0">
                <a:sym typeface="Symbol" pitchFamily="18" charset="2"/>
              </a:rPr>
              <a:t>[</a:t>
            </a:r>
            <a:r>
              <a:rPr lang="en-US" sz="1800" dirty="0" err="1">
                <a:sym typeface="Symbol" pitchFamily="18" charset="2"/>
              </a:rPr>
              <a:t>i</a:t>
            </a:r>
            <a:r>
              <a:rPr lang="en-US" sz="1800" dirty="0">
                <a:sym typeface="Symbol" pitchFamily="18" charset="2"/>
              </a:rPr>
              <a:t>] = </a:t>
            </a:r>
            <a:r>
              <a:rPr lang="en-US" sz="1800" i="1" dirty="0">
                <a:sym typeface="Symbol" pitchFamily="18" charset="2"/>
              </a:rPr>
              <a:t>true</a:t>
            </a:r>
            <a:endParaRPr lang="en-US" sz="1800" dirty="0">
              <a:sym typeface="Symbol" pitchFamily="18" charset="2"/>
            </a:endParaRPr>
          </a:p>
          <a:p>
            <a:pPr>
              <a:buFont typeface="Monotype Sorts" charset="2"/>
              <a:buNone/>
            </a:pPr>
            <a:r>
              <a:rPr lang="en-US" sz="1800" dirty="0"/>
              <a:t>2.	Find an index </a:t>
            </a:r>
            <a:r>
              <a:rPr lang="en-US" sz="1800" i="1" dirty="0" err="1"/>
              <a:t>i</a:t>
            </a:r>
            <a:r>
              <a:rPr lang="en-US" sz="1800" i="1" dirty="0"/>
              <a:t> </a:t>
            </a:r>
            <a:r>
              <a:rPr lang="en-US" sz="1800" dirty="0"/>
              <a:t>such that both:</a:t>
            </a:r>
          </a:p>
          <a:p>
            <a:pPr marL="850900" lvl="1" indent="-393700">
              <a:buFont typeface="Monotype Sorts" charset="2"/>
              <a:buNone/>
            </a:pPr>
            <a:r>
              <a:rPr lang="en-US" sz="1800" dirty="0"/>
              <a:t>(a)	</a:t>
            </a:r>
            <a:r>
              <a:rPr lang="en-US" sz="1800" i="1" dirty="0"/>
              <a:t>Finish</a:t>
            </a:r>
            <a:r>
              <a:rPr lang="en-US" sz="1800" dirty="0"/>
              <a:t>[</a:t>
            </a:r>
            <a:r>
              <a:rPr lang="en-US" sz="1800" i="1" dirty="0" err="1"/>
              <a:t>i</a:t>
            </a:r>
            <a:r>
              <a:rPr lang="en-US" sz="1800" dirty="0"/>
              <a:t>] == </a:t>
            </a:r>
            <a:r>
              <a:rPr lang="en-US" sz="1800" i="1" dirty="0"/>
              <a:t>false</a:t>
            </a:r>
            <a:endParaRPr lang="en-US" sz="1800" dirty="0"/>
          </a:p>
          <a:p>
            <a:pPr marL="850900" lvl="1" indent="-393700">
              <a:buFont typeface="Monotype Sorts" charset="2"/>
              <a:buNone/>
            </a:pPr>
            <a:r>
              <a:rPr lang="en-US" sz="1800" dirty="0"/>
              <a:t>(b)	</a:t>
            </a:r>
            <a:r>
              <a:rPr lang="en-US" sz="1800" i="1" dirty="0" err="1"/>
              <a:t>Request</a:t>
            </a:r>
            <a:r>
              <a:rPr lang="en-US" sz="1800" i="1" baseline="-25000" dirty="0" err="1"/>
              <a:t>i</a:t>
            </a:r>
            <a:r>
              <a:rPr lang="en-US" sz="1800" dirty="0"/>
              <a:t> </a:t>
            </a:r>
            <a:r>
              <a:rPr lang="en-US" sz="1800" dirty="0">
                <a:sym typeface="Symbol" pitchFamily="18" charset="2"/>
              </a:rPr>
              <a:t> </a:t>
            </a:r>
            <a:r>
              <a:rPr lang="en-US" sz="1800" i="1" dirty="0">
                <a:sym typeface="Symbol" pitchFamily="18" charset="2"/>
              </a:rPr>
              <a:t>Work</a:t>
            </a:r>
            <a:endParaRPr lang="en-US" sz="1800" dirty="0">
              <a:sym typeface="Symbol" pitchFamily="18" charset="2"/>
            </a:endParaRPr>
          </a:p>
          <a:p>
            <a:pPr marL="850900" lvl="1" indent="-393700">
              <a:buFont typeface="Monotype Sorts" charset="2"/>
              <a:buNone/>
            </a:pPr>
            <a:r>
              <a:rPr lang="en-US" sz="1800" dirty="0">
                <a:sym typeface="Symbol" pitchFamily="18" charset="2"/>
              </a:rPr>
              <a:t>If no such </a:t>
            </a:r>
            <a:r>
              <a:rPr lang="en-US" sz="1800" i="1" dirty="0" err="1">
                <a:sym typeface="Symbol" pitchFamily="18" charset="2"/>
              </a:rPr>
              <a:t>i</a:t>
            </a:r>
            <a:r>
              <a:rPr lang="en-US" sz="1800" dirty="0">
                <a:sym typeface="Symbol" pitchFamily="18" charset="2"/>
              </a:rPr>
              <a:t> exists, go to step 4</a:t>
            </a:r>
          </a:p>
          <a:p>
            <a:pPr>
              <a:lnSpc>
                <a:spcPct val="90000"/>
              </a:lnSpc>
              <a:buFont typeface="Monotype Sorts" charset="2"/>
              <a:buNone/>
            </a:pPr>
            <a:r>
              <a:rPr lang="en-US" sz="1800" dirty="0"/>
              <a:t>3.	</a:t>
            </a:r>
            <a:r>
              <a:rPr lang="en-US" sz="1800" i="1" dirty="0"/>
              <a:t>Work</a:t>
            </a:r>
            <a:r>
              <a:rPr lang="en-US" sz="1800" dirty="0"/>
              <a:t> = </a:t>
            </a:r>
            <a:r>
              <a:rPr lang="en-US" sz="1800" i="1" dirty="0"/>
              <a:t>Work</a:t>
            </a:r>
            <a:r>
              <a:rPr lang="en-US" sz="1800" dirty="0"/>
              <a:t> + </a:t>
            </a:r>
            <a:r>
              <a:rPr lang="en-US" sz="1800" i="1" dirty="0" err="1"/>
              <a:t>Allocation</a:t>
            </a:r>
            <a:r>
              <a:rPr lang="en-US" sz="1800" i="1" baseline="-25000" dirty="0" err="1"/>
              <a:t>i</a:t>
            </a:r>
            <a:br>
              <a:rPr lang="en-US" sz="1800" dirty="0"/>
            </a:br>
            <a:r>
              <a:rPr lang="en-US" sz="1800" i="1" dirty="0"/>
              <a:t>Finish</a:t>
            </a:r>
            <a:r>
              <a:rPr lang="en-US" sz="1800" dirty="0"/>
              <a:t>[</a:t>
            </a:r>
            <a:r>
              <a:rPr lang="en-US" sz="1800" i="1" dirty="0" err="1"/>
              <a:t>i</a:t>
            </a:r>
            <a:r>
              <a:rPr lang="en-US" sz="1800" dirty="0"/>
              <a:t>] = </a:t>
            </a:r>
            <a:r>
              <a:rPr lang="en-US" sz="1800" i="1" dirty="0"/>
              <a:t>true</a:t>
            </a:r>
            <a:br>
              <a:rPr lang="en-US" sz="1800" dirty="0"/>
            </a:br>
            <a:r>
              <a:rPr lang="en-US" sz="1800" dirty="0"/>
              <a:t>go to step 2</a:t>
            </a:r>
          </a:p>
          <a:p>
            <a:pPr marL="514350" indent="-514350">
              <a:lnSpc>
                <a:spcPct val="90000"/>
              </a:lnSpc>
              <a:buFont typeface="Monotype Sorts" charset="2"/>
              <a:buAutoNum type="arabicPeriod" startAt="4"/>
            </a:pPr>
            <a:r>
              <a:rPr lang="en-US" sz="1800" dirty="0"/>
              <a:t>If </a:t>
            </a:r>
            <a:r>
              <a:rPr lang="en-US" sz="1800" i="1" dirty="0"/>
              <a:t>Finish</a:t>
            </a:r>
            <a:r>
              <a:rPr lang="en-US" sz="1800" dirty="0"/>
              <a:t>[</a:t>
            </a:r>
            <a:r>
              <a:rPr lang="en-US" sz="1800" i="1" dirty="0" err="1"/>
              <a:t>i</a:t>
            </a:r>
            <a:r>
              <a:rPr lang="en-US" sz="1800" dirty="0"/>
              <a:t>] == false, for some </a:t>
            </a:r>
            <a:r>
              <a:rPr lang="en-US" sz="1800" i="1" dirty="0" err="1"/>
              <a:t>i</a:t>
            </a:r>
            <a:r>
              <a:rPr lang="en-US" sz="1800" dirty="0"/>
              <a:t>, 1 </a:t>
            </a:r>
            <a:r>
              <a:rPr lang="en-US" sz="1800" dirty="0">
                <a:sym typeface="Symbol" pitchFamily="18" charset="2"/>
              </a:rPr>
              <a:t> </a:t>
            </a:r>
            <a:r>
              <a:rPr lang="en-US" sz="1800" i="1" dirty="0" err="1">
                <a:sym typeface="Symbol" pitchFamily="18" charset="2"/>
              </a:rPr>
              <a:t>i</a:t>
            </a:r>
            <a:r>
              <a:rPr lang="en-US" sz="1800" dirty="0">
                <a:sym typeface="Symbol" pitchFamily="18" charset="2"/>
              </a:rPr>
              <a:t>   </a:t>
            </a:r>
            <a:r>
              <a:rPr lang="en-US" sz="1800" i="1" dirty="0">
                <a:sym typeface="Symbol" pitchFamily="18" charset="2"/>
              </a:rPr>
              <a:t>n</a:t>
            </a:r>
            <a:r>
              <a:rPr lang="en-US" sz="1800" dirty="0">
                <a:sym typeface="Symbol" pitchFamily="18" charset="2"/>
              </a:rPr>
              <a:t>, then the system is in deadlock state. Moreover, if </a:t>
            </a:r>
            <a:r>
              <a:rPr lang="en-US" sz="1800" i="1" dirty="0">
                <a:sym typeface="Symbol" pitchFamily="18" charset="2"/>
              </a:rPr>
              <a:t>Finish</a:t>
            </a:r>
            <a:r>
              <a:rPr lang="en-US" sz="1800" dirty="0">
                <a:sym typeface="Symbol" pitchFamily="18" charset="2"/>
              </a:rPr>
              <a:t>[</a:t>
            </a:r>
            <a:r>
              <a:rPr lang="en-US" sz="1800" i="1" dirty="0" err="1">
                <a:sym typeface="Symbol" pitchFamily="18" charset="2"/>
              </a:rPr>
              <a:t>i</a:t>
            </a:r>
            <a:r>
              <a:rPr lang="en-US" sz="1800" dirty="0">
                <a:sym typeface="Symbol" pitchFamily="18" charset="2"/>
              </a:rPr>
              <a:t>] == </a:t>
            </a:r>
            <a:r>
              <a:rPr lang="en-US" sz="1800" i="1" dirty="0">
                <a:sym typeface="Symbol" pitchFamily="18" charset="2"/>
              </a:rPr>
              <a:t>false</a:t>
            </a:r>
            <a:r>
              <a:rPr lang="en-US" sz="1800" dirty="0">
                <a:sym typeface="Symbol" pitchFamily="18" charset="2"/>
              </a:rPr>
              <a:t>, then </a:t>
            </a:r>
            <a:r>
              <a:rPr lang="en-US" sz="1800" i="1" dirty="0">
                <a:sym typeface="Symbol" pitchFamily="18" charset="2"/>
              </a:rPr>
              <a:t>P</a:t>
            </a:r>
            <a:r>
              <a:rPr lang="en-US" sz="1800" i="1" baseline="-25000" dirty="0">
                <a:sym typeface="Symbol" pitchFamily="18" charset="2"/>
              </a:rPr>
              <a:t>i</a:t>
            </a:r>
            <a:r>
              <a:rPr lang="en-US" sz="1800" dirty="0">
                <a:sym typeface="Symbol" pitchFamily="18" charset="2"/>
              </a:rPr>
              <a:t> is deadlocked</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22350" y="277813"/>
            <a:ext cx="7664450" cy="576262"/>
          </a:xfrm>
        </p:spPr>
        <p:txBody>
          <a:bodyPr>
            <a:normAutofit/>
          </a:bodyPr>
          <a:lstStyle/>
          <a:p>
            <a:pPr eaLnBrk="1" hangingPunct="1"/>
            <a:r>
              <a:rPr lang="en-US"/>
              <a:t>Example of Detection Algorithm</a:t>
            </a:r>
          </a:p>
        </p:txBody>
      </p:sp>
      <p:sp>
        <p:nvSpPr>
          <p:cNvPr id="41987" name="Rectangle 3"/>
          <p:cNvSpPr>
            <a:spLocks noGrp="1" noChangeArrowheads="1"/>
          </p:cNvSpPr>
          <p:nvPr>
            <p:ph type="body" idx="1"/>
          </p:nvPr>
        </p:nvSpPr>
        <p:spPr>
          <a:xfrm>
            <a:off x="806450" y="1233488"/>
            <a:ext cx="8037513" cy="5121275"/>
          </a:xfrm>
        </p:spPr>
        <p:txBody>
          <a:bodyPr/>
          <a:lstStyle/>
          <a:p>
            <a:pPr>
              <a:tabLst>
                <a:tab pos="1428750" algn="l"/>
                <a:tab pos="2338388" algn="ctr"/>
                <a:tab pos="3594100" algn="ctr"/>
                <a:tab pos="4921250" algn="ctr"/>
              </a:tabLst>
            </a:pPr>
            <a:r>
              <a:rPr lang="en-US" sz="2000"/>
              <a:t>Five processes </a:t>
            </a:r>
            <a:r>
              <a:rPr lang="en-US" sz="2000" i="1"/>
              <a:t>P</a:t>
            </a:r>
            <a:r>
              <a:rPr lang="en-US" sz="2000" baseline="-25000"/>
              <a:t>0</a:t>
            </a:r>
            <a:r>
              <a:rPr lang="en-US" sz="2000"/>
              <a:t> through </a:t>
            </a:r>
            <a:r>
              <a:rPr lang="en-US" sz="2000" i="1"/>
              <a:t>P</a:t>
            </a:r>
            <a:r>
              <a:rPr lang="en-US" sz="2000" baseline="-25000"/>
              <a:t>4</a:t>
            </a:r>
            <a:r>
              <a:rPr lang="en-US" sz="2000"/>
              <a:t>;</a:t>
            </a:r>
            <a:r>
              <a:rPr lang="en-US" sz="2000" baseline="-25000"/>
              <a:t> </a:t>
            </a:r>
            <a:r>
              <a:rPr lang="en-US" sz="2000"/>
              <a:t>three resource types </a:t>
            </a:r>
            <a:br>
              <a:rPr lang="en-US" sz="2000"/>
            </a:br>
            <a:r>
              <a:rPr lang="en-US" sz="2000"/>
              <a:t>A (7 instances), </a:t>
            </a:r>
            <a:r>
              <a:rPr lang="en-US" sz="2000" i="1"/>
              <a:t>B </a:t>
            </a:r>
            <a:r>
              <a:rPr lang="en-US" sz="2000"/>
              <a:t>(2 instances), and </a:t>
            </a:r>
            <a:r>
              <a:rPr lang="en-US" sz="2000" i="1"/>
              <a:t>C</a:t>
            </a:r>
            <a:r>
              <a:rPr lang="en-US" sz="2000"/>
              <a:t> (6 instances)</a:t>
            </a:r>
          </a:p>
          <a:p>
            <a:pPr>
              <a:tabLst>
                <a:tab pos="1428750" algn="l"/>
                <a:tab pos="2338388" algn="ctr"/>
                <a:tab pos="3594100" algn="ctr"/>
                <a:tab pos="4921250" algn="ctr"/>
              </a:tabLst>
            </a:pPr>
            <a:r>
              <a:rPr lang="en-US" sz="2000"/>
              <a:t>Snapshot at time </a:t>
            </a:r>
            <a:r>
              <a:rPr lang="en-US" sz="2000" i="1"/>
              <a:t>T</a:t>
            </a:r>
            <a:r>
              <a:rPr lang="en-US" sz="2000" baseline="-25000"/>
              <a:t>0</a:t>
            </a:r>
            <a:r>
              <a:rPr lang="en-US" sz="2000"/>
              <a:t>:</a:t>
            </a:r>
          </a:p>
          <a:p>
            <a:pPr>
              <a:buFont typeface="Monotype Sorts" charset="2"/>
              <a:buNone/>
              <a:tabLst>
                <a:tab pos="1428750" algn="l"/>
                <a:tab pos="2338388" algn="ctr"/>
                <a:tab pos="3594100" algn="ctr"/>
                <a:tab pos="4921250" algn="ctr"/>
              </a:tabLst>
            </a:pPr>
            <a:r>
              <a:rPr lang="en-US" sz="2000"/>
              <a:t>			 </a:t>
            </a:r>
            <a:r>
              <a:rPr lang="en-US" sz="2000" i="1" u="sng"/>
              <a:t>Allocation</a:t>
            </a:r>
            <a:r>
              <a:rPr lang="en-US" sz="2000" i="1"/>
              <a:t>	</a:t>
            </a:r>
            <a:r>
              <a:rPr lang="en-US" sz="2000" i="1" u="sng"/>
              <a:t>Request</a:t>
            </a:r>
            <a:r>
              <a:rPr lang="en-US" sz="2000" i="1"/>
              <a:t>	</a:t>
            </a:r>
            <a:r>
              <a:rPr lang="en-US" sz="2000" i="1" u="sng"/>
              <a:t>Available</a:t>
            </a:r>
          </a:p>
          <a:p>
            <a:pPr>
              <a:buFont typeface="Monotype Sorts" charset="2"/>
              <a:buNone/>
              <a:tabLst>
                <a:tab pos="1428750" algn="l"/>
                <a:tab pos="2338388" algn="ctr"/>
                <a:tab pos="3594100" algn="ctr"/>
                <a:tab pos="4921250" algn="ctr"/>
              </a:tabLst>
            </a:pPr>
            <a:r>
              <a:rPr lang="en-US" sz="2000"/>
              <a:t>			</a:t>
            </a:r>
            <a:r>
              <a:rPr lang="en-US" sz="2000" i="1"/>
              <a:t>A B C 	  A B C 	A B C</a:t>
            </a:r>
          </a:p>
          <a:p>
            <a:pPr>
              <a:buFont typeface="Monotype Sorts" charset="2"/>
              <a:buNone/>
              <a:tabLst>
                <a:tab pos="1428750" algn="l"/>
                <a:tab pos="2338388" algn="ctr"/>
                <a:tab pos="3594100" algn="ctr"/>
                <a:tab pos="4921250" algn="ctr"/>
              </a:tabLst>
            </a:pPr>
            <a:r>
              <a:rPr lang="en-US" sz="2000"/>
              <a:t>	       </a:t>
            </a:r>
            <a:r>
              <a:rPr lang="en-US" sz="2000" i="1"/>
              <a:t>P</a:t>
            </a:r>
            <a:r>
              <a:rPr lang="en-US" sz="2000" baseline="-25000"/>
              <a:t>0</a:t>
            </a:r>
            <a:r>
              <a:rPr lang="en-US" sz="2000"/>
              <a:t>	            0 1 0                0 0 0 	0 0 0</a:t>
            </a:r>
          </a:p>
          <a:p>
            <a:pPr>
              <a:buFont typeface="Monotype Sorts" charset="2"/>
              <a:buNone/>
              <a:tabLst>
                <a:tab pos="1428750" algn="l"/>
                <a:tab pos="2338388" algn="ctr"/>
                <a:tab pos="3594100" algn="ctr"/>
                <a:tab pos="4921250" algn="ctr"/>
              </a:tabLst>
            </a:pPr>
            <a:r>
              <a:rPr lang="en-US" sz="2000" i="1"/>
              <a:t>             P</a:t>
            </a:r>
            <a:r>
              <a:rPr lang="en-US" sz="2000" baseline="-25000"/>
              <a:t>1</a:t>
            </a:r>
            <a:r>
              <a:rPr lang="en-US" sz="2000"/>
              <a:t>	         	2 0 0 	   2 0 2</a:t>
            </a:r>
          </a:p>
          <a:p>
            <a:pPr>
              <a:buFont typeface="Monotype Sorts" charset="2"/>
              <a:buNone/>
              <a:tabLst>
                <a:tab pos="1428750" algn="l"/>
                <a:tab pos="2338388" algn="ctr"/>
                <a:tab pos="3594100" algn="ctr"/>
                <a:tab pos="4921250" algn="ctr"/>
              </a:tabLst>
            </a:pPr>
            <a:r>
              <a:rPr lang="en-US" sz="2000" i="1"/>
              <a:t>             P</a:t>
            </a:r>
            <a:r>
              <a:rPr lang="en-US" sz="2000" baseline="-25000"/>
              <a:t>2</a:t>
            </a:r>
            <a:r>
              <a:rPr lang="en-US" sz="2000"/>
              <a:t>		            3 0 3                0 0 0 </a:t>
            </a:r>
          </a:p>
          <a:p>
            <a:pPr>
              <a:buFont typeface="Monotype Sorts" charset="2"/>
              <a:buNone/>
              <a:tabLst>
                <a:tab pos="1428750" algn="l"/>
                <a:tab pos="2338388" algn="ctr"/>
                <a:tab pos="3594100" algn="ctr"/>
                <a:tab pos="4921250" algn="ctr"/>
              </a:tabLst>
            </a:pPr>
            <a:r>
              <a:rPr lang="en-US" sz="2000" i="1"/>
              <a:t>             P</a:t>
            </a:r>
            <a:r>
              <a:rPr lang="en-US" sz="2000" baseline="-25000"/>
              <a:t>3</a:t>
            </a:r>
            <a:r>
              <a:rPr lang="en-US" sz="2000"/>
              <a:t>		2 1 1 	   1 0 0 </a:t>
            </a:r>
          </a:p>
          <a:p>
            <a:pPr>
              <a:buFont typeface="Monotype Sorts" charset="2"/>
              <a:buNone/>
              <a:tabLst>
                <a:tab pos="1428750" algn="l"/>
                <a:tab pos="2338388" algn="ctr"/>
                <a:tab pos="3594100" algn="ctr"/>
                <a:tab pos="4921250" algn="ctr"/>
              </a:tabLst>
            </a:pPr>
            <a:r>
              <a:rPr lang="en-US" sz="2000"/>
              <a:t>	       </a:t>
            </a:r>
            <a:r>
              <a:rPr lang="en-US" sz="2000" i="1"/>
              <a:t>P</a:t>
            </a:r>
            <a:r>
              <a:rPr lang="en-US" sz="2000" baseline="-25000"/>
              <a:t>4	</a:t>
            </a:r>
            <a:r>
              <a:rPr lang="en-US" sz="2000"/>
              <a:t>	0 0 2 	   0 0 2</a:t>
            </a:r>
          </a:p>
          <a:p>
            <a:pPr>
              <a:buFont typeface="Monotype Sorts" charset="2"/>
              <a:buNone/>
              <a:tabLst>
                <a:tab pos="1428750" algn="l"/>
                <a:tab pos="2338388" algn="ctr"/>
                <a:tab pos="3594100" algn="ctr"/>
                <a:tab pos="4921250" algn="ctr"/>
              </a:tabLst>
            </a:pPr>
            <a:endParaRPr lang="en-US" sz="2000"/>
          </a:p>
          <a:p>
            <a:pPr>
              <a:tabLst>
                <a:tab pos="1428750" algn="l"/>
                <a:tab pos="2338388" algn="ctr"/>
                <a:tab pos="3594100" algn="ctr"/>
                <a:tab pos="4921250" algn="ctr"/>
              </a:tabLst>
            </a:pPr>
            <a:r>
              <a:rPr lang="en-US" sz="2000"/>
              <a:t>Sequence &lt;</a:t>
            </a:r>
            <a:r>
              <a:rPr lang="en-US" sz="2000" i="1"/>
              <a:t>P</a:t>
            </a:r>
            <a:r>
              <a:rPr lang="en-US" sz="2000" baseline="-25000"/>
              <a:t>0</a:t>
            </a:r>
            <a:r>
              <a:rPr lang="en-US" sz="2000"/>
              <a:t>, </a:t>
            </a:r>
            <a:r>
              <a:rPr lang="en-US" sz="2000" i="1"/>
              <a:t>P</a:t>
            </a:r>
            <a:r>
              <a:rPr lang="en-US" sz="2000" baseline="-25000"/>
              <a:t>2</a:t>
            </a:r>
            <a:r>
              <a:rPr lang="en-US" sz="2000"/>
              <a:t>, </a:t>
            </a:r>
            <a:r>
              <a:rPr lang="en-US" sz="2000" i="1"/>
              <a:t>P</a:t>
            </a:r>
            <a:r>
              <a:rPr lang="en-US" sz="2000" baseline="-25000"/>
              <a:t>3</a:t>
            </a:r>
            <a:r>
              <a:rPr lang="en-US" sz="2000"/>
              <a:t>, </a:t>
            </a:r>
            <a:r>
              <a:rPr lang="en-US" sz="2000" i="1"/>
              <a:t>P</a:t>
            </a:r>
            <a:r>
              <a:rPr lang="en-US" sz="2000" baseline="-25000"/>
              <a:t>1</a:t>
            </a:r>
            <a:r>
              <a:rPr lang="en-US" sz="2000"/>
              <a:t>, </a:t>
            </a:r>
            <a:r>
              <a:rPr lang="en-US" sz="2000" i="1"/>
              <a:t>P</a:t>
            </a:r>
            <a:r>
              <a:rPr lang="en-US" sz="2000" baseline="-25000"/>
              <a:t>4</a:t>
            </a:r>
            <a:r>
              <a:rPr lang="en-US" sz="2000"/>
              <a:t>&gt; will result in </a:t>
            </a:r>
            <a:r>
              <a:rPr lang="en-US" sz="2000" i="1"/>
              <a:t>Finish</a:t>
            </a:r>
            <a:r>
              <a:rPr lang="en-US" sz="2000"/>
              <a:t>[</a:t>
            </a:r>
            <a:r>
              <a:rPr lang="en-US" sz="2000" i="1"/>
              <a:t>i</a:t>
            </a:r>
            <a:r>
              <a:rPr lang="en-US" sz="2000"/>
              <a:t>] = true for all </a:t>
            </a:r>
            <a:r>
              <a:rPr lang="en-US" sz="2000" i="1"/>
              <a:t>i</a:t>
            </a:r>
            <a:endParaRPr lang="en-US" sz="2000"/>
          </a:p>
          <a:p>
            <a:pPr>
              <a:buFont typeface="Monotype Sorts" charset="2"/>
              <a:buNone/>
              <a:tabLst>
                <a:tab pos="1428750" algn="l"/>
                <a:tab pos="2338388" algn="ctr"/>
                <a:tab pos="3594100" algn="ctr"/>
                <a:tab pos="4921250" algn="ctr"/>
              </a:tabLst>
            </a:pPr>
            <a:endParaRPr lang="en-US" sz="2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t>Example (Cont.)</a:t>
            </a:r>
          </a:p>
        </p:txBody>
      </p:sp>
      <p:sp>
        <p:nvSpPr>
          <p:cNvPr id="43011" name="Rectangle 3"/>
          <p:cNvSpPr>
            <a:spLocks noGrp="1" noChangeArrowheads="1"/>
          </p:cNvSpPr>
          <p:nvPr>
            <p:ph type="body" idx="1"/>
          </p:nvPr>
        </p:nvSpPr>
        <p:spPr>
          <a:xfrm>
            <a:off x="806450" y="1233488"/>
            <a:ext cx="7781925" cy="5037137"/>
          </a:xfrm>
        </p:spPr>
        <p:txBody>
          <a:bodyPr/>
          <a:lstStyle/>
          <a:p>
            <a:pPr>
              <a:tabLst>
                <a:tab pos="2800350" algn="l"/>
                <a:tab pos="3708400" algn="ctr"/>
              </a:tabLst>
            </a:pPr>
            <a:r>
              <a:rPr lang="en-US" sz="2000" i="1"/>
              <a:t>P</a:t>
            </a:r>
            <a:r>
              <a:rPr lang="en-US" sz="2000" baseline="-25000"/>
              <a:t>2</a:t>
            </a:r>
            <a:r>
              <a:rPr lang="en-US" sz="2000"/>
              <a:t> requests an additional instance of type</a:t>
            </a:r>
            <a:r>
              <a:rPr lang="en-US" sz="2000" i="1"/>
              <a:t> C</a:t>
            </a:r>
            <a:endParaRPr lang="en-US" sz="2000"/>
          </a:p>
          <a:p>
            <a:pPr>
              <a:buFont typeface="Monotype Sorts" charset="2"/>
              <a:buNone/>
              <a:tabLst>
                <a:tab pos="2800350" algn="l"/>
                <a:tab pos="3708400" algn="ctr"/>
              </a:tabLst>
            </a:pPr>
            <a:r>
              <a:rPr lang="en-US" sz="2000"/>
              <a:t>			</a:t>
            </a:r>
            <a:r>
              <a:rPr lang="en-US" sz="2000" i="1" u="sng"/>
              <a:t>Request</a:t>
            </a:r>
            <a:endParaRPr lang="en-US" sz="2000" i="1"/>
          </a:p>
          <a:p>
            <a:pPr>
              <a:buFont typeface="Monotype Sorts" charset="2"/>
              <a:buNone/>
              <a:tabLst>
                <a:tab pos="2800350" algn="l"/>
                <a:tab pos="3708400" algn="ctr"/>
              </a:tabLst>
            </a:pPr>
            <a:r>
              <a:rPr lang="en-US" sz="2000" i="1"/>
              <a:t>			A B C</a:t>
            </a:r>
          </a:p>
          <a:p>
            <a:pPr>
              <a:buFont typeface="Monotype Sorts" charset="2"/>
              <a:buNone/>
              <a:tabLst>
                <a:tab pos="2800350" algn="l"/>
                <a:tab pos="3708400" algn="ctr"/>
              </a:tabLst>
            </a:pPr>
            <a:r>
              <a:rPr lang="en-US" sz="2000"/>
              <a:t>		 </a:t>
            </a:r>
            <a:r>
              <a:rPr lang="en-US" sz="2000" i="1"/>
              <a:t>P</a:t>
            </a:r>
            <a:r>
              <a:rPr lang="en-US" sz="2000" baseline="-25000"/>
              <a:t>0</a:t>
            </a:r>
            <a:r>
              <a:rPr lang="en-US" sz="2000"/>
              <a:t>	0 0 0</a:t>
            </a:r>
          </a:p>
          <a:p>
            <a:pPr>
              <a:buFont typeface="Monotype Sorts" charset="2"/>
              <a:buNone/>
              <a:tabLst>
                <a:tab pos="2800350" algn="l"/>
                <a:tab pos="3708400" algn="ctr"/>
              </a:tabLst>
            </a:pPr>
            <a:r>
              <a:rPr lang="en-US" sz="2000"/>
              <a:t>		 </a:t>
            </a:r>
            <a:r>
              <a:rPr lang="en-US" sz="2000" i="1"/>
              <a:t>P</a:t>
            </a:r>
            <a:r>
              <a:rPr lang="en-US" sz="2000" baseline="-25000"/>
              <a:t>1</a:t>
            </a:r>
            <a:r>
              <a:rPr lang="en-US" sz="2000"/>
              <a:t>	2 0 2</a:t>
            </a:r>
          </a:p>
          <a:p>
            <a:pPr>
              <a:buFont typeface="Monotype Sorts" charset="2"/>
              <a:buNone/>
              <a:tabLst>
                <a:tab pos="2800350" algn="l"/>
                <a:tab pos="3708400" algn="ctr"/>
              </a:tabLst>
            </a:pPr>
            <a:r>
              <a:rPr lang="en-US" sz="2000"/>
              <a:t>		 </a:t>
            </a:r>
            <a:r>
              <a:rPr lang="en-US" sz="2000" i="1"/>
              <a:t>P</a:t>
            </a:r>
            <a:r>
              <a:rPr lang="en-US" sz="2000" baseline="-25000"/>
              <a:t>2</a:t>
            </a:r>
            <a:r>
              <a:rPr lang="en-US" sz="2000"/>
              <a:t>	0 0 1</a:t>
            </a:r>
          </a:p>
          <a:p>
            <a:pPr>
              <a:buFont typeface="Monotype Sorts" charset="2"/>
              <a:buNone/>
              <a:tabLst>
                <a:tab pos="2800350" algn="l"/>
                <a:tab pos="3708400" algn="ctr"/>
              </a:tabLst>
            </a:pPr>
            <a:r>
              <a:rPr lang="en-US" sz="2000"/>
              <a:t>		 </a:t>
            </a:r>
            <a:r>
              <a:rPr lang="en-US" sz="2000" i="1"/>
              <a:t>P</a:t>
            </a:r>
            <a:r>
              <a:rPr lang="en-US" sz="2000" baseline="-25000"/>
              <a:t>3</a:t>
            </a:r>
            <a:r>
              <a:rPr lang="en-US" sz="2000"/>
              <a:t>	1 0 0 </a:t>
            </a:r>
          </a:p>
          <a:p>
            <a:pPr>
              <a:buFont typeface="Monotype Sorts" charset="2"/>
              <a:buNone/>
              <a:tabLst>
                <a:tab pos="2800350" algn="l"/>
                <a:tab pos="3708400" algn="ctr"/>
              </a:tabLst>
            </a:pPr>
            <a:r>
              <a:rPr lang="en-US" sz="2000"/>
              <a:t>		 </a:t>
            </a:r>
            <a:r>
              <a:rPr lang="en-US" sz="2000" i="1"/>
              <a:t>P</a:t>
            </a:r>
            <a:r>
              <a:rPr lang="en-US" sz="2000" baseline="-25000"/>
              <a:t>4</a:t>
            </a:r>
            <a:r>
              <a:rPr lang="en-US" sz="2000"/>
              <a:t>	0 0 2</a:t>
            </a:r>
          </a:p>
          <a:p>
            <a:pPr>
              <a:buFont typeface="Monotype Sorts" charset="2"/>
              <a:buNone/>
              <a:tabLst>
                <a:tab pos="2800350" algn="l"/>
                <a:tab pos="3708400" algn="ctr"/>
              </a:tabLst>
            </a:pPr>
            <a:endParaRPr lang="en-US" sz="900"/>
          </a:p>
          <a:p>
            <a:pPr>
              <a:tabLst>
                <a:tab pos="2800350" algn="l"/>
                <a:tab pos="3708400" algn="ctr"/>
              </a:tabLst>
            </a:pPr>
            <a:r>
              <a:rPr lang="en-US" sz="2000"/>
              <a:t>State of system?</a:t>
            </a:r>
          </a:p>
          <a:p>
            <a:pPr lvl="1">
              <a:tabLst>
                <a:tab pos="2800350" algn="l"/>
                <a:tab pos="3708400" algn="ctr"/>
              </a:tabLst>
            </a:pPr>
            <a:r>
              <a:rPr lang="en-US" sz="2000"/>
              <a:t>Can reclaim resources held by process </a:t>
            </a:r>
            <a:r>
              <a:rPr lang="en-US" sz="2000" i="1"/>
              <a:t>P</a:t>
            </a:r>
            <a:r>
              <a:rPr lang="en-US" sz="2000" baseline="-25000"/>
              <a:t>0</a:t>
            </a:r>
            <a:r>
              <a:rPr lang="en-US" sz="2000"/>
              <a:t>, but insufficient resources to fulfill other processes; requests</a:t>
            </a:r>
          </a:p>
          <a:p>
            <a:pPr lvl="1">
              <a:tabLst>
                <a:tab pos="2800350" algn="l"/>
                <a:tab pos="3708400" algn="ctr"/>
              </a:tabLst>
            </a:pPr>
            <a:r>
              <a:rPr lang="en-US" sz="2000"/>
              <a:t>Deadlock exists, consisting of processes </a:t>
            </a:r>
            <a:r>
              <a:rPr lang="en-US" sz="2000" i="1"/>
              <a:t>P</a:t>
            </a:r>
            <a:r>
              <a:rPr lang="en-US" sz="2000" baseline="-25000"/>
              <a:t>1</a:t>
            </a:r>
            <a:r>
              <a:rPr lang="en-US" sz="2000"/>
              <a:t>, </a:t>
            </a:r>
            <a:r>
              <a:rPr lang="en-US" sz="2000" baseline="-25000"/>
              <a:t> </a:t>
            </a:r>
            <a:r>
              <a:rPr lang="en-US" sz="2000" i="1"/>
              <a:t>P</a:t>
            </a:r>
            <a:r>
              <a:rPr lang="en-US" sz="2000" baseline="-25000"/>
              <a:t>2</a:t>
            </a:r>
            <a:r>
              <a:rPr lang="en-US" sz="2000"/>
              <a:t>, </a:t>
            </a:r>
            <a:r>
              <a:rPr lang="en-US" sz="2000" i="1"/>
              <a:t>P</a:t>
            </a:r>
            <a:r>
              <a:rPr lang="en-US" sz="2000" baseline="-25000"/>
              <a:t>3</a:t>
            </a:r>
            <a:r>
              <a:rPr lang="en-US" sz="2000"/>
              <a:t>, and </a:t>
            </a:r>
            <a:r>
              <a:rPr lang="en-US" sz="2000" i="1"/>
              <a:t>P</a:t>
            </a:r>
            <a:r>
              <a:rPr lang="en-US" sz="2000" baseline="-25000"/>
              <a:t>4</a:t>
            </a:r>
            <a:endParaRPr lang="en-US" sz="2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08000" y="465138"/>
            <a:ext cx="8588375" cy="457200"/>
          </a:xfrm>
        </p:spPr>
        <p:txBody>
          <a:bodyPr>
            <a:normAutofit fontScale="90000"/>
          </a:bodyPr>
          <a:lstStyle/>
          <a:p>
            <a:pPr algn="l" eaLnBrk="1" hangingPunct="1"/>
            <a:r>
              <a:rPr lang="en-US" sz="2800" dirty="0"/>
              <a:t>Recovery from Deadlock</a:t>
            </a:r>
            <a:r>
              <a:rPr lang="en-US" sz="2800"/>
              <a:t>: Process </a:t>
            </a:r>
            <a:r>
              <a:rPr lang="en-US" sz="2800" dirty="0"/>
              <a:t>Termination</a:t>
            </a:r>
          </a:p>
        </p:txBody>
      </p:sp>
      <p:sp>
        <p:nvSpPr>
          <p:cNvPr id="45059" name="Rectangle 3"/>
          <p:cNvSpPr>
            <a:spLocks noGrp="1" noChangeArrowheads="1"/>
          </p:cNvSpPr>
          <p:nvPr>
            <p:ph type="body" idx="1"/>
          </p:nvPr>
        </p:nvSpPr>
        <p:spPr>
          <a:xfrm>
            <a:off x="806450" y="1233488"/>
            <a:ext cx="7694613" cy="4530725"/>
          </a:xfrm>
        </p:spPr>
        <p:txBody>
          <a:bodyPr>
            <a:normAutofit/>
          </a:bodyPr>
          <a:lstStyle/>
          <a:p>
            <a:r>
              <a:rPr lang="en-US" sz="1800" dirty="0"/>
              <a:t>Abort all deadlocked processes</a:t>
            </a:r>
          </a:p>
          <a:p>
            <a:r>
              <a:rPr lang="en-US" sz="1800" dirty="0"/>
              <a:t>Abort one process at a time until the deadlock cycle is eliminated</a:t>
            </a:r>
          </a:p>
          <a:p>
            <a:r>
              <a:rPr lang="en-US" sz="1800" dirty="0"/>
              <a:t>In which order should we choose to abort?</a:t>
            </a:r>
          </a:p>
          <a:p>
            <a:pPr lvl="1"/>
            <a:r>
              <a:rPr lang="en-US" sz="1800" dirty="0"/>
              <a:t>Priority of the process</a:t>
            </a:r>
          </a:p>
          <a:p>
            <a:pPr lvl="1"/>
            <a:r>
              <a:rPr lang="en-US" sz="1800" dirty="0"/>
              <a:t>How long process has computed, and how much longer to completion</a:t>
            </a:r>
          </a:p>
          <a:p>
            <a:pPr lvl="1"/>
            <a:r>
              <a:rPr lang="en-US" sz="1800" dirty="0"/>
              <a:t>Resources the process has used</a:t>
            </a:r>
          </a:p>
          <a:p>
            <a:pPr lvl="1"/>
            <a:r>
              <a:rPr lang="en-US" sz="1800" dirty="0"/>
              <a:t>Resources process needs to complete</a:t>
            </a:r>
          </a:p>
          <a:p>
            <a:pPr lvl="1"/>
            <a:r>
              <a:rPr lang="en-US" sz="1800" dirty="0"/>
              <a:t>How many processes will need to be terminated</a:t>
            </a:r>
          </a:p>
          <a:p>
            <a:pPr lvl="1"/>
            <a:r>
              <a:rPr lang="en-US" sz="1800" dirty="0"/>
              <a:t>Is process interactive or batch?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738188" y="417513"/>
            <a:ext cx="8020050" cy="457200"/>
          </a:xfrm>
        </p:spPr>
        <p:txBody>
          <a:bodyPr>
            <a:normAutofit fontScale="90000"/>
          </a:bodyPr>
          <a:lstStyle/>
          <a:p>
            <a:pPr algn="l" eaLnBrk="1" hangingPunct="1"/>
            <a:r>
              <a:rPr lang="en-US" sz="2800" dirty="0"/>
              <a:t>Recovery from Deadlock: Resource Preemption</a:t>
            </a:r>
          </a:p>
        </p:txBody>
      </p:sp>
      <p:sp>
        <p:nvSpPr>
          <p:cNvPr id="46083" name="Rectangle 3"/>
          <p:cNvSpPr>
            <a:spLocks noGrp="1" noChangeArrowheads="1"/>
          </p:cNvSpPr>
          <p:nvPr>
            <p:ph type="body" idx="1"/>
          </p:nvPr>
        </p:nvSpPr>
        <p:spPr>
          <a:xfrm>
            <a:off x="827088" y="1482725"/>
            <a:ext cx="7351712" cy="4483100"/>
          </a:xfrm>
        </p:spPr>
        <p:txBody>
          <a:bodyPr>
            <a:normAutofit/>
          </a:bodyPr>
          <a:lstStyle/>
          <a:p>
            <a:r>
              <a:rPr lang="en-US" sz="1800" dirty="0"/>
              <a:t>Selecting a victim – minimize cost</a:t>
            </a:r>
          </a:p>
          <a:p>
            <a:r>
              <a:rPr lang="en-US" sz="1800" dirty="0"/>
              <a:t>Rollback – return to some safe state, restart process for that state</a:t>
            </a:r>
          </a:p>
          <a:p>
            <a:r>
              <a:rPr lang="en-US" sz="1800" dirty="0"/>
              <a:t>Problem: starvation –  same process may always be picked as victim, include number of rollback in cost factor</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ctrTitle"/>
          </p:nvPr>
        </p:nvSpPr>
        <p:spPr>
          <a:xfrm>
            <a:off x="2339975" y="1557338"/>
            <a:ext cx="6188075" cy="2303462"/>
          </a:xfrm>
        </p:spPr>
        <p:txBody>
          <a:bodyPr/>
          <a:lstStyle/>
          <a:p>
            <a:pPr eaLnBrk="1" hangingPunct="1"/>
            <a:br>
              <a:rPr lang="fr-FR" sz="2400" b="1" i="1">
                <a:latin typeface="Times New Roman" pitchFamily="18" charset="0"/>
                <a:cs typeface="Times New Roman" pitchFamily="18" charset="0"/>
              </a:rPr>
            </a:br>
            <a:br>
              <a:rPr lang="fr-FR" sz="2400" b="1" i="1">
                <a:latin typeface="Times New Roman" pitchFamily="18" charset="0"/>
                <a:cs typeface="Times New Roman" pitchFamily="18" charset="0"/>
              </a:rPr>
            </a:br>
            <a:br>
              <a:rPr lang="fr-FR" sz="2400" b="1" i="1">
                <a:latin typeface="Times New Roman" pitchFamily="18" charset="0"/>
                <a:cs typeface="Times New Roman" pitchFamily="18" charset="0"/>
              </a:rPr>
            </a:br>
            <a:endParaRPr lang="fr-FR" sz="2400" b="1" i="1">
              <a:latin typeface="Times New Roman" pitchFamily="18" charset="0"/>
              <a:cs typeface="Times New Roman" pitchFamily="18" charset="0"/>
            </a:endParaRPr>
          </a:p>
        </p:txBody>
      </p:sp>
      <p:pic>
        <p:nvPicPr>
          <p:cNvPr id="200707" name="Picture 6" descr="logoHome.png"/>
          <p:cNvPicPr>
            <a:picLocks noChangeAspect="1"/>
          </p:cNvPicPr>
          <p:nvPr/>
        </p:nvPicPr>
        <p:blipFill>
          <a:blip r:embed="rId2"/>
          <a:srcRect/>
          <a:stretch>
            <a:fillRect/>
          </a:stretch>
        </p:blipFill>
        <p:spPr bwMode="auto">
          <a:xfrm>
            <a:off x="0" y="0"/>
            <a:ext cx="2051050" cy="6858000"/>
          </a:xfrm>
          <a:prstGeom prst="rect">
            <a:avLst/>
          </a:prstGeom>
          <a:noFill/>
          <a:ln w="9525">
            <a:noFill/>
            <a:miter lim="800000"/>
            <a:headEnd/>
            <a:tailEnd/>
          </a:ln>
        </p:spPr>
      </p:pic>
      <p:sp>
        <p:nvSpPr>
          <p:cNvPr id="200708" name="Subtitle 7"/>
          <p:cNvSpPr>
            <a:spLocks noGrp="1"/>
          </p:cNvSpPr>
          <p:nvPr>
            <p:ph type="subTitle" idx="1"/>
          </p:nvPr>
        </p:nvSpPr>
        <p:spPr>
          <a:xfrm>
            <a:off x="2195513" y="2708275"/>
            <a:ext cx="6400800" cy="1752600"/>
          </a:xfrm>
        </p:spPr>
        <p:txBody>
          <a:bodyPr/>
          <a:lstStyle/>
          <a:p>
            <a:pPr eaLnBrk="1" hangingPunct="1"/>
            <a:r>
              <a:rPr lang="en-US" sz="4000" dirty="0">
                <a:solidFill>
                  <a:srgbClr val="FF0000"/>
                </a:solidFill>
              </a:rPr>
              <a:t>Thank You!!</a:t>
            </a:r>
            <a:endParaRPr lang="en-IN" sz="4000" dirty="0">
              <a:solidFill>
                <a:srgbClr val="FF0000"/>
              </a:solidFill>
            </a:endParaRPr>
          </a:p>
        </p:txBody>
      </p:sp>
      <p:sp>
        <p:nvSpPr>
          <p:cNvPr id="200709" name="Footer Placeholder 4"/>
          <p:cNvSpPr>
            <a:spLocks noGrp="1"/>
          </p:cNvSpPr>
          <p:nvPr>
            <p:ph type="ftr" sz="quarter" idx="4294967295"/>
          </p:nvPr>
        </p:nvSpPr>
        <p:spPr>
          <a:xfrm>
            <a:off x="3779838" y="6381750"/>
            <a:ext cx="2895600" cy="476250"/>
          </a:xfrm>
          <a:prstGeom prst="rect">
            <a:avLst/>
          </a:prstGeom>
          <a:noFill/>
        </p:spPr>
        <p:txBody>
          <a:bodyPr/>
          <a:lstStyle/>
          <a:p>
            <a:r>
              <a:rPr lang="en-IN">
                <a:latin typeface="Arial" pitchFamily="34" charset="0"/>
                <a:cs typeface="Arial" pitchFamily="34" charset="0"/>
              </a:rPr>
              <a:t>JECRC UNIVERSITY</a:t>
            </a:r>
            <a:endParaRPr lang="fr-FR">
              <a:latin typeface="Arial" pitchFamily="34" charset="0"/>
              <a:cs typeface="Arial" pitchFamily="34" charset="0"/>
            </a:endParaRPr>
          </a:p>
        </p:txBody>
      </p:sp>
      <p:sp>
        <p:nvSpPr>
          <p:cNvPr id="200710" name="Slide Number Placeholder 8"/>
          <p:cNvSpPr>
            <a:spLocks noGrp="1"/>
          </p:cNvSpPr>
          <p:nvPr>
            <p:ph type="sldNum" sz="quarter" idx="4294967295"/>
          </p:nvPr>
        </p:nvSpPr>
        <p:spPr>
          <a:xfrm>
            <a:off x="6553200" y="6245225"/>
            <a:ext cx="2133600" cy="476250"/>
          </a:xfrm>
          <a:prstGeom prst="rect">
            <a:avLst/>
          </a:prstGeom>
          <a:noFill/>
        </p:spPr>
        <p:txBody>
          <a:bodyPr/>
          <a:lstStyle/>
          <a:p>
            <a:fld id="{4F5A28B2-9090-4035-A9DE-FB2B3E840B83}" type="slidenum">
              <a:rPr lang="fr-FR" smtClean="0">
                <a:latin typeface="Arial" pitchFamily="34" charset="0"/>
                <a:cs typeface="Arial" pitchFamily="34" charset="0"/>
              </a:rPr>
              <a:pPr/>
              <a:t>57</a:t>
            </a:fld>
            <a:endParaRPr lang="fr-FR">
              <a:latin typeface="Arial" pitchFamily="34" charset="0"/>
              <a:cs typeface="Arial" pitchFamily="34" charset="0"/>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4099</TotalTime>
  <Words>4038</Words>
  <Application>Microsoft Office PowerPoint</Application>
  <PresentationFormat>On-screen Show (4:3)</PresentationFormat>
  <Paragraphs>542</Paragraphs>
  <Slides>57</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Calibri</vt:lpstr>
      <vt:lpstr>Courier New</vt:lpstr>
      <vt:lpstr>Helvetica</vt:lpstr>
      <vt:lpstr>Monaco</vt:lpstr>
      <vt:lpstr>Monotype Sorts</vt:lpstr>
      <vt:lpstr>Times New Roman</vt:lpstr>
      <vt:lpstr>Verdana</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Interprocess Communication</vt:lpstr>
      <vt:lpstr>Communications Models </vt:lpstr>
      <vt:lpstr>Cooperating Processes</vt:lpstr>
      <vt:lpstr>Producer-Consumer Problem</vt:lpstr>
      <vt:lpstr>Bounded-Buffer – Shared-Memory Solution</vt:lpstr>
      <vt:lpstr>Bounded-Buffer – Producer</vt:lpstr>
      <vt:lpstr>Bounded Buffer – Consumer</vt:lpstr>
      <vt:lpstr>Interprocess Communication –  Shared Memory</vt:lpstr>
      <vt:lpstr>Interprocess Communication – Message Passing</vt:lpstr>
      <vt:lpstr>Message Passing (Cont.)</vt:lpstr>
      <vt:lpstr>Message Passing (Cont.)</vt:lpstr>
      <vt:lpstr>Direct Communication</vt:lpstr>
      <vt:lpstr>Indirect Communication</vt:lpstr>
      <vt:lpstr>Indirect Communication</vt:lpstr>
      <vt:lpstr>Indirect Communication</vt:lpstr>
      <vt:lpstr>Synchronization</vt:lpstr>
      <vt:lpstr>Synchronization (Cont.)</vt:lpstr>
      <vt:lpstr>Buffering</vt:lpstr>
      <vt:lpstr>Examples of IPC Systems - POSIX</vt:lpstr>
      <vt:lpstr>IPC POSIX Producer</vt:lpstr>
      <vt:lpstr>IPC POSIX Consumer</vt:lpstr>
      <vt:lpstr>Examples of IPC Systems - Mach</vt:lpstr>
      <vt:lpstr>Examples of IPC Systems – Windows</vt:lpstr>
      <vt:lpstr>Local Procedure Calls in Windows</vt:lpstr>
      <vt:lpstr>Communications in Client-Server Systems</vt:lpstr>
      <vt:lpstr>What is deadlock?</vt:lpstr>
      <vt:lpstr>Necessary conditions</vt:lpstr>
      <vt:lpstr>Resource Allocation Graph</vt:lpstr>
      <vt:lpstr>PowerPoint Presentation</vt:lpstr>
      <vt:lpstr>Resource Allocation Graph with deadlock  Resource Allocation Graph with a cycle      but no deadlock</vt:lpstr>
      <vt:lpstr>How to handle deadlock</vt:lpstr>
      <vt:lpstr>Deadlock Prevention</vt:lpstr>
      <vt:lpstr>PowerPoint Presentation</vt:lpstr>
      <vt:lpstr>Deadlock Avoidance</vt:lpstr>
      <vt:lpstr>There are two algorithm to avoid a deadlock:-</vt:lpstr>
      <vt:lpstr>2. Banker’s algorithm :-</vt:lpstr>
      <vt:lpstr>Safety algorithm</vt:lpstr>
      <vt:lpstr>Resource-Request Algorithm for Process Pi</vt:lpstr>
      <vt:lpstr>Example of Banker’s Algorithm</vt:lpstr>
      <vt:lpstr>PowerPoint Presentation</vt:lpstr>
      <vt:lpstr>Example:  P1 Request (1,0,2)</vt:lpstr>
      <vt:lpstr>Deadlock Detection and Recovery</vt:lpstr>
      <vt:lpstr>Single Instance of Each Resource Type</vt:lpstr>
      <vt:lpstr>Resource-Allocation Graph and  Wait-for Graph</vt:lpstr>
      <vt:lpstr>Several Instances of a Resource Type</vt:lpstr>
      <vt:lpstr>Detection Algorithm</vt:lpstr>
      <vt:lpstr>Example of Detection Algorithm</vt:lpstr>
      <vt:lpstr>Example (Cont.)</vt:lpstr>
      <vt:lpstr>Recovery from Deadlock: Process Termination</vt:lpstr>
      <vt:lpstr>Recovery from Deadlock: Resource Preemption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Rakesh Bhaskar</dc:creator>
  <cp:lastModifiedBy>Ruchi Kulshreshtha [ PHD-2016 ]</cp:lastModifiedBy>
  <cp:revision>357</cp:revision>
  <cp:lastPrinted>2013-10-07T09:34:34Z</cp:lastPrinted>
  <dcterms:created xsi:type="dcterms:W3CDTF">2012-12-04T10:32:16Z</dcterms:created>
  <dcterms:modified xsi:type="dcterms:W3CDTF">2023-11-01T12:21:33Z</dcterms:modified>
</cp:coreProperties>
</file>